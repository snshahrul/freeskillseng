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81C"/>
        </a:solidFill>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rect">
            <a:avLst/>
          </a:prstGeom>
          <a:solidFill>
            <a:srgbClr val="1D242B"/>
          </a:solidFill>
          <a:ln/>
        </p:spPr>
      </p:sp>
      <p:sp>
        <p:nvSpPr>
          <p:cNvPr id="3" name="Text 1"/>
          <p:cNvSpPr/>
          <p:nvPr/>
        </p:nvSpPr>
        <p:spPr>
          <a:xfrm>
            <a:off x="502920" y="4901184"/>
            <a:ext cx="6949440" cy="242316"/>
          </a:xfrm>
          <a:prstGeom prst="rect">
            <a:avLst/>
          </a:prstGeom>
          <a:noFill/>
          <a:ln/>
        </p:spPr>
        <p:txBody>
          <a:bodyPr wrap="square" rtlCol="0" anchor="ctr"/>
          <a:lstStyle/>
          <a:p>
            <a:pPr indent="0" marL="0">
              <a:buNone/>
            </a:pPr>
            <a:r>
              <a:rPr lang="en-US" sz="700" spc="100" kern="0" dirty="0">
                <a:solidFill>
                  <a:srgbClr val="7C8480"/>
                </a:solidFill>
                <a:latin typeface="Consolas" pitchFamily="34" charset="0"/>
                <a:ea typeface="Consolas" pitchFamily="34" charset="-122"/>
                <a:cs typeface="Consolas" pitchFamily="34" charset="-120"/>
              </a:rPr>
              <a:t>FREESKILLS ENGINEERING (M) SDN BHD  ·  REG 1502941-H  ·  MENGLEMBU · IPOH · PERAK</a:t>
            </a:r>
            <a:endParaRPr lang="en-US" sz="700" dirty="0"/>
          </a:p>
        </p:txBody>
      </p:sp>
      <p:sp>
        <p:nvSpPr>
          <p:cNvPr id="4" name="Text 2"/>
          <p:cNvSpPr/>
          <p:nvPr/>
        </p:nvSpPr>
        <p:spPr>
          <a:xfrm>
            <a:off x="6766560" y="4901184"/>
            <a:ext cx="1691640" cy="242316"/>
          </a:xfrm>
          <a:prstGeom prst="rect">
            <a:avLst/>
          </a:prstGeom>
          <a:noFill/>
          <a:ln/>
        </p:spPr>
        <p:txBody>
          <a:bodyPr wrap="square" rtlCol="0" anchor="ctr"/>
          <a:lstStyle/>
          <a:p>
            <a:pPr algn="r" indent="0" marL="0">
              <a:buNone/>
            </a:pPr>
            <a:r>
              <a:rPr lang="en-US" sz="700" dirty="0">
                <a:solidFill>
                  <a:srgbClr val="7C8480"/>
                </a:solidFill>
                <a:latin typeface="Consolas" pitchFamily="34" charset="0"/>
                <a:ea typeface="Consolas" pitchFamily="34" charset="-122"/>
                <a:cs typeface="Consolas" pitchFamily="34" charset="-120"/>
              </a:rPr>
              <a:t>qmc.freeskillengineering.com</a:t>
            </a:r>
            <a:endParaRPr lang="en-US" sz="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EDE9E1"/>
        </a:solidFill>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rect">
            <a:avLst/>
          </a:prstGeom>
          <a:solidFill>
            <a:srgbClr val="E1DACD"/>
          </a:solidFill>
          <a:ln/>
        </p:spPr>
      </p:sp>
      <p:sp>
        <p:nvSpPr>
          <p:cNvPr id="3" name="Text 1"/>
          <p:cNvSpPr/>
          <p:nvPr/>
        </p:nvSpPr>
        <p:spPr>
          <a:xfrm>
            <a:off x="502920" y="4901184"/>
            <a:ext cx="6949440" cy="242316"/>
          </a:xfrm>
          <a:prstGeom prst="rect">
            <a:avLst/>
          </a:prstGeom>
          <a:noFill/>
          <a:ln/>
        </p:spPr>
        <p:txBody>
          <a:bodyPr wrap="square" rtlCol="0" anchor="ctr"/>
          <a:lstStyle/>
          <a:p>
            <a:pPr indent="0" marL="0">
              <a:buNone/>
            </a:pPr>
            <a:r>
              <a:rPr lang="en-US" sz="700" spc="100" kern="0" dirty="0">
                <a:solidFill>
                  <a:srgbClr val="6E7479"/>
                </a:solidFill>
                <a:latin typeface="Consolas" pitchFamily="34" charset="0"/>
                <a:ea typeface="Consolas" pitchFamily="34" charset="-122"/>
                <a:cs typeface="Consolas" pitchFamily="34" charset="-120"/>
              </a:rPr>
              <a:t>FREESKILLS ENGINEERING (M) SDN BHD  ·  REG 1502941-H  ·  MENGLEMBU · IPOH · PERAK</a:t>
            </a:r>
            <a:endParaRPr lang="en-US" sz="700" dirty="0"/>
          </a:p>
        </p:txBody>
      </p:sp>
      <p:sp>
        <p:nvSpPr>
          <p:cNvPr id="4" name="Text 2"/>
          <p:cNvSpPr/>
          <p:nvPr/>
        </p:nvSpPr>
        <p:spPr>
          <a:xfrm>
            <a:off x="6766560" y="4901184"/>
            <a:ext cx="1691640" cy="242316"/>
          </a:xfrm>
          <a:prstGeom prst="rect">
            <a:avLst/>
          </a:prstGeom>
          <a:noFill/>
          <a:ln/>
        </p:spPr>
        <p:txBody>
          <a:bodyPr wrap="square" rtlCol="0" anchor="ctr"/>
          <a:lstStyle/>
          <a:p>
            <a:pPr algn="r" indent="0" marL="0">
              <a:buNone/>
            </a:pPr>
            <a:r>
              <a:rPr lang="en-US" sz="700" dirty="0">
                <a:solidFill>
                  <a:srgbClr val="6E7479"/>
                </a:solidFill>
                <a:latin typeface="Consolas" pitchFamily="34" charset="0"/>
                <a:ea typeface="Consolas" pitchFamily="34" charset="-122"/>
                <a:cs typeface="Consolas" pitchFamily="34" charset="-120"/>
              </a:rPr>
              <a:t>freeskillengineering.com</a:t>
            </a:r>
            <a:endParaRPr lang="en-US" sz="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4441F"/>
          </a:solidFill>
          <a:ln/>
        </p:spPr>
      </p:sp>
      <p:pic>
        <p:nvPicPr>
          <p:cNvPr id="3" name="Image 0" descr="public/images/logo.png">    </p:cNvPr>
          <p:cNvPicPr>
            <a:picLocks noChangeAspect="1"/>
          </p:cNvPicPr>
          <p:nvPr/>
        </p:nvPicPr>
        <p:blipFill>
          <a:blip r:embed="rId1"/>
          <a:stretch>
            <a:fillRect/>
          </a:stretch>
        </p:blipFill>
        <p:spPr>
          <a:xfrm>
            <a:off x="548640" y="502920"/>
            <a:ext cx="1371600" cy="804672"/>
          </a:xfrm>
          <a:prstGeom prst="rect">
            <a:avLst/>
          </a:prstGeom>
        </p:spPr>
      </p:pic>
      <p:sp>
        <p:nvSpPr>
          <p:cNvPr id="4" name="Text 1"/>
          <p:cNvSpPr/>
          <p:nvPr/>
        </p:nvSpPr>
        <p:spPr>
          <a:xfrm>
            <a:off x="566928" y="1554480"/>
            <a:ext cx="8046720" cy="274320"/>
          </a:xfrm>
          <a:prstGeom prst="rect">
            <a:avLst/>
          </a:prstGeom>
          <a:noFill/>
          <a:ln/>
        </p:spPr>
        <p:txBody>
          <a:bodyPr wrap="square" rtlCol="0" anchor="ctr"/>
          <a:lstStyle/>
          <a:p>
            <a:pPr indent="0" marL="0">
              <a:buNone/>
            </a:pPr>
            <a:r>
              <a:rPr lang="en-US" sz="1050" b="1" spc="300" kern="0" dirty="0">
                <a:solidFill>
                  <a:srgbClr val="F2B705"/>
                </a:solidFill>
                <a:latin typeface="Consolas" pitchFamily="34" charset="0"/>
                <a:ea typeface="Consolas" pitchFamily="34" charset="-122"/>
                <a:cs typeface="Consolas" pitchFamily="34" charset="-120"/>
              </a:rPr>
              <a:t>WEBSITE &amp; SYSTEM PRESENTATION</a:t>
            </a:r>
            <a:endParaRPr lang="en-US" sz="1050" dirty="0"/>
          </a:p>
        </p:txBody>
      </p:sp>
      <p:sp>
        <p:nvSpPr>
          <p:cNvPr id="5" name="Text 2"/>
          <p:cNvSpPr/>
          <p:nvPr/>
        </p:nvSpPr>
        <p:spPr>
          <a:xfrm>
            <a:off x="502920" y="1920240"/>
            <a:ext cx="8229600" cy="1554480"/>
          </a:xfrm>
          <a:prstGeom prst="rect">
            <a:avLst/>
          </a:prstGeom>
          <a:noFill/>
          <a:ln/>
        </p:spPr>
        <p:txBody>
          <a:bodyPr wrap="square" rtlCol="0" anchor="t"/>
          <a:lstStyle/>
          <a:p>
            <a:pPr indent="0" marL="0">
              <a:lnSpc>
                <a:spcPct val="92000"/>
              </a:lnSpc>
              <a:buNone/>
            </a:pPr>
            <a:r>
              <a:rPr lang="en-US" sz="5200" b="1" dirty="0">
                <a:solidFill>
                  <a:srgbClr val="C4441F"/>
                </a:solidFill>
                <a:latin typeface="Arial Narrow" pitchFamily="34" charset="0"/>
                <a:ea typeface="Arial Narrow" pitchFamily="34" charset="-122"/>
                <a:cs typeface="Arial Narrow" pitchFamily="34" charset="-120"/>
              </a:rPr>
              <a:t>FREESKILLS</a:t>
            </a:r>
            <a:endParaRPr lang="en-US" sz="5200" dirty="0"/>
          </a:p>
          <a:p>
            <a:pPr indent="0" marL="0">
              <a:lnSpc>
                <a:spcPct val="92000"/>
              </a:lnSpc>
              <a:buNone/>
            </a:pPr>
            <a:r>
              <a:rPr lang="en-US" sz="5200" b="1" dirty="0">
                <a:solidFill>
                  <a:srgbClr val="E7E2D8"/>
                </a:solidFill>
                <a:latin typeface="Arial Narrow" pitchFamily="34" charset="0"/>
                <a:ea typeface="Arial Narrow" pitchFamily="34" charset="-122"/>
                <a:cs typeface="Arial Narrow" pitchFamily="34" charset="-120"/>
              </a:rPr>
              <a:t>ENGINEERING (M) SDN BHD</a:t>
            </a:r>
            <a:endParaRPr lang="en-US" sz="5200" dirty="0"/>
          </a:p>
        </p:txBody>
      </p:sp>
      <p:sp>
        <p:nvSpPr>
          <p:cNvPr id="6" name="Text 3"/>
          <p:cNvSpPr/>
          <p:nvPr/>
        </p:nvSpPr>
        <p:spPr>
          <a:xfrm>
            <a:off x="566928" y="3520440"/>
            <a:ext cx="8046720" cy="365760"/>
          </a:xfrm>
          <a:prstGeom prst="rect">
            <a:avLst/>
          </a:prstGeom>
          <a:noFill/>
          <a:ln/>
        </p:spPr>
        <p:txBody>
          <a:bodyPr wrap="square" rtlCol="0" anchor="ctr"/>
          <a:lstStyle/>
          <a:p>
            <a:pPr indent="0" marL="0">
              <a:buNone/>
            </a:pPr>
            <a:r>
              <a:rPr lang="en-US" sz="1900" b="1" dirty="0">
                <a:solidFill>
                  <a:srgbClr val="A9A69E"/>
                </a:solidFill>
                <a:latin typeface="Arial Narrow" pitchFamily="34" charset="0"/>
                <a:ea typeface="Arial Narrow" pitchFamily="34" charset="-122"/>
                <a:cs typeface="Arial Narrow" pitchFamily="34" charset="-120"/>
              </a:rPr>
              <a:t>Boiler &amp; Pressure Vessel Repairer  ·  General Steel Fabrication</a:t>
            </a:r>
            <a:endParaRPr lang="en-US" sz="1900" dirty="0"/>
          </a:p>
        </p:txBody>
      </p:sp>
      <p:sp>
        <p:nvSpPr>
          <p:cNvPr id="7" name="Shape 4"/>
          <p:cNvSpPr/>
          <p:nvPr/>
        </p:nvSpPr>
        <p:spPr>
          <a:xfrm>
            <a:off x="566928" y="4023360"/>
            <a:ext cx="2926080" cy="0"/>
          </a:xfrm>
          <a:prstGeom prst="line">
            <a:avLst/>
          </a:prstGeom>
          <a:noFill/>
          <a:ln w="12700">
            <a:solidFill>
              <a:srgbClr val="3A444D"/>
            </a:solidFill>
            <a:prstDash val="solid"/>
          </a:ln>
        </p:spPr>
      </p:sp>
      <p:sp>
        <p:nvSpPr>
          <p:cNvPr id="8" name="Text 5"/>
          <p:cNvSpPr/>
          <p:nvPr/>
        </p:nvSpPr>
        <p:spPr>
          <a:xfrm>
            <a:off x="566928" y="4160520"/>
            <a:ext cx="7680960" cy="548640"/>
          </a:xfrm>
          <a:prstGeom prst="rect">
            <a:avLst/>
          </a:prstGeom>
          <a:noFill/>
          <a:ln/>
        </p:spPr>
        <p:txBody>
          <a:bodyPr wrap="square" rtlCol="0" anchor="ctr"/>
          <a:lstStyle/>
          <a:p>
            <a:pPr indent="0" marL="0">
              <a:lnSpc>
                <a:spcPct val="120000"/>
              </a:lnSpc>
              <a:buNone/>
            </a:pPr>
            <a:r>
              <a:rPr lang="en-US" sz="1150" dirty="0">
                <a:solidFill>
                  <a:srgbClr val="A9A69E"/>
                </a:solidFill>
                <a:latin typeface="Arial" pitchFamily="34" charset="0"/>
                <a:ea typeface="Arial" pitchFamily="34" charset="-122"/>
                <a:cs typeface="Arial" pitchFamily="34" charset="-120"/>
              </a:rPr>
              <a:t>Website structure · Quality Management Center · job processes  —  a guided walk-through of the public site and the cloud system behind it.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F2B705"/>
                </a:solidFill>
                <a:latin typeface="Consolas" pitchFamily="34" charset="0"/>
                <a:ea typeface="Consolas" pitchFamily="34" charset="-122"/>
                <a:cs typeface="Consolas" pitchFamily="34" charset="-120"/>
              </a:rPr>
              <a:t>00 · COMPANY DATA PLATE</a:t>
            </a:r>
            <a:endParaRPr lang="en-US" sz="900" dirty="0"/>
          </a:p>
        </p:txBody>
      </p:sp>
      <p:sp>
        <p:nvSpPr>
          <p:cNvPr id="3" name="Shape 1"/>
          <p:cNvSpPr/>
          <p:nvPr/>
        </p:nvSpPr>
        <p:spPr>
          <a:xfrm>
            <a:off x="502920" y="603504"/>
            <a:ext cx="1280160" cy="0"/>
          </a:xfrm>
          <a:prstGeom prst="line">
            <a:avLst/>
          </a:prstGeom>
          <a:noFill/>
          <a:ln w="25400">
            <a:solidFill>
              <a:srgbClr val="F2B705"/>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3000" b="1" dirty="0">
                <a:solidFill>
                  <a:srgbClr val="E7E2D8"/>
                </a:solidFill>
                <a:latin typeface="Arial Narrow" pitchFamily="34" charset="0"/>
                <a:ea typeface="Arial Narrow" pitchFamily="34" charset="-122"/>
                <a:cs typeface="Arial Narrow" pitchFamily="34" charset="-120"/>
              </a:rPr>
              <a:t>THE COMPANY, </a:t>
            </a:r>
            <a:pPr indent="0" marL="0">
              <a:lnSpc>
                <a:spcPct val="95000"/>
              </a:lnSpc>
              <a:buNone/>
            </a:pPr>
            <a:r>
              <a:rPr lang="en-US" sz="3000" b="1" dirty="0">
                <a:solidFill>
                  <a:srgbClr val="C4441F"/>
                </a:solidFill>
                <a:latin typeface="Arial Narrow" pitchFamily="34" charset="0"/>
                <a:ea typeface="Arial Narrow" pitchFamily="34" charset="-122"/>
                <a:cs typeface="Arial Narrow" pitchFamily="34" charset="-120"/>
              </a:rPr>
              <a:t>AT A GLANCE</a:t>
            </a:r>
            <a:endParaRPr lang="en-US" sz="3000" dirty="0"/>
          </a:p>
        </p:txBody>
      </p:sp>
      <p:sp>
        <p:nvSpPr>
          <p:cNvPr id="5" name="Text 3"/>
          <p:cNvSpPr/>
          <p:nvPr/>
        </p:nvSpPr>
        <p:spPr>
          <a:xfrm>
            <a:off x="502920" y="1737360"/>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COMPANY</a:t>
            </a:r>
            <a:endParaRPr lang="en-US" sz="900" dirty="0"/>
          </a:p>
        </p:txBody>
      </p:sp>
      <p:sp>
        <p:nvSpPr>
          <p:cNvPr id="6" name="Text 4"/>
          <p:cNvSpPr/>
          <p:nvPr/>
        </p:nvSpPr>
        <p:spPr>
          <a:xfrm>
            <a:off x="2286000" y="1737360"/>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Freeskills Engineering (M) Sdn Bhd</a:t>
            </a:r>
            <a:endParaRPr lang="en-US" sz="1100" dirty="0"/>
          </a:p>
        </p:txBody>
      </p:sp>
      <p:sp>
        <p:nvSpPr>
          <p:cNvPr id="7" name="Shape 5"/>
          <p:cNvSpPr/>
          <p:nvPr/>
        </p:nvSpPr>
        <p:spPr>
          <a:xfrm>
            <a:off x="502920" y="2029968"/>
            <a:ext cx="5806440" cy="0"/>
          </a:xfrm>
          <a:prstGeom prst="line">
            <a:avLst/>
          </a:prstGeom>
          <a:noFill/>
          <a:ln w="9525">
            <a:solidFill>
              <a:srgbClr val="333C44"/>
            </a:solidFill>
            <a:prstDash val="solid"/>
          </a:ln>
        </p:spPr>
      </p:sp>
      <p:sp>
        <p:nvSpPr>
          <p:cNvPr id="8" name="Text 6"/>
          <p:cNvSpPr/>
          <p:nvPr/>
        </p:nvSpPr>
        <p:spPr>
          <a:xfrm>
            <a:off x="502920" y="2066544"/>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REG. NO.</a:t>
            </a:r>
            <a:endParaRPr lang="en-US" sz="900" dirty="0"/>
          </a:p>
        </p:txBody>
      </p:sp>
      <p:sp>
        <p:nvSpPr>
          <p:cNvPr id="9" name="Text 7"/>
          <p:cNvSpPr/>
          <p:nvPr/>
        </p:nvSpPr>
        <p:spPr>
          <a:xfrm>
            <a:off x="2286000" y="2066544"/>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1502941-H</a:t>
            </a:r>
            <a:endParaRPr lang="en-US" sz="1100" dirty="0"/>
          </a:p>
        </p:txBody>
      </p:sp>
      <p:sp>
        <p:nvSpPr>
          <p:cNvPr id="10" name="Shape 8"/>
          <p:cNvSpPr/>
          <p:nvPr/>
        </p:nvSpPr>
        <p:spPr>
          <a:xfrm>
            <a:off x="502920" y="2359152"/>
            <a:ext cx="5806440" cy="0"/>
          </a:xfrm>
          <a:prstGeom prst="line">
            <a:avLst/>
          </a:prstGeom>
          <a:noFill/>
          <a:ln w="9525">
            <a:solidFill>
              <a:srgbClr val="333C44"/>
            </a:solidFill>
            <a:prstDash val="solid"/>
          </a:ln>
        </p:spPr>
      </p:sp>
      <p:sp>
        <p:nvSpPr>
          <p:cNvPr id="11" name="Text 9"/>
          <p:cNvSpPr/>
          <p:nvPr/>
        </p:nvSpPr>
        <p:spPr>
          <a:xfrm>
            <a:off x="502920" y="2395728"/>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FAC. REG. NO.</a:t>
            </a:r>
            <a:endParaRPr lang="en-US" sz="900" dirty="0"/>
          </a:p>
        </p:txBody>
      </p:sp>
      <p:sp>
        <p:nvSpPr>
          <p:cNvPr id="12" name="Text 10"/>
          <p:cNvSpPr/>
          <p:nvPr/>
        </p:nvSpPr>
        <p:spPr>
          <a:xfrm>
            <a:off x="2286000" y="2395728"/>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JKKP/PK/2026/265610</a:t>
            </a:r>
            <a:endParaRPr lang="en-US" sz="1100" dirty="0"/>
          </a:p>
        </p:txBody>
      </p:sp>
      <p:sp>
        <p:nvSpPr>
          <p:cNvPr id="13" name="Shape 11"/>
          <p:cNvSpPr/>
          <p:nvPr/>
        </p:nvSpPr>
        <p:spPr>
          <a:xfrm>
            <a:off x="502920" y="2688336"/>
            <a:ext cx="5806440" cy="0"/>
          </a:xfrm>
          <a:prstGeom prst="line">
            <a:avLst/>
          </a:prstGeom>
          <a:noFill/>
          <a:ln w="9525">
            <a:solidFill>
              <a:srgbClr val="333C44"/>
            </a:solidFill>
            <a:prstDash val="solid"/>
          </a:ln>
        </p:spPr>
      </p:sp>
      <p:sp>
        <p:nvSpPr>
          <p:cNvPr id="14" name="Text 12"/>
          <p:cNvSpPr/>
          <p:nvPr/>
        </p:nvSpPr>
        <p:spPr>
          <a:xfrm>
            <a:off x="502920" y="2724912"/>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CLASS</a:t>
            </a:r>
            <a:endParaRPr lang="en-US" sz="900" dirty="0"/>
          </a:p>
        </p:txBody>
      </p:sp>
      <p:sp>
        <p:nvSpPr>
          <p:cNvPr id="15" name="Text 13"/>
          <p:cNvSpPr/>
          <p:nvPr/>
        </p:nvSpPr>
        <p:spPr>
          <a:xfrm>
            <a:off x="2286000" y="2724912"/>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Boiler &amp; Pressure Vessel Repairer</a:t>
            </a:r>
            <a:endParaRPr lang="en-US" sz="1100" dirty="0"/>
          </a:p>
        </p:txBody>
      </p:sp>
      <p:sp>
        <p:nvSpPr>
          <p:cNvPr id="16" name="Shape 14"/>
          <p:cNvSpPr/>
          <p:nvPr/>
        </p:nvSpPr>
        <p:spPr>
          <a:xfrm>
            <a:off x="502920" y="3017520"/>
            <a:ext cx="5806440" cy="0"/>
          </a:xfrm>
          <a:prstGeom prst="line">
            <a:avLst/>
          </a:prstGeom>
          <a:noFill/>
          <a:ln w="9525">
            <a:solidFill>
              <a:srgbClr val="333C44"/>
            </a:solidFill>
            <a:prstDash val="solid"/>
          </a:ln>
        </p:spPr>
      </p:sp>
      <p:sp>
        <p:nvSpPr>
          <p:cNvPr id="17" name="Text 15"/>
          <p:cNvSpPr/>
          <p:nvPr/>
        </p:nvSpPr>
        <p:spPr>
          <a:xfrm>
            <a:off x="502920" y="3054096"/>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WORKS</a:t>
            </a:r>
            <a:endParaRPr lang="en-US" sz="900" dirty="0"/>
          </a:p>
        </p:txBody>
      </p:sp>
      <p:sp>
        <p:nvSpPr>
          <p:cNvPr id="18" name="Text 16"/>
          <p:cNvSpPr/>
          <p:nvPr/>
        </p:nvSpPr>
        <p:spPr>
          <a:xfrm>
            <a:off x="2286000" y="3054096"/>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Lot 01 &amp; 02, Hala Perusahaan Kledang Utara 6</a:t>
            </a:r>
            <a:endParaRPr lang="en-US" sz="1100" dirty="0"/>
          </a:p>
        </p:txBody>
      </p:sp>
      <p:sp>
        <p:nvSpPr>
          <p:cNvPr id="19" name="Shape 17"/>
          <p:cNvSpPr/>
          <p:nvPr/>
        </p:nvSpPr>
        <p:spPr>
          <a:xfrm>
            <a:off x="502920" y="3346704"/>
            <a:ext cx="5806440" cy="0"/>
          </a:xfrm>
          <a:prstGeom prst="line">
            <a:avLst/>
          </a:prstGeom>
          <a:noFill/>
          <a:ln w="9525">
            <a:solidFill>
              <a:srgbClr val="333C44"/>
            </a:solidFill>
            <a:prstDash val="solid"/>
          </a:ln>
        </p:spPr>
      </p:sp>
      <p:sp>
        <p:nvSpPr>
          <p:cNvPr id="20" name="Text 18"/>
          <p:cNvSpPr/>
          <p:nvPr/>
        </p:nvSpPr>
        <p:spPr>
          <a:xfrm>
            <a:off x="502920" y="3383280"/>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DISTRICT</a:t>
            </a:r>
            <a:endParaRPr lang="en-US" sz="900" dirty="0"/>
          </a:p>
        </p:txBody>
      </p:sp>
      <p:sp>
        <p:nvSpPr>
          <p:cNvPr id="21" name="Text 19"/>
          <p:cNvSpPr/>
          <p:nvPr/>
        </p:nvSpPr>
        <p:spPr>
          <a:xfrm>
            <a:off x="2286000" y="3383280"/>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Menglembu 31450 · Ipoh · Perak Darul Ridzuan</a:t>
            </a:r>
            <a:endParaRPr lang="en-US" sz="1100" dirty="0"/>
          </a:p>
        </p:txBody>
      </p:sp>
      <p:sp>
        <p:nvSpPr>
          <p:cNvPr id="22" name="Shape 20"/>
          <p:cNvSpPr/>
          <p:nvPr/>
        </p:nvSpPr>
        <p:spPr>
          <a:xfrm>
            <a:off x="502920" y="3675888"/>
            <a:ext cx="5806440" cy="0"/>
          </a:xfrm>
          <a:prstGeom prst="line">
            <a:avLst/>
          </a:prstGeom>
          <a:noFill/>
          <a:ln w="9525">
            <a:solidFill>
              <a:srgbClr val="333C44"/>
            </a:solidFill>
            <a:prstDash val="solid"/>
          </a:ln>
        </p:spPr>
      </p:sp>
      <p:sp>
        <p:nvSpPr>
          <p:cNvPr id="23" name="Text 21"/>
          <p:cNvSpPr/>
          <p:nvPr/>
        </p:nvSpPr>
        <p:spPr>
          <a:xfrm>
            <a:off x="502920" y="3712464"/>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TELEPHONE</a:t>
            </a:r>
            <a:endParaRPr lang="en-US" sz="900" dirty="0"/>
          </a:p>
        </p:txBody>
      </p:sp>
      <p:sp>
        <p:nvSpPr>
          <p:cNvPr id="24" name="Text 22"/>
          <p:cNvSpPr/>
          <p:nvPr/>
        </p:nvSpPr>
        <p:spPr>
          <a:xfrm>
            <a:off x="2286000" y="3712464"/>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+60 16 410 0464</a:t>
            </a:r>
            <a:endParaRPr lang="en-US" sz="1100" dirty="0"/>
          </a:p>
        </p:txBody>
      </p:sp>
      <p:sp>
        <p:nvSpPr>
          <p:cNvPr id="25" name="Shape 23"/>
          <p:cNvSpPr/>
          <p:nvPr/>
        </p:nvSpPr>
        <p:spPr>
          <a:xfrm>
            <a:off x="502920" y="4005072"/>
            <a:ext cx="5806440" cy="0"/>
          </a:xfrm>
          <a:prstGeom prst="line">
            <a:avLst/>
          </a:prstGeom>
          <a:noFill/>
          <a:ln w="9525">
            <a:solidFill>
              <a:srgbClr val="333C44"/>
            </a:solidFill>
            <a:prstDash val="solid"/>
          </a:ln>
        </p:spPr>
      </p:sp>
      <p:sp>
        <p:nvSpPr>
          <p:cNvPr id="26" name="Text 24"/>
          <p:cNvSpPr/>
          <p:nvPr/>
        </p:nvSpPr>
        <p:spPr>
          <a:xfrm>
            <a:off x="502920" y="4041648"/>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EMAIL</a:t>
            </a:r>
            <a:endParaRPr lang="en-US" sz="900" dirty="0"/>
          </a:p>
        </p:txBody>
      </p:sp>
      <p:sp>
        <p:nvSpPr>
          <p:cNvPr id="27" name="Text 25"/>
          <p:cNvSpPr/>
          <p:nvPr/>
        </p:nvSpPr>
        <p:spPr>
          <a:xfrm>
            <a:off x="2286000" y="4041648"/>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freeskillseng@gmail.com</a:t>
            </a:r>
            <a:endParaRPr lang="en-US" sz="1100" dirty="0"/>
          </a:p>
        </p:txBody>
      </p:sp>
      <p:sp>
        <p:nvSpPr>
          <p:cNvPr id="28" name="Shape 26"/>
          <p:cNvSpPr/>
          <p:nvPr/>
        </p:nvSpPr>
        <p:spPr>
          <a:xfrm>
            <a:off x="502920" y="4334256"/>
            <a:ext cx="5806440" cy="0"/>
          </a:xfrm>
          <a:prstGeom prst="line">
            <a:avLst/>
          </a:prstGeom>
          <a:noFill/>
          <a:ln w="9525">
            <a:solidFill>
              <a:srgbClr val="333C44"/>
            </a:solidFill>
            <a:prstDash val="solid"/>
          </a:ln>
        </p:spPr>
      </p:sp>
      <p:sp>
        <p:nvSpPr>
          <p:cNvPr id="29" name="Text 27"/>
          <p:cNvSpPr/>
          <p:nvPr/>
        </p:nvSpPr>
        <p:spPr>
          <a:xfrm>
            <a:off x="502920" y="4370832"/>
            <a:ext cx="1737360" cy="27432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HOURS</a:t>
            </a:r>
            <a:endParaRPr lang="en-US" sz="900" dirty="0"/>
          </a:p>
        </p:txBody>
      </p:sp>
      <p:sp>
        <p:nvSpPr>
          <p:cNvPr id="30" name="Text 28"/>
          <p:cNvSpPr/>
          <p:nvPr/>
        </p:nvSpPr>
        <p:spPr>
          <a:xfrm>
            <a:off x="2286000" y="4370832"/>
            <a:ext cx="4023360" cy="274320"/>
          </a:xfrm>
          <a:prstGeom prst="rect">
            <a:avLst/>
          </a:prstGeom>
          <a:noFill/>
          <a:ln/>
        </p:spPr>
        <p:txBody>
          <a:bodyPr wrap="square" rtlCol="0" anchor="ctr"/>
          <a:lstStyle/>
          <a:p>
            <a:pPr indent="0" marL="0">
              <a:buNone/>
            </a:pPr>
            <a:r>
              <a:rPr lang="en-US" sz="1100" dirty="0">
                <a:solidFill>
                  <a:srgbClr val="E7E2D8"/>
                </a:solidFill>
                <a:latin typeface="Arial" pitchFamily="34" charset="0"/>
                <a:ea typeface="Arial" pitchFamily="34" charset="-122"/>
                <a:cs typeface="Arial" pitchFamily="34" charset="-120"/>
              </a:rPr>
              <a:t>Monday – Saturday, 8:30 am – 6:00 pm</a:t>
            </a:r>
            <a:endParaRPr lang="en-US" sz="1100" dirty="0"/>
          </a:p>
        </p:txBody>
      </p:sp>
      <p:sp>
        <p:nvSpPr>
          <p:cNvPr id="31" name="Shape 29"/>
          <p:cNvSpPr/>
          <p:nvPr/>
        </p:nvSpPr>
        <p:spPr>
          <a:xfrm>
            <a:off x="502920" y="4663440"/>
            <a:ext cx="5806440" cy="0"/>
          </a:xfrm>
          <a:prstGeom prst="line">
            <a:avLst/>
          </a:prstGeom>
          <a:noFill/>
          <a:ln w="9525">
            <a:solidFill>
              <a:srgbClr val="333C44"/>
            </a:solidFill>
            <a:prstDash val="solid"/>
          </a:ln>
        </p:spPr>
      </p:sp>
      <p:sp>
        <p:nvSpPr>
          <p:cNvPr id="32" name="Shape 30"/>
          <p:cNvSpPr/>
          <p:nvPr/>
        </p:nvSpPr>
        <p:spPr>
          <a:xfrm>
            <a:off x="6629400" y="1737360"/>
            <a:ext cx="2011680" cy="2286000"/>
          </a:xfrm>
          <a:prstGeom prst="roundRect">
            <a:avLst>
              <a:gd name="adj" fmla="val 1818"/>
            </a:avLst>
          </a:prstGeom>
          <a:solidFill>
            <a:srgbClr val="1D242B"/>
          </a:solidFill>
          <a:ln w="12700">
            <a:solidFill>
              <a:srgbClr val="3A444D"/>
            </a:solidFill>
            <a:prstDash val="solid"/>
          </a:ln>
        </p:spPr>
      </p:sp>
      <p:sp>
        <p:nvSpPr>
          <p:cNvPr id="33" name="Text 31"/>
          <p:cNvSpPr/>
          <p:nvPr/>
        </p:nvSpPr>
        <p:spPr>
          <a:xfrm>
            <a:off x="6812280" y="1901952"/>
            <a:ext cx="1645920" cy="228600"/>
          </a:xfrm>
          <a:prstGeom prst="rect">
            <a:avLst/>
          </a:prstGeom>
          <a:noFill/>
          <a:ln/>
        </p:spPr>
        <p:txBody>
          <a:bodyPr wrap="square" rtlCol="0" anchor="ctr"/>
          <a:lstStyle/>
          <a:p>
            <a:pPr indent="0" marL="0">
              <a:buNone/>
            </a:pPr>
            <a:r>
              <a:rPr lang="en-US" sz="900" spc="200" kern="0" dirty="0">
                <a:solidFill>
                  <a:srgbClr val="F2B705"/>
                </a:solidFill>
                <a:latin typeface="Consolas" pitchFamily="34" charset="0"/>
                <a:ea typeface="Consolas" pitchFamily="34" charset="-122"/>
                <a:cs typeface="Consolas" pitchFamily="34" charset="-120"/>
              </a:rPr>
              <a:t>SCOPE</a:t>
            </a:r>
            <a:endParaRPr lang="en-US" sz="900" dirty="0"/>
          </a:p>
        </p:txBody>
      </p:sp>
      <p:sp>
        <p:nvSpPr>
          <p:cNvPr id="34" name="Text 32"/>
          <p:cNvSpPr/>
          <p:nvPr/>
        </p:nvSpPr>
        <p:spPr>
          <a:xfrm>
            <a:off x="6812280" y="2194560"/>
            <a:ext cx="1645920" cy="1737360"/>
          </a:xfrm>
          <a:prstGeom prst="rect">
            <a:avLst/>
          </a:prstGeom>
          <a:noFill/>
          <a:ln/>
        </p:spPr>
        <p:txBody>
          <a:bodyPr wrap="square" rtlCol="0" anchor="t"/>
          <a:lstStyle/>
          <a:p>
            <a:pPr indent="0" marL="0">
              <a:lnSpc>
                <a:spcPct val="125000"/>
              </a:lnSpc>
              <a:buNone/>
            </a:pPr>
            <a:r>
              <a:rPr lang="en-US" sz="1000" dirty="0">
                <a:solidFill>
                  <a:srgbClr val="A9A69E"/>
                </a:solidFill>
                <a:latin typeface="Arial" pitchFamily="34" charset="0"/>
                <a:ea typeface="Arial" pitchFamily="34" charset="-122"/>
                <a:cs typeface="Arial" pitchFamily="34" charset="-120"/>
              </a:rPr>
              <a:t>Alteration · Repair · Overhaul</a:t>
            </a:r>
            <a:endParaRPr lang="en-US" sz="1000" dirty="0"/>
          </a:p>
          <a:p>
            <a:pPr indent="0" marL="0">
              <a:lnSpc>
                <a:spcPct val="125000"/>
              </a:lnSpc>
              <a:buNone/>
            </a:pPr>
            <a:r>
              <a:rPr lang="en-US" sz="1000" dirty="0">
                <a:solidFill>
                  <a:srgbClr val="A9A69E"/>
                </a:solidFill>
                <a:latin typeface="Arial" pitchFamily="34" charset="0"/>
                <a:ea typeface="Arial" pitchFamily="34" charset="-122"/>
                <a:cs typeface="Arial" pitchFamily="34" charset="-120"/>
              </a:rPr>
              <a:t>General fabrication</a:t>
            </a:r>
            <a:endParaRPr lang="en-US" sz="1000" dirty="0"/>
          </a:p>
          <a:p>
            <a:pPr indent="0" marL="0">
              <a:lnSpc>
                <a:spcPct val="125000"/>
              </a:lnSpc>
              <a:buNone/>
            </a:pPr>
            <a:r>
              <a:rPr lang="en-US" sz="1000" dirty="0">
                <a:solidFill>
                  <a:srgbClr val="A9A69E"/>
                </a:solidFill>
                <a:latin typeface="Arial" pitchFamily="34" charset="0"/>
                <a:ea typeface="Arial" pitchFamily="34" charset="-122"/>
                <a:cs typeface="Arial" pitchFamily="34" charset="-120"/>
              </a:rPr>
              <a:t>Hydrostatic testing</a:t>
            </a:r>
            <a:endParaRPr lang="en-US" sz="1000" dirty="0"/>
          </a:p>
          <a:p>
            <a:pPr indent="0" marL="0">
              <a:lnSpc>
                <a:spcPct val="125000"/>
              </a:lnSpc>
              <a:buNone/>
            </a:pPr>
            <a:r>
              <a:rPr lang="en-US" sz="1000" dirty="0">
                <a:solidFill>
                  <a:srgbClr val="A9A69E"/>
                </a:solidFill>
                <a:latin typeface="Arial" pitchFamily="34" charset="0"/>
                <a:ea typeface="Arial" pitchFamily="34" charset="-122"/>
                <a:cs typeface="Arial" pitchFamily="34" charset="-120"/>
              </a:rPr>
              <a:t>On-site welding</a:t>
            </a:r>
            <a:endParaRPr lang="en-US" sz="1000" dirty="0"/>
          </a:p>
          <a:p>
            <a:pPr indent="0" marL="0">
              <a:lnSpc>
                <a:spcPct val="125000"/>
              </a:lnSpc>
              <a:buNone/>
            </a:pPr>
            <a:endParaRPr lang="en-US" sz="1000" dirty="0"/>
          </a:p>
          <a:p>
            <a:pPr indent="0" marL="0">
              <a:lnSpc>
                <a:spcPct val="125000"/>
              </a:lnSpc>
              <a:buNone/>
            </a:pPr>
            <a:r>
              <a:rPr lang="en-US" sz="1000" dirty="0">
                <a:solidFill>
                  <a:srgbClr val="A9A69E"/>
                </a:solidFill>
                <a:latin typeface="Arial" pitchFamily="34" charset="0"/>
                <a:ea typeface="Arial" pitchFamily="34" charset="-122"/>
                <a:cs typeface="Arial" pitchFamily="34" charset="-120"/>
              </a:rPr>
              <a:t>Statute: Factories &amp; Machinery Act 1967</a:t>
            </a:r>
            <a:endParaRPr lang="en-US" sz="1000" dirty="0"/>
          </a:p>
        </p:txBody>
      </p:sp>
      <p:sp>
        <p:nvSpPr>
          <p:cNvPr id="35" name="Text 33"/>
          <p:cNvSpPr/>
          <p:nvPr/>
        </p:nvSpPr>
        <p:spPr>
          <a:xfrm>
            <a:off x="502920" y="4572000"/>
            <a:ext cx="5852160" cy="274320"/>
          </a:xfrm>
          <a:prstGeom prst="rect">
            <a:avLst/>
          </a:prstGeom>
          <a:noFill/>
          <a:ln/>
        </p:spPr>
        <p:txBody>
          <a:bodyPr wrap="square" rtlCol="0" anchor="ctr"/>
          <a:lstStyle/>
          <a:p>
            <a:pPr indent="0" marL="0">
              <a:buNone/>
            </a:pPr>
            <a:r>
              <a:rPr lang="en-US" sz="900" i="1" dirty="0">
                <a:solidFill>
                  <a:srgbClr val="7C8480"/>
                </a:solidFill>
                <a:latin typeface="Arial" pitchFamily="34" charset="0"/>
                <a:ea typeface="Arial" pitchFamily="34" charset="-122"/>
                <a:cs typeface="Arial" pitchFamily="34" charset="-120"/>
              </a:rPr>
              <a:t>Data plate values shown on the website hero, taken from the company registration and factory registration records.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C4441F"/>
                </a:solidFill>
                <a:latin typeface="Consolas" pitchFamily="34" charset="0"/>
                <a:ea typeface="Consolas" pitchFamily="34" charset="-122"/>
                <a:cs typeface="Consolas" pitchFamily="34" charset="-120"/>
              </a:rPr>
              <a:t>01 · WEBSITE STRUCTURE</a:t>
            </a:r>
            <a:endParaRPr lang="en-US" sz="900" dirty="0"/>
          </a:p>
        </p:txBody>
      </p:sp>
      <p:sp>
        <p:nvSpPr>
          <p:cNvPr id="3" name="Shape 1"/>
          <p:cNvSpPr/>
          <p:nvPr/>
        </p:nvSpPr>
        <p:spPr>
          <a:xfrm>
            <a:off x="502920" y="603504"/>
            <a:ext cx="1280160" cy="0"/>
          </a:xfrm>
          <a:prstGeom prst="line">
            <a:avLst/>
          </a:prstGeom>
          <a:noFill/>
          <a:ln w="25400">
            <a:solidFill>
              <a:srgbClr val="C4441F"/>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3000" b="1" dirty="0">
                <a:solidFill>
                  <a:srgbClr val="22262A"/>
                </a:solidFill>
                <a:latin typeface="Arial Narrow" pitchFamily="34" charset="0"/>
                <a:ea typeface="Arial Narrow" pitchFamily="34" charset="-122"/>
                <a:cs typeface="Arial Narrow" pitchFamily="34" charset="-120"/>
              </a:rPr>
              <a:t>WHAT'S ON </a:t>
            </a:r>
            <a:pPr indent="0" marL="0">
              <a:lnSpc>
                <a:spcPct val="95000"/>
              </a:lnSpc>
              <a:buNone/>
            </a:pPr>
            <a:r>
              <a:rPr lang="en-US" sz="3000" b="1" dirty="0">
                <a:solidFill>
                  <a:srgbClr val="C4441F"/>
                </a:solidFill>
                <a:latin typeface="Arial Narrow" pitchFamily="34" charset="0"/>
                <a:ea typeface="Arial Narrow" pitchFamily="34" charset="-122"/>
                <a:cs typeface="Arial Narrow" pitchFamily="34" charset="-120"/>
              </a:rPr>
              <a:t>THE WEBSITE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8138160" cy="914400"/>
        </p:xfrm>
        <a:graphic>
          <a:graphicData uri="http://schemas.openxmlformats.org/drawingml/2006/table">
            <a:tbl>
              <a:tblPr/>
              <a:tblGrid>
                <a:gridCol w="548640"/>
                <a:gridCol w="1920240"/>
                <a:gridCol w="5669280"/>
              </a:tblGrid>
              <a:tr h="365760">
                <a:tc>
                  <a:txBody>
                    <a:bodyPr/>
                    <a:lstStyle/>
                    <a:p>
                      <a:pPr indent="0" marL="0">
                        <a:buNone/>
                      </a:pPr>
                      <a:r>
                        <a:rPr lang="en-US" sz="900" b="1" dirty="0">
                          <a:solidFill>
                            <a:srgbClr val="EDE9E1"/>
                          </a:solidFill>
                          <a:latin typeface="Consolas" pitchFamily="34" charset="0"/>
                          <a:ea typeface="Consolas" pitchFamily="34" charset="-122"/>
                          <a:cs typeface="Consolas" pitchFamily="34" charset="-120"/>
                        </a:rPr>
                        <a:t>SEC</a:t>
                      </a:r>
                      <a:endParaRPr lang="en-US" sz="90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solidFill>
                      <a:srgbClr val="22262A"/>
                    </a:solidFill>
                  </a:tcPr>
                </a:tc>
                <a:tc>
                  <a:txBody>
                    <a:bodyPr/>
                    <a:lstStyle/>
                    <a:p>
                      <a:pPr indent="0" marL="0">
                        <a:buNone/>
                      </a:pPr>
                      <a:r>
                        <a:rPr lang="en-US" sz="900" b="1" dirty="0">
                          <a:solidFill>
                            <a:srgbClr val="EDE9E1"/>
                          </a:solidFill>
                          <a:latin typeface="Consolas" pitchFamily="34" charset="0"/>
                          <a:ea typeface="Consolas" pitchFamily="34" charset="-122"/>
                          <a:cs typeface="Consolas" pitchFamily="34" charset="-120"/>
                        </a:rPr>
                        <a:t>SECTION</a:t>
                      </a:r>
                      <a:endParaRPr lang="en-US" sz="90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solidFill>
                      <a:srgbClr val="22262A"/>
                    </a:solidFill>
                  </a:tcPr>
                </a:tc>
                <a:tc>
                  <a:txBody>
                    <a:bodyPr/>
                    <a:lstStyle/>
                    <a:p>
                      <a:pPr indent="0" marL="0">
                        <a:buNone/>
                      </a:pPr>
                      <a:r>
                        <a:rPr lang="en-US" sz="900" b="1" dirty="0">
                          <a:solidFill>
                            <a:srgbClr val="EDE9E1"/>
                          </a:solidFill>
                          <a:latin typeface="Consolas" pitchFamily="34" charset="0"/>
                          <a:ea typeface="Consolas" pitchFamily="34" charset="-122"/>
                          <a:cs typeface="Consolas" pitchFamily="34" charset="-120"/>
                        </a:rPr>
                        <a:t>DETAILS LISTED</a:t>
                      </a:r>
                      <a:endParaRPr lang="en-US" sz="90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solidFill>
                      <a:srgbClr val="22262A"/>
                    </a:solidFill>
                  </a:tcPr>
                </a:tc>
              </a:tr>
              <a:tr h="365760">
                <a:tc>
                  <a:txBody>
                    <a:bodyPr/>
                    <a:lstStyle/>
                    <a:p>
                      <a:pPr indent="0" marL="0">
                        <a:buNone/>
                      </a:pPr>
                      <a:r>
                        <a:rPr lang="en-US" sz="950" b="1" dirty="0">
                          <a:solidFill>
                            <a:srgbClr val="C4441F"/>
                          </a:solidFill>
                          <a:latin typeface="Consolas" pitchFamily="34" charset="0"/>
                          <a:ea typeface="Consolas" pitchFamily="34" charset="-122"/>
                          <a:cs typeface="Consolas" pitchFamily="34" charset="-120"/>
                        </a:rPr>
                        <a:t>00</a:t>
                      </a:r>
                      <a:endParaRPr lang="en-US" sz="95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1150" b="1" dirty="0">
                          <a:solidFill>
                            <a:srgbClr val="22262A"/>
                          </a:solidFill>
                          <a:latin typeface="Arial Narrow" pitchFamily="34" charset="0"/>
                          <a:ea typeface="Arial Narrow" pitchFamily="34" charset="-122"/>
                          <a:cs typeface="Arial Narrow" pitchFamily="34" charset="-120"/>
                        </a:rPr>
                        <a:t>Hero / Home</a:t>
                      </a:r>
                      <a:endParaRPr lang="en-US" sz="1150" dirty="0">
                        <a:latin typeface="Arial Narrow" charset="0"/>
                        <a:ea typeface="Arial Narrow" charset="0"/>
                        <a:cs typeface="Arial Narrow"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950" dirty="0">
                          <a:solidFill>
                            <a:srgbClr val="55595E"/>
                          </a:solidFill>
                          <a:latin typeface="Arial" pitchFamily="34" charset="0"/>
                          <a:ea typeface="Arial" pitchFamily="34" charset="-122"/>
                          <a:cs typeface="Arial" pitchFamily="34" charset="-120"/>
                        </a:rPr>
                        <a:t>Positioning, quote CTA, phone, riveted data plate with the organisation-chart button</a:t>
                      </a:r>
                      <a:endParaRPr lang="en-US" sz="950" dirty="0">
                        <a:latin typeface="Arial" charset="0"/>
                        <a:ea typeface="Arial" charset="0"/>
                        <a:cs typeface="Arial"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r>
              <a:tr h="365760">
                <a:tc>
                  <a:txBody>
                    <a:bodyPr/>
                    <a:lstStyle/>
                    <a:p>
                      <a:pPr indent="0" marL="0">
                        <a:buNone/>
                      </a:pPr>
                      <a:r>
                        <a:rPr lang="en-US" sz="950" b="1" dirty="0">
                          <a:solidFill>
                            <a:srgbClr val="C4441F"/>
                          </a:solidFill>
                          <a:latin typeface="Consolas" pitchFamily="34" charset="0"/>
                          <a:ea typeface="Consolas" pitchFamily="34" charset="-122"/>
                          <a:cs typeface="Consolas" pitchFamily="34" charset="-120"/>
                        </a:rPr>
                        <a:t>01</a:t>
                      </a:r>
                      <a:endParaRPr lang="en-US" sz="95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1150" b="1" dirty="0">
                          <a:solidFill>
                            <a:srgbClr val="22262A"/>
                          </a:solidFill>
                          <a:latin typeface="Arial Narrow" pitchFamily="34" charset="0"/>
                          <a:ea typeface="Arial Narrow" pitchFamily="34" charset="-122"/>
                          <a:cs typeface="Arial Narrow" pitchFamily="34" charset="-120"/>
                        </a:rPr>
                        <a:t>Capability</a:t>
                      </a:r>
                      <a:endParaRPr lang="en-US" sz="1150" dirty="0">
                        <a:latin typeface="Arial Narrow" charset="0"/>
                        <a:ea typeface="Arial Narrow" charset="0"/>
                        <a:cs typeface="Arial Narrow"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950" dirty="0">
                          <a:solidFill>
                            <a:srgbClr val="55595E"/>
                          </a:solidFill>
                          <a:latin typeface="Arial" pitchFamily="34" charset="0"/>
                          <a:ea typeface="Arial" pitchFamily="34" charset="-122"/>
                          <a:cs typeface="Arial" pitchFamily="34" charset="-120"/>
                        </a:rPr>
                        <a:t>Six service lines (BPV-01…OS-06) + Infrastructure &amp; Facilities panel (6 plant items, Lot 02 photo)</a:t>
                      </a:r>
                      <a:endParaRPr lang="en-US" sz="950" dirty="0">
                        <a:latin typeface="Arial" charset="0"/>
                        <a:ea typeface="Arial" charset="0"/>
                        <a:cs typeface="Arial"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r>
              <a:tr h="365760">
                <a:tc>
                  <a:txBody>
                    <a:bodyPr/>
                    <a:lstStyle/>
                    <a:p>
                      <a:pPr indent="0" marL="0">
                        <a:buNone/>
                      </a:pPr>
                      <a:r>
                        <a:rPr lang="en-US" sz="950" b="1" dirty="0">
                          <a:solidFill>
                            <a:srgbClr val="C4441F"/>
                          </a:solidFill>
                          <a:latin typeface="Consolas" pitchFamily="34" charset="0"/>
                          <a:ea typeface="Consolas" pitchFamily="34" charset="-122"/>
                          <a:cs typeface="Consolas" pitchFamily="34" charset="-120"/>
                        </a:rPr>
                        <a:t>02</a:t>
                      </a:r>
                      <a:endParaRPr lang="en-US" sz="95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1150" b="1" dirty="0">
                          <a:solidFill>
                            <a:srgbClr val="22262A"/>
                          </a:solidFill>
                          <a:latin typeface="Arial Narrow" pitchFamily="34" charset="0"/>
                          <a:ea typeface="Arial Narrow" pitchFamily="34" charset="-122"/>
                          <a:cs typeface="Arial Narrow" pitchFamily="34" charset="-120"/>
                        </a:rPr>
                        <a:t>Works executed</a:t>
                      </a:r>
                      <a:endParaRPr lang="en-US" sz="1150" dirty="0">
                        <a:latin typeface="Arial Narrow" charset="0"/>
                        <a:ea typeface="Arial Narrow" charset="0"/>
                        <a:cs typeface="Arial Narrow"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950" dirty="0">
                          <a:solidFill>
                            <a:srgbClr val="55595E"/>
                          </a:solidFill>
                          <a:latin typeface="Arial" pitchFamily="34" charset="0"/>
                          <a:ea typeface="Arial" pitchFamily="34" charset="-122"/>
                          <a:cs typeface="Arial" pitchFamily="34" charset="-120"/>
                        </a:rPr>
                        <a:t>Everyday repair scope in 3 trade groups: boiler &amp; pressure equipment, structural steel, piping &amp; site works</a:t>
                      </a:r>
                      <a:endParaRPr lang="en-US" sz="950" dirty="0">
                        <a:latin typeface="Arial" charset="0"/>
                        <a:ea typeface="Arial" charset="0"/>
                        <a:cs typeface="Arial"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r>
              <a:tr h="365760">
                <a:tc>
                  <a:txBody>
                    <a:bodyPr/>
                    <a:lstStyle/>
                    <a:p>
                      <a:pPr indent="0" marL="0">
                        <a:buNone/>
                      </a:pPr>
                      <a:r>
                        <a:rPr lang="en-US" sz="950" b="1" dirty="0">
                          <a:solidFill>
                            <a:srgbClr val="C4441F"/>
                          </a:solidFill>
                          <a:latin typeface="Consolas" pitchFamily="34" charset="0"/>
                          <a:ea typeface="Consolas" pitchFamily="34" charset="-122"/>
                          <a:cs typeface="Consolas" pitchFamily="34" charset="-120"/>
                        </a:rPr>
                        <a:t>03</a:t>
                      </a:r>
                      <a:endParaRPr lang="en-US" sz="95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1150" b="1" dirty="0">
                          <a:solidFill>
                            <a:srgbClr val="22262A"/>
                          </a:solidFill>
                          <a:latin typeface="Arial Narrow" pitchFamily="34" charset="0"/>
                          <a:ea typeface="Arial Narrow" pitchFamily="34" charset="-122"/>
                          <a:cs typeface="Arial Narrow" pitchFamily="34" charset="-120"/>
                        </a:rPr>
                        <a:t>Compliance &amp; safety</a:t>
                      </a:r>
                      <a:endParaRPr lang="en-US" sz="1150" dirty="0">
                        <a:latin typeface="Arial Narrow" charset="0"/>
                        <a:ea typeface="Arial Narrow" charset="0"/>
                        <a:cs typeface="Arial Narrow"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950" dirty="0">
                          <a:solidFill>
                            <a:srgbClr val="55595E"/>
                          </a:solidFill>
                          <a:latin typeface="Arial" pitchFamily="34" charset="0"/>
                          <a:ea typeface="Arial" pitchFamily="34" charset="-122"/>
                          <a:cs typeface="Arial" pitchFamily="34" charset="-120"/>
                        </a:rPr>
                        <a:t>9 statutory instruments — FMA 1967, 1970 Regulations, Certificate of Fitness, Sec. 29A, ASME PCC-2, NBIC, tests, Reg. 82</a:t>
                      </a:r>
                      <a:endParaRPr lang="en-US" sz="950" dirty="0">
                        <a:latin typeface="Arial" charset="0"/>
                        <a:ea typeface="Arial" charset="0"/>
                        <a:cs typeface="Arial"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r>
              <a:tr h="365760">
                <a:tc>
                  <a:txBody>
                    <a:bodyPr/>
                    <a:lstStyle/>
                    <a:p>
                      <a:pPr indent="0" marL="0">
                        <a:buNone/>
                      </a:pPr>
                      <a:r>
                        <a:rPr lang="en-US" sz="950" b="1" dirty="0">
                          <a:solidFill>
                            <a:srgbClr val="C4441F"/>
                          </a:solidFill>
                          <a:latin typeface="Consolas" pitchFamily="34" charset="0"/>
                          <a:ea typeface="Consolas" pitchFamily="34" charset="-122"/>
                          <a:cs typeface="Consolas" pitchFamily="34" charset="-120"/>
                        </a:rPr>
                        <a:t>04</a:t>
                      </a:r>
                      <a:endParaRPr lang="en-US" sz="95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1150" b="1" dirty="0">
                          <a:solidFill>
                            <a:srgbClr val="22262A"/>
                          </a:solidFill>
                          <a:latin typeface="Arial Narrow" pitchFamily="34" charset="0"/>
                          <a:ea typeface="Arial Narrow" pitchFamily="34" charset="-122"/>
                          <a:cs typeface="Arial Narrow" pitchFamily="34" charset="-120"/>
                        </a:rPr>
                        <a:t>Quality Management System</a:t>
                      </a:r>
                      <a:endParaRPr lang="en-US" sz="1150" dirty="0">
                        <a:latin typeface="Arial Narrow" charset="0"/>
                        <a:ea typeface="Arial Narrow" charset="0"/>
                        <a:cs typeface="Arial Narrow"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950" dirty="0">
                          <a:solidFill>
                            <a:srgbClr val="55595E"/>
                          </a:solidFill>
                          <a:latin typeface="Arial" pitchFamily="34" charset="0"/>
                          <a:ea typeface="Arial" pitchFamily="34" charset="-122"/>
                          <a:cs typeface="Arial" pitchFamily="34" charset="-120"/>
                        </a:rPr>
                        <a:t>4 control points + in-page 5-step demo of a job running in the Quality Management Center (link to the live app)</a:t>
                      </a:r>
                      <a:endParaRPr lang="en-US" sz="950" dirty="0">
                        <a:latin typeface="Arial" charset="0"/>
                        <a:ea typeface="Arial" charset="0"/>
                        <a:cs typeface="Arial"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r>
              <a:tr h="365760">
                <a:tc>
                  <a:txBody>
                    <a:bodyPr/>
                    <a:lstStyle/>
                    <a:p>
                      <a:pPr indent="0" marL="0">
                        <a:buNone/>
                      </a:pPr>
                      <a:r>
                        <a:rPr lang="en-US" sz="950" b="1" dirty="0">
                          <a:solidFill>
                            <a:srgbClr val="C4441F"/>
                          </a:solidFill>
                          <a:latin typeface="Consolas" pitchFamily="34" charset="0"/>
                          <a:ea typeface="Consolas" pitchFamily="34" charset="-122"/>
                          <a:cs typeface="Consolas" pitchFamily="34" charset="-120"/>
                        </a:rPr>
                        <a:t>05</a:t>
                      </a:r>
                      <a:endParaRPr lang="en-US" sz="95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1150" b="1" dirty="0">
                          <a:solidFill>
                            <a:srgbClr val="22262A"/>
                          </a:solidFill>
                          <a:latin typeface="Arial Narrow" pitchFamily="34" charset="0"/>
                          <a:ea typeface="Arial Narrow" pitchFamily="34" charset="-122"/>
                          <a:cs typeface="Arial Narrow" pitchFamily="34" charset="-120"/>
                        </a:rPr>
                        <a:t>Safety &amp; health</a:t>
                      </a:r>
                      <a:endParaRPr lang="en-US" sz="1150" dirty="0">
                        <a:latin typeface="Arial Narrow" charset="0"/>
                        <a:ea typeface="Arial Narrow" charset="0"/>
                        <a:cs typeface="Arial Narrow"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950" dirty="0">
                          <a:solidFill>
                            <a:srgbClr val="55595E"/>
                          </a:solidFill>
                          <a:latin typeface="Arial" pitchFamily="34" charset="0"/>
                          <a:ea typeface="Arial" pitchFamily="34" charset="-122"/>
                          <a:cs typeface="Arial" pitchFamily="34" charset="-120"/>
                        </a:rPr>
                        <a:t>OSH policy, 4 safety facts, 3 commitments, 4 safe systems of work, toolbox/PPE note</a:t>
                      </a:r>
                      <a:endParaRPr lang="en-US" sz="950" dirty="0">
                        <a:latin typeface="Arial" charset="0"/>
                        <a:ea typeface="Arial" charset="0"/>
                        <a:cs typeface="Arial"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r>
              <a:tr h="365760">
                <a:tc>
                  <a:txBody>
                    <a:bodyPr/>
                    <a:lstStyle/>
                    <a:p>
                      <a:pPr indent="0" marL="0">
                        <a:buNone/>
                      </a:pPr>
                      <a:r>
                        <a:rPr lang="en-US" sz="950" b="1" dirty="0">
                          <a:solidFill>
                            <a:srgbClr val="C4441F"/>
                          </a:solidFill>
                          <a:latin typeface="Consolas" pitchFamily="34" charset="0"/>
                          <a:ea typeface="Consolas" pitchFamily="34" charset="-122"/>
                          <a:cs typeface="Consolas" pitchFamily="34" charset="-120"/>
                        </a:rPr>
                        <a:t>06</a:t>
                      </a:r>
                      <a:endParaRPr lang="en-US" sz="95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1150" b="1" dirty="0">
                          <a:solidFill>
                            <a:srgbClr val="22262A"/>
                          </a:solidFill>
                          <a:latin typeface="Arial Narrow" pitchFamily="34" charset="0"/>
                          <a:ea typeface="Arial Narrow" pitchFamily="34" charset="-122"/>
                          <a:cs typeface="Arial Narrow" pitchFamily="34" charset="-120"/>
                        </a:rPr>
                        <a:t>Job flow</a:t>
                      </a:r>
                      <a:endParaRPr lang="en-US" sz="1150" dirty="0">
                        <a:latin typeface="Arial Narrow" charset="0"/>
                        <a:ea typeface="Arial Narrow" charset="0"/>
                        <a:cs typeface="Arial Narrow"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950" dirty="0">
                          <a:solidFill>
                            <a:srgbClr val="55595E"/>
                          </a:solidFill>
                          <a:latin typeface="Arial" pitchFamily="34" charset="0"/>
                          <a:ea typeface="Arial" pitchFamily="34" charset="-122"/>
                          <a:cs typeface="Arial" pitchFamily="34" charset="-120"/>
                        </a:rPr>
                        <a:t>5 steps from defect list to signed-off handover</a:t>
                      </a:r>
                      <a:endParaRPr lang="en-US" sz="950" dirty="0">
                        <a:latin typeface="Arial" charset="0"/>
                        <a:ea typeface="Arial" charset="0"/>
                        <a:cs typeface="Arial"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r>
              <a:tr h="365760">
                <a:tc>
                  <a:txBody>
                    <a:bodyPr/>
                    <a:lstStyle/>
                    <a:p>
                      <a:pPr indent="0" marL="0">
                        <a:buNone/>
                      </a:pPr>
                      <a:r>
                        <a:rPr lang="en-US" sz="950" b="1" dirty="0">
                          <a:solidFill>
                            <a:srgbClr val="C4441F"/>
                          </a:solidFill>
                          <a:latin typeface="Consolas" pitchFamily="34" charset="0"/>
                          <a:ea typeface="Consolas" pitchFamily="34" charset="-122"/>
                          <a:cs typeface="Consolas" pitchFamily="34" charset="-120"/>
                        </a:rPr>
                        <a:t>07</a:t>
                      </a:r>
                      <a:endParaRPr lang="en-US" sz="950" dirty="0">
                        <a:latin typeface="Consolas" charset="0"/>
                        <a:ea typeface="Consolas" charset="0"/>
                        <a:cs typeface="Consolas"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1150" b="1" dirty="0">
                          <a:solidFill>
                            <a:srgbClr val="22262A"/>
                          </a:solidFill>
                          <a:latin typeface="Arial Narrow" pitchFamily="34" charset="0"/>
                          <a:ea typeface="Arial Narrow" pitchFamily="34" charset="-122"/>
                          <a:cs typeface="Arial Narrow" pitchFamily="34" charset="-120"/>
                        </a:rPr>
                        <a:t>Contact &amp; works address</a:t>
                      </a:r>
                      <a:endParaRPr lang="en-US" sz="1150" dirty="0">
                        <a:latin typeface="Arial Narrow" charset="0"/>
                        <a:ea typeface="Arial Narrow" charset="0"/>
                        <a:cs typeface="Arial Narrow"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c>
                  <a:txBody>
                    <a:bodyPr/>
                    <a:lstStyle/>
                    <a:p>
                      <a:pPr indent="0" marL="0">
                        <a:buNone/>
                      </a:pPr>
                      <a:r>
                        <a:rPr lang="en-US" sz="950" dirty="0">
                          <a:solidFill>
                            <a:srgbClr val="55595E"/>
                          </a:solidFill>
                          <a:latin typeface="Arial" pitchFamily="34" charset="0"/>
                          <a:ea typeface="Arial" pitchFamily="34" charset="-122"/>
                          <a:cs typeface="Arial" pitchFamily="34" charset="-120"/>
                        </a:rPr>
                        <a:t>Company details, call/email CTAs, interactive OpenStreetMap, access note</a:t>
                      </a:r>
                      <a:endParaRPr lang="en-US" sz="950" dirty="0">
                        <a:latin typeface="Arial" charset="0"/>
                        <a:ea typeface="Arial" charset="0"/>
                        <a:cs typeface="Arial" charset="0"/>
                      </a:endParaRPr>
                    </a:p>
                  </a:txBody>
                  <a:tcPr marL="73152" marR="73152" marT="73152" marB="73152" anchor="ctr">
                    <a:lnL w="9525" cap="flat" cmpd="sng" algn="ctr">
                      <a:solidFill>
                        <a:srgbClr val="D3CCBE"/>
                      </a:solidFill>
                      <a:prstDash val="solid"/>
                      <a:round/>
                      <a:headEnd type="none" w="med" len="med"/>
                      <a:tailEnd type="none" w="med" len="med"/>
                    </a:lnL>
                    <a:lnR w="9525" cap="flat" cmpd="sng" algn="ctr">
                      <a:solidFill>
                        <a:srgbClr val="D3CCBE"/>
                      </a:solidFill>
                      <a:prstDash val="solid"/>
                      <a:round/>
                      <a:headEnd type="none" w="med" len="med"/>
                      <a:tailEnd type="none" w="med" len="med"/>
                    </a:lnR>
                    <a:lnT w="9525" cap="flat" cmpd="sng" algn="ctr">
                      <a:solidFill>
                        <a:srgbClr val="D3CCBE"/>
                      </a:solidFill>
                      <a:prstDash val="solid"/>
                      <a:round/>
                      <a:headEnd type="none" w="med" len="med"/>
                      <a:tailEnd type="none" w="med" len="med"/>
                    </a:lnT>
                    <a:lnB w="9525" cap="flat" cmpd="sng" algn="ctr">
                      <a:solidFill>
                        <a:srgbClr val="D3CCBE"/>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C4441F"/>
                </a:solidFill>
                <a:latin typeface="Consolas" pitchFamily="34" charset="0"/>
                <a:ea typeface="Consolas" pitchFamily="34" charset="-122"/>
                <a:cs typeface="Consolas" pitchFamily="34" charset="-120"/>
              </a:rPr>
              <a:t>02 · CAPABILITY SCHEDULE</a:t>
            </a:r>
            <a:endParaRPr lang="en-US" sz="900" dirty="0"/>
          </a:p>
        </p:txBody>
      </p:sp>
      <p:sp>
        <p:nvSpPr>
          <p:cNvPr id="3" name="Shape 1"/>
          <p:cNvSpPr/>
          <p:nvPr/>
        </p:nvSpPr>
        <p:spPr>
          <a:xfrm>
            <a:off x="502920" y="603504"/>
            <a:ext cx="1280160" cy="0"/>
          </a:xfrm>
          <a:prstGeom prst="line">
            <a:avLst/>
          </a:prstGeom>
          <a:noFill/>
          <a:ln w="25400">
            <a:solidFill>
              <a:srgbClr val="C4441F"/>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800" b="1" dirty="0">
                <a:solidFill>
                  <a:srgbClr val="22262A"/>
                </a:solidFill>
                <a:latin typeface="Arial Narrow" pitchFamily="34" charset="0"/>
                <a:ea typeface="Arial Narrow" pitchFamily="34" charset="-122"/>
                <a:cs typeface="Arial Narrow" pitchFamily="34" charset="-120"/>
              </a:rPr>
              <a:t>SIX WORKING LINES, </a:t>
            </a:r>
            <a:pPr indent="0" marL="0">
              <a:lnSpc>
                <a:spcPct val="95000"/>
              </a:lnSpc>
              <a:buNone/>
            </a:pPr>
            <a:r>
              <a:rPr lang="en-US" sz="2800" b="1" dirty="0">
                <a:solidFill>
                  <a:srgbClr val="C4441F"/>
                </a:solidFill>
                <a:latin typeface="Arial Narrow" pitchFamily="34" charset="0"/>
                <a:ea typeface="Arial Narrow" pitchFamily="34" charset="-122"/>
                <a:cs typeface="Arial Narrow" pitchFamily="34" charset="-120"/>
              </a:rPr>
              <a:t>ONE WORKSHOP</a:t>
            </a:r>
            <a:endParaRPr lang="en-US" sz="2800" dirty="0"/>
          </a:p>
        </p:txBody>
      </p:sp>
      <p:sp>
        <p:nvSpPr>
          <p:cNvPr id="5" name="Shape 3"/>
          <p:cNvSpPr/>
          <p:nvPr/>
        </p:nvSpPr>
        <p:spPr>
          <a:xfrm>
            <a:off x="502920" y="1481328"/>
            <a:ext cx="2651760" cy="1536192"/>
          </a:xfrm>
          <a:prstGeom prst="roundRect">
            <a:avLst>
              <a:gd name="adj" fmla="val 2381"/>
            </a:avLst>
          </a:prstGeom>
          <a:solidFill>
            <a:srgbClr val="F7F3EA"/>
          </a:solidFill>
          <a:ln w="12700">
            <a:solidFill>
              <a:srgbClr val="C9C2B4"/>
            </a:solidFill>
            <a:prstDash val="solid"/>
          </a:ln>
        </p:spPr>
      </p:sp>
      <p:sp>
        <p:nvSpPr>
          <p:cNvPr id="6" name="Text 4"/>
          <p:cNvSpPr/>
          <p:nvPr/>
        </p:nvSpPr>
        <p:spPr>
          <a:xfrm>
            <a:off x="630936" y="1572768"/>
            <a:ext cx="2395728" cy="182880"/>
          </a:xfrm>
          <a:prstGeom prst="rect">
            <a:avLst/>
          </a:prstGeom>
          <a:noFill/>
          <a:ln/>
        </p:spPr>
        <p:txBody>
          <a:bodyPr wrap="square" rtlCol="0" anchor="ctr"/>
          <a:lstStyle/>
          <a:p>
            <a:pPr indent="0" marL="0">
              <a:buNone/>
            </a:pPr>
            <a:r>
              <a:rPr lang="en-US" sz="800" b="1" dirty="0">
                <a:solidFill>
                  <a:srgbClr val="C4441F"/>
                </a:solidFill>
                <a:latin typeface="Consolas" pitchFamily="34" charset="0"/>
                <a:ea typeface="Consolas" pitchFamily="34" charset="-122"/>
                <a:cs typeface="Consolas" pitchFamily="34" charset="-120"/>
              </a:rPr>
              <a:t>01  ·  BPV-01</a:t>
            </a:r>
            <a:endParaRPr lang="en-US" sz="800" dirty="0"/>
          </a:p>
        </p:txBody>
      </p:sp>
      <p:sp>
        <p:nvSpPr>
          <p:cNvPr id="7" name="Text 5"/>
          <p:cNvSpPr/>
          <p:nvPr/>
        </p:nvSpPr>
        <p:spPr>
          <a:xfrm>
            <a:off x="630936" y="1755648"/>
            <a:ext cx="2395728" cy="402336"/>
          </a:xfrm>
          <a:prstGeom prst="rect">
            <a:avLst/>
          </a:prstGeom>
          <a:noFill/>
          <a:ln/>
        </p:spPr>
        <p:txBody>
          <a:bodyPr wrap="square" rtlCol="0" anchor="t"/>
          <a:lstStyle/>
          <a:p>
            <a:pPr indent="0" marL="0">
              <a:lnSpc>
                <a:spcPct val="98000"/>
              </a:lnSpc>
              <a:buNone/>
            </a:pPr>
            <a:r>
              <a:rPr lang="en-US" sz="1250" b="1" dirty="0">
                <a:solidFill>
                  <a:srgbClr val="22262A"/>
                </a:solidFill>
                <a:latin typeface="Arial Narrow" pitchFamily="34" charset="0"/>
                <a:ea typeface="Arial Narrow" pitchFamily="34" charset="-122"/>
                <a:cs typeface="Arial Narrow" pitchFamily="34" charset="-120"/>
              </a:rPr>
              <a:t>Boiler Repair &amp; Overhaul</a:t>
            </a:r>
            <a:endParaRPr lang="en-US" sz="1250" dirty="0"/>
          </a:p>
        </p:txBody>
      </p:sp>
      <p:sp>
        <p:nvSpPr>
          <p:cNvPr id="8" name="Text 6"/>
          <p:cNvSpPr/>
          <p:nvPr/>
        </p:nvSpPr>
        <p:spPr>
          <a:xfrm>
            <a:off x="630936" y="2157984"/>
            <a:ext cx="2395728" cy="603504"/>
          </a:xfrm>
          <a:prstGeom prst="rect">
            <a:avLst/>
          </a:prstGeom>
          <a:noFill/>
          <a:ln/>
        </p:spPr>
        <p:txBody>
          <a:bodyPr wrap="square" rtlCol="0" anchor="t"/>
          <a:lstStyle/>
          <a:p>
            <a:pPr indent="0" marL="0">
              <a:lnSpc>
                <a:spcPct val="108000"/>
              </a:lnSpc>
              <a:buNone/>
            </a:pPr>
            <a:r>
              <a:rPr lang="en-US" sz="800" dirty="0">
                <a:solidFill>
                  <a:srgbClr val="55595E"/>
                </a:solidFill>
                <a:latin typeface="Arial" pitchFamily="34" charset="0"/>
                <a:ea typeface="Arial" pitchFamily="34" charset="-122"/>
                <a:cs typeface="Arial" pitchFamily="34" charset="-120"/>
              </a:rPr>
              <a:t>Shell and furnace plate replacement, tube renewal, tube plate re-boring, refractory renewal, safety valve overhaul, hydraulic testing.</a:t>
            </a:r>
            <a:endParaRPr lang="en-US" sz="800" dirty="0"/>
          </a:p>
        </p:txBody>
      </p:sp>
      <p:sp>
        <p:nvSpPr>
          <p:cNvPr id="9" name="Text 7"/>
          <p:cNvSpPr/>
          <p:nvPr/>
        </p:nvSpPr>
        <p:spPr>
          <a:xfrm>
            <a:off x="630936" y="2779776"/>
            <a:ext cx="2395728" cy="182880"/>
          </a:xfrm>
          <a:prstGeom prst="rect">
            <a:avLst/>
          </a:prstGeom>
          <a:noFill/>
          <a:ln/>
        </p:spPr>
        <p:txBody>
          <a:bodyPr wrap="square" rtlCol="0" anchor="ctr"/>
          <a:lstStyle/>
          <a:p>
            <a:pPr indent="0" marL="0">
              <a:buNone/>
            </a:pPr>
            <a:r>
              <a:rPr lang="en-US" sz="700" spc="50" kern="0" dirty="0">
                <a:solidFill>
                  <a:srgbClr val="22262A"/>
                </a:solidFill>
                <a:latin typeface="Consolas" pitchFamily="34" charset="0"/>
                <a:ea typeface="Consolas" pitchFamily="34" charset="-122"/>
                <a:cs typeface="Consolas" pitchFamily="34" charset="-120"/>
              </a:rPr>
              <a:t>OUTPUT — Fire-tube · smoke-tube · water-tube</a:t>
            </a:r>
            <a:endParaRPr lang="en-US" sz="700" dirty="0"/>
          </a:p>
        </p:txBody>
      </p:sp>
      <p:sp>
        <p:nvSpPr>
          <p:cNvPr id="10" name="Shape 8"/>
          <p:cNvSpPr/>
          <p:nvPr/>
        </p:nvSpPr>
        <p:spPr>
          <a:xfrm>
            <a:off x="3246120" y="1481328"/>
            <a:ext cx="2651760" cy="1536192"/>
          </a:xfrm>
          <a:prstGeom prst="roundRect">
            <a:avLst>
              <a:gd name="adj" fmla="val 2381"/>
            </a:avLst>
          </a:prstGeom>
          <a:solidFill>
            <a:srgbClr val="F7F3EA"/>
          </a:solidFill>
          <a:ln w="12700">
            <a:solidFill>
              <a:srgbClr val="C9C2B4"/>
            </a:solidFill>
            <a:prstDash val="solid"/>
          </a:ln>
        </p:spPr>
      </p:sp>
      <p:sp>
        <p:nvSpPr>
          <p:cNvPr id="11" name="Text 9"/>
          <p:cNvSpPr/>
          <p:nvPr/>
        </p:nvSpPr>
        <p:spPr>
          <a:xfrm>
            <a:off x="3374136" y="1572768"/>
            <a:ext cx="2395728" cy="182880"/>
          </a:xfrm>
          <a:prstGeom prst="rect">
            <a:avLst/>
          </a:prstGeom>
          <a:noFill/>
          <a:ln/>
        </p:spPr>
        <p:txBody>
          <a:bodyPr wrap="square" rtlCol="0" anchor="ctr"/>
          <a:lstStyle/>
          <a:p>
            <a:pPr indent="0" marL="0">
              <a:buNone/>
            </a:pPr>
            <a:r>
              <a:rPr lang="en-US" sz="800" b="1" dirty="0">
                <a:solidFill>
                  <a:srgbClr val="C4441F"/>
                </a:solidFill>
                <a:latin typeface="Consolas" pitchFamily="34" charset="0"/>
                <a:ea typeface="Consolas" pitchFamily="34" charset="-122"/>
                <a:cs typeface="Consolas" pitchFamily="34" charset="-120"/>
              </a:rPr>
              <a:t>02  ·  BPV-02</a:t>
            </a:r>
            <a:endParaRPr lang="en-US" sz="800" dirty="0"/>
          </a:p>
        </p:txBody>
      </p:sp>
      <p:sp>
        <p:nvSpPr>
          <p:cNvPr id="12" name="Text 10"/>
          <p:cNvSpPr/>
          <p:nvPr/>
        </p:nvSpPr>
        <p:spPr>
          <a:xfrm>
            <a:off x="3374136" y="1755648"/>
            <a:ext cx="2395728" cy="402336"/>
          </a:xfrm>
          <a:prstGeom prst="rect">
            <a:avLst/>
          </a:prstGeom>
          <a:noFill/>
          <a:ln/>
        </p:spPr>
        <p:txBody>
          <a:bodyPr wrap="square" rtlCol="0" anchor="t"/>
          <a:lstStyle/>
          <a:p>
            <a:pPr indent="0" marL="0">
              <a:lnSpc>
                <a:spcPct val="98000"/>
              </a:lnSpc>
              <a:buNone/>
            </a:pPr>
            <a:r>
              <a:rPr lang="en-US" sz="1250" b="1" dirty="0">
                <a:solidFill>
                  <a:srgbClr val="22262A"/>
                </a:solidFill>
                <a:latin typeface="Arial Narrow" pitchFamily="34" charset="0"/>
                <a:ea typeface="Arial Narrow" pitchFamily="34" charset="-122"/>
                <a:cs typeface="Arial Narrow" pitchFamily="34" charset="-120"/>
              </a:rPr>
              <a:t>Pressure Vessel Re-certification</a:t>
            </a:r>
            <a:endParaRPr lang="en-US" sz="1250" dirty="0"/>
          </a:p>
        </p:txBody>
      </p:sp>
      <p:sp>
        <p:nvSpPr>
          <p:cNvPr id="13" name="Text 11"/>
          <p:cNvSpPr/>
          <p:nvPr/>
        </p:nvSpPr>
        <p:spPr>
          <a:xfrm>
            <a:off x="3374136" y="2157984"/>
            <a:ext cx="2395728" cy="603504"/>
          </a:xfrm>
          <a:prstGeom prst="rect">
            <a:avLst/>
          </a:prstGeom>
          <a:noFill/>
          <a:ln/>
        </p:spPr>
        <p:txBody>
          <a:bodyPr wrap="square" rtlCol="0" anchor="t"/>
          <a:lstStyle/>
          <a:p>
            <a:pPr indent="0" marL="0">
              <a:lnSpc>
                <a:spcPct val="108000"/>
              </a:lnSpc>
              <a:buNone/>
            </a:pPr>
            <a:r>
              <a:rPr lang="en-US" sz="800" dirty="0">
                <a:solidFill>
                  <a:srgbClr val="55595E"/>
                </a:solidFill>
                <a:latin typeface="Arial" pitchFamily="34" charset="0"/>
                <a:ea typeface="Arial" pitchFamily="34" charset="-122"/>
                <a:cs typeface="Arial" pitchFamily="34" charset="-120"/>
              </a:rPr>
              <a:t>Defect rectification, nozzle and reinforcement pad replacement, dished end repair, hydrostatic certification, DOSH CoF coordination.</a:t>
            </a:r>
            <a:endParaRPr lang="en-US" sz="800" dirty="0"/>
          </a:p>
        </p:txBody>
      </p:sp>
      <p:sp>
        <p:nvSpPr>
          <p:cNvPr id="14" name="Text 12"/>
          <p:cNvSpPr/>
          <p:nvPr/>
        </p:nvSpPr>
        <p:spPr>
          <a:xfrm>
            <a:off x="3374136" y="2779776"/>
            <a:ext cx="2395728" cy="182880"/>
          </a:xfrm>
          <a:prstGeom prst="rect">
            <a:avLst/>
          </a:prstGeom>
          <a:noFill/>
          <a:ln/>
        </p:spPr>
        <p:txBody>
          <a:bodyPr wrap="square" rtlCol="0" anchor="ctr"/>
          <a:lstStyle/>
          <a:p>
            <a:pPr indent="0" marL="0">
              <a:buNone/>
            </a:pPr>
            <a:r>
              <a:rPr lang="en-US" sz="700" spc="50" kern="0" dirty="0">
                <a:solidFill>
                  <a:srgbClr val="22262A"/>
                </a:solidFill>
                <a:latin typeface="Consolas" pitchFamily="34" charset="0"/>
                <a:ea typeface="Consolas" pitchFamily="34" charset="-122"/>
                <a:cs typeface="Consolas" pitchFamily="34" charset="-120"/>
              </a:rPr>
              <a:t>OUTPUT — Air receivers · heat exchangers · separators</a:t>
            </a:r>
            <a:endParaRPr lang="en-US" sz="700" dirty="0"/>
          </a:p>
        </p:txBody>
      </p:sp>
      <p:sp>
        <p:nvSpPr>
          <p:cNvPr id="15" name="Shape 13"/>
          <p:cNvSpPr/>
          <p:nvPr/>
        </p:nvSpPr>
        <p:spPr>
          <a:xfrm>
            <a:off x="5989320" y="1481328"/>
            <a:ext cx="2651760" cy="1536192"/>
          </a:xfrm>
          <a:prstGeom prst="roundRect">
            <a:avLst>
              <a:gd name="adj" fmla="val 2381"/>
            </a:avLst>
          </a:prstGeom>
          <a:solidFill>
            <a:srgbClr val="F7F3EA"/>
          </a:solidFill>
          <a:ln w="12700">
            <a:solidFill>
              <a:srgbClr val="C9C2B4"/>
            </a:solidFill>
            <a:prstDash val="solid"/>
          </a:ln>
        </p:spPr>
      </p:sp>
      <p:sp>
        <p:nvSpPr>
          <p:cNvPr id="16" name="Text 14"/>
          <p:cNvSpPr/>
          <p:nvPr/>
        </p:nvSpPr>
        <p:spPr>
          <a:xfrm>
            <a:off x="6117336" y="1572768"/>
            <a:ext cx="2395728" cy="182880"/>
          </a:xfrm>
          <a:prstGeom prst="rect">
            <a:avLst/>
          </a:prstGeom>
          <a:noFill/>
          <a:ln/>
        </p:spPr>
        <p:txBody>
          <a:bodyPr wrap="square" rtlCol="0" anchor="ctr"/>
          <a:lstStyle/>
          <a:p>
            <a:pPr indent="0" marL="0">
              <a:buNone/>
            </a:pPr>
            <a:r>
              <a:rPr lang="en-US" sz="800" b="1" dirty="0">
                <a:solidFill>
                  <a:srgbClr val="C4441F"/>
                </a:solidFill>
                <a:latin typeface="Consolas" pitchFamily="34" charset="0"/>
                <a:ea typeface="Consolas" pitchFamily="34" charset="-122"/>
                <a:cs typeface="Consolas" pitchFamily="34" charset="-120"/>
              </a:rPr>
              <a:t>03  ·  SS-03</a:t>
            </a:r>
            <a:endParaRPr lang="en-US" sz="800" dirty="0"/>
          </a:p>
        </p:txBody>
      </p:sp>
      <p:sp>
        <p:nvSpPr>
          <p:cNvPr id="17" name="Text 15"/>
          <p:cNvSpPr/>
          <p:nvPr/>
        </p:nvSpPr>
        <p:spPr>
          <a:xfrm>
            <a:off x="6117336" y="1755648"/>
            <a:ext cx="2395728" cy="402336"/>
          </a:xfrm>
          <a:prstGeom prst="rect">
            <a:avLst/>
          </a:prstGeom>
          <a:noFill/>
          <a:ln/>
        </p:spPr>
        <p:txBody>
          <a:bodyPr wrap="square" rtlCol="0" anchor="t"/>
          <a:lstStyle/>
          <a:p>
            <a:pPr indent="0" marL="0">
              <a:lnSpc>
                <a:spcPct val="98000"/>
              </a:lnSpc>
              <a:buNone/>
            </a:pPr>
            <a:r>
              <a:rPr lang="en-US" sz="1250" b="1" dirty="0">
                <a:solidFill>
                  <a:srgbClr val="22262A"/>
                </a:solidFill>
                <a:latin typeface="Arial Narrow" pitchFamily="34" charset="0"/>
                <a:ea typeface="Arial Narrow" pitchFamily="34" charset="-122"/>
                <a:cs typeface="Arial Narrow" pitchFamily="34" charset="-120"/>
              </a:rPr>
              <a:t>Steel Structure Fabrication</a:t>
            </a:r>
            <a:endParaRPr lang="en-US" sz="1250" dirty="0"/>
          </a:p>
        </p:txBody>
      </p:sp>
      <p:sp>
        <p:nvSpPr>
          <p:cNvPr id="18" name="Text 16"/>
          <p:cNvSpPr/>
          <p:nvPr/>
        </p:nvSpPr>
        <p:spPr>
          <a:xfrm>
            <a:off x="6117336" y="2157984"/>
            <a:ext cx="2395728" cy="603504"/>
          </a:xfrm>
          <a:prstGeom prst="rect">
            <a:avLst/>
          </a:prstGeom>
          <a:noFill/>
          <a:ln/>
        </p:spPr>
        <p:txBody>
          <a:bodyPr wrap="square" rtlCol="0" anchor="t"/>
          <a:lstStyle/>
          <a:p>
            <a:pPr indent="0" marL="0">
              <a:lnSpc>
                <a:spcPct val="108000"/>
              </a:lnSpc>
              <a:buNone/>
            </a:pPr>
            <a:r>
              <a:rPr lang="en-US" sz="800" dirty="0">
                <a:solidFill>
                  <a:srgbClr val="55595E"/>
                </a:solidFill>
                <a:latin typeface="Arial" pitchFamily="34" charset="0"/>
                <a:ea typeface="Arial" pitchFamily="34" charset="-122"/>
                <a:cs typeface="Arial" pitchFamily="34" charset="-120"/>
              </a:rPr>
              <a:t>Platforms, mezzanines, staircases, handrails, machine bases, canopies and structural frames — cut, fitted, welded and painted in-house.</a:t>
            </a:r>
            <a:endParaRPr lang="en-US" sz="800" dirty="0"/>
          </a:p>
        </p:txBody>
      </p:sp>
      <p:sp>
        <p:nvSpPr>
          <p:cNvPr id="19" name="Text 17"/>
          <p:cNvSpPr/>
          <p:nvPr/>
        </p:nvSpPr>
        <p:spPr>
          <a:xfrm>
            <a:off x="6117336" y="2779776"/>
            <a:ext cx="2395728" cy="182880"/>
          </a:xfrm>
          <a:prstGeom prst="rect">
            <a:avLst/>
          </a:prstGeom>
          <a:noFill/>
          <a:ln/>
        </p:spPr>
        <p:txBody>
          <a:bodyPr wrap="square" rtlCol="0" anchor="ctr"/>
          <a:lstStyle/>
          <a:p>
            <a:pPr indent="0" marL="0">
              <a:buNone/>
            </a:pPr>
            <a:r>
              <a:rPr lang="en-US" sz="700" spc="50" kern="0" dirty="0">
                <a:solidFill>
                  <a:srgbClr val="22262A"/>
                </a:solidFill>
                <a:latin typeface="Consolas" pitchFamily="34" charset="0"/>
                <a:ea typeface="Consolas" pitchFamily="34" charset="-122"/>
                <a:cs typeface="Consolas" pitchFamily="34" charset="-120"/>
              </a:rPr>
              <a:t>OUTPUT — Mild steel · galvanised · stainless</a:t>
            </a:r>
            <a:endParaRPr lang="en-US" sz="700" dirty="0"/>
          </a:p>
        </p:txBody>
      </p:sp>
      <p:sp>
        <p:nvSpPr>
          <p:cNvPr id="20" name="Shape 18"/>
          <p:cNvSpPr/>
          <p:nvPr/>
        </p:nvSpPr>
        <p:spPr>
          <a:xfrm>
            <a:off x="502920" y="3145536"/>
            <a:ext cx="2651760" cy="1536192"/>
          </a:xfrm>
          <a:prstGeom prst="roundRect">
            <a:avLst>
              <a:gd name="adj" fmla="val 2381"/>
            </a:avLst>
          </a:prstGeom>
          <a:solidFill>
            <a:srgbClr val="F7F3EA"/>
          </a:solidFill>
          <a:ln w="12700">
            <a:solidFill>
              <a:srgbClr val="C9C2B4"/>
            </a:solidFill>
            <a:prstDash val="solid"/>
          </a:ln>
        </p:spPr>
      </p:sp>
      <p:sp>
        <p:nvSpPr>
          <p:cNvPr id="21" name="Text 19"/>
          <p:cNvSpPr/>
          <p:nvPr/>
        </p:nvSpPr>
        <p:spPr>
          <a:xfrm>
            <a:off x="630936" y="3236976"/>
            <a:ext cx="2395728" cy="182880"/>
          </a:xfrm>
          <a:prstGeom prst="rect">
            <a:avLst/>
          </a:prstGeom>
          <a:noFill/>
          <a:ln/>
        </p:spPr>
        <p:txBody>
          <a:bodyPr wrap="square" rtlCol="0" anchor="ctr"/>
          <a:lstStyle/>
          <a:p>
            <a:pPr indent="0" marL="0">
              <a:buNone/>
            </a:pPr>
            <a:r>
              <a:rPr lang="en-US" sz="800" b="1" dirty="0">
                <a:solidFill>
                  <a:srgbClr val="C4441F"/>
                </a:solidFill>
                <a:latin typeface="Consolas" pitchFamily="34" charset="0"/>
                <a:ea typeface="Consolas" pitchFamily="34" charset="-122"/>
                <a:cs typeface="Consolas" pitchFamily="34" charset="-120"/>
              </a:rPr>
              <a:t>04  ·  PP-04</a:t>
            </a:r>
            <a:endParaRPr lang="en-US" sz="800" dirty="0"/>
          </a:p>
        </p:txBody>
      </p:sp>
      <p:sp>
        <p:nvSpPr>
          <p:cNvPr id="22" name="Text 20"/>
          <p:cNvSpPr/>
          <p:nvPr/>
        </p:nvSpPr>
        <p:spPr>
          <a:xfrm>
            <a:off x="630936" y="3419856"/>
            <a:ext cx="2395728" cy="402336"/>
          </a:xfrm>
          <a:prstGeom prst="rect">
            <a:avLst/>
          </a:prstGeom>
          <a:noFill/>
          <a:ln/>
        </p:spPr>
        <p:txBody>
          <a:bodyPr wrap="square" rtlCol="0" anchor="t"/>
          <a:lstStyle/>
          <a:p>
            <a:pPr indent="0" marL="0">
              <a:lnSpc>
                <a:spcPct val="98000"/>
              </a:lnSpc>
              <a:buNone/>
            </a:pPr>
            <a:r>
              <a:rPr lang="en-US" sz="1250" b="1" dirty="0">
                <a:solidFill>
                  <a:srgbClr val="22262A"/>
                </a:solidFill>
                <a:latin typeface="Arial Narrow" pitchFamily="34" charset="0"/>
                <a:ea typeface="Arial Narrow" pitchFamily="34" charset="-122"/>
                <a:cs typeface="Arial Narrow" pitchFamily="34" charset="-120"/>
              </a:rPr>
              <a:t>Pressure &amp; Process Piping</a:t>
            </a:r>
            <a:endParaRPr lang="en-US" sz="1250" dirty="0"/>
          </a:p>
        </p:txBody>
      </p:sp>
      <p:sp>
        <p:nvSpPr>
          <p:cNvPr id="23" name="Text 21"/>
          <p:cNvSpPr/>
          <p:nvPr/>
        </p:nvSpPr>
        <p:spPr>
          <a:xfrm>
            <a:off x="630936" y="3822192"/>
            <a:ext cx="2395728" cy="603504"/>
          </a:xfrm>
          <a:prstGeom prst="rect">
            <a:avLst/>
          </a:prstGeom>
          <a:noFill/>
          <a:ln/>
        </p:spPr>
        <p:txBody>
          <a:bodyPr wrap="square" rtlCol="0" anchor="t"/>
          <a:lstStyle/>
          <a:p>
            <a:pPr indent="0" marL="0">
              <a:lnSpc>
                <a:spcPct val="108000"/>
              </a:lnSpc>
              <a:buNone/>
            </a:pPr>
            <a:r>
              <a:rPr lang="en-US" sz="800" dirty="0">
                <a:solidFill>
                  <a:srgbClr val="55595E"/>
                </a:solidFill>
                <a:latin typeface="Arial" pitchFamily="34" charset="0"/>
                <a:ea typeface="Arial" pitchFamily="34" charset="-122"/>
                <a:cs typeface="Arial" pitchFamily="34" charset="-120"/>
              </a:rPr>
              <a:t>Steam, condensate, compressed air and process line fabrication, installation and repair, incl. supports, manifolds, expansion loops.</a:t>
            </a:r>
            <a:endParaRPr lang="en-US" sz="800" dirty="0"/>
          </a:p>
        </p:txBody>
      </p:sp>
      <p:sp>
        <p:nvSpPr>
          <p:cNvPr id="24" name="Text 22"/>
          <p:cNvSpPr/>
          <p:nvPr/>
        </p:nvSpPr>
        <p:spPr>
          <a:xfrm>
            <a:off x="630936" y="4443984"/>
            <a:ext cx="2395728" cy="182880"/>
          </a:xfrm>
          <a:prstGeom prst="rect">
            <a:avLst/>
          </a:prstGeom>
          <a:noFill/>
          <a:ln/>
        </p:spPr>
        <p:txBody>
          <a:bodyPr wrap="square" rtlCol="0" anchor="ctr"/>
          <a:lstStyle/>
          <a:p>
            <a:pPr indent="0" marL="0">
              <a:buNone/>
            </a:pPr>
            <a:r>
              <a:rPr lang="en-US" sz="700" spc="50" kern="0" dirty="0">
                <a:solidFill>
                  <a:srgbClr val="22262A"/>
                </a:solidFill>
                <a:latin typeface="Consolas" pitchFamily="34" charset="0"/>
                <a:ea typeface="Consolas" pitchFamily="34" charset="-122"/>
                <a:cs typeface="Consolas" pitchFamily="34" charset="-120"/>
              </a:rPr>
              <a:t>OUTPUT — Schedule 40 / 80 carbon steel</a:t>
            </a:r>
            <a:endParaRPr lang="en-US" sz="700" dirty="0"/>
          </a:p>
        </p:txBody>
      </p:sp>
      <p:sp>
        <p:nvSpPr>
          <p:cNvPr id="25" name="Shape 23"/>
          <p:cNvSpPr/>
          <p:nvPr/>
        </p:nvSpPr>
        <p:spPr>
          <a:xfrm>
            <a:off x="3246120" y="3145536"/>
            <a:ext cx="2651760" cy="1536192"/>
          </a:xfrm>
          <a:prstGeom prst="roundRect">
            <a:avLst>
              <a:gd name="adj" fmla="val 2381"/>
            </a:avLst>
          </a:prstGeom>
          <a:solidFill>
            <a:srgbClr val="F7F3EA"/>
          </a:solidFill>
          <a:ln w="12700">
            <a:solidFill>
              <a:srgbClr val="C9C2B4"/>
            </a:solidFill>
            <a:prstDash val="solid"/>
          </a:ln>
        </p:spPr>
      </p:sp>
      <p:sp>
        <p:nvSpPr>
          <p:cNvPr id="26" name="Text 24"/>
          <p:cNvSpPr/>
          <p:nvPr/>
        </p:nvSpPr>
        <p:spPr>
          <a:xfrm>
            <a:off x="3374136" y="3236976"/>
            <a:ext cx="2395728" cy="182880"/>
          </a:xfrm>
          <a:prstGeom prst="rect">
            <a:avLst/>
          </a:prstGeom>
          <a:noFill/>
          <a:ln/>
        </p:spPr>
        <p:txBody>
          <a:bodyPr wrap="square" rtlCol="0" anchor="ctr"/>
          <a:lstStyle/>
          <a:p>
            <a:pPr indent="0" marL="0">
              <a:buNone/>
            </a:pPr>
            <a:r>
              <a:rPr lang="en-US" sz="800" b="1" dirty="0">
                <a:solidFill>
                  <a:srgbClr val="C4441F"/>
                </a:solidFill>
                <a:latin typeface="Consolas" pitchFamily="34" charset="0"/>
                <a:ea typeface="Consolas" pitchFamily="34" charset="-122"/>
                <a:cs typeface="Consolas" pitchFamily="34" charset="-120"/>
              </a:rPr>
              <a:t>05  ·  TF-05</a:t>
            </a:r>
            <a:endParaRPr lang="en-US" sz="800" dirty="0"/>
          </a:p>
        </p:txBody>
      </p:sp>
      <p:sp>
        <p:nvSpPr>
          <p:cNvPr id="27" name="Text 25"/>
          <p:cNvSpPr/>
          <p:nvPr/>
        </p:nvSpPr>
        <p:spPr>
          <a:xfrm>
            <a:off x="3374136" y="3419856"/>
            <a:ext cx="2395728" cy="402336"/>
          </a:xfrm>
          <a:prstGeom prst="rect">
            <a:avLst/>
          </a:prstGeom>
          <a:noFill/>
          <a:ln/>
        </p:spPr>
        <p:txBody>
          <a:bodyPr wrap="square" rtlCol="0" anchor="t"/>
          <a:lstStyle/>
          <a:p>
            <a:pPr indent="0" marL="0">
              <a:lnSpc>
                <a:spcPct val="98000"/>
              </a:lnSpc>
              <a:buNone/>
            </a:pPr>
            <a:r>
              <a:rPr lang="en-US" sz="1250" b="1" dirty="0">
                <a:solidFill>
                  <a:srgbClr val="22262A"/>
                </a:solidFill>
                <a:latin typeface="Arial Narrow" pitchFamily="34" charset="0"/>
                <a:ea typeface="Arial Narrow" pitchFamily="34" charset="-122"/>
                <a:cs typeface="Arial Narrow" pitchFamily="34" charset="-120"/>
              </a:rPr>
              <a:t>Tank, Chute &amp; Ducting</a:t>
            </a:r>
            <a:endParaRPr lang="en-US" sz="1250" dirty="0"/>
          </a:p>
        </p:txBody>
      </p:sp>
      <p:sp>
        <p:nvSpPr>
          <p:cNvPr id="28" name="Text 26"/>
          <p:cNvSpPr/>
          <p:nvPr/>
        </p:nvSpPr>
        <p:spPr>
          <a:xfrm>
            <a:off x="3374136" y="3822192"/>
            <a:ext cx="2395728" cy="603504"/>
          </a:xfrm>
          <a:prstGeom prst="rect">
            <a:avLst/>
          </a:prstGeom>
          <a:noFill/>
          <a:ln/>
        </p:spPr>
        <p:txBody>
          <a:bodyPr wrap="square" rtlCol="0" anchor="t"/>
          <a:lstStyle/>
          <a:p>
            <a:pPr indent="0" marL="0">
              <a:lnSpc>
                <a:spcPct val="108000"/>
              </a:lnSpc>
              <a:buNone/>
            </a:pPr>
            <a:r>
              <a:rPr lang="en-US" sz="800" dirty="0">
                <a:solidFill>
                  <a:srgbClr val="55595E"/>
                </a:solidFill>
                <a:latin typeface="Arial" pitchFamily="34" charset="0"/>
                <a:ea typeface="Arial" pitchFamily="34" charset="-122"/>
                <a:cs typeface="Arial" pitchFamily="34" charset="-120"/>
              </a:rPr>
              <a:t>Storage and mixing tanks, hoppers, chutes, cyclones, jacketed vessels and ducting — plate rolling, forming and site erection.</a:t>
            </a:r>
            <a:endParaRPr lang="en-US" sz="800" dirty="0"/>
          </a:p>
        </p:txBody>
      </p:sp>
      <p:sp>
        <p:nvSpPr>
          <p:cNvPr id="29" name="Text 27"/>
          <p:cNvSpPr/>
          <p:nvPr/>
        </p:nvSpPr>
        <p:spPr>
          <a:xfrm>
            <a:off x="3374136" y="4443984"/>
            <a:ext cx="2395728" cy="182880"/>
          </a:xfrm>
          <a:prstGeom prst="rect">
            <a:avLst/>
          </a:prstGeom>
          <a:noFill/>
          <a:ln/>
        </p:spPr>
        <p:txBody>
          <a:bodyPr wrap="square" rtlCol="0" anchor="ctr"/>
          <a:lstStyle/>
          <a:p>
            <a:pPr indent="0" marL="0">
              <a:buNone/>
            </a:pPr>
            <a:r>
              <a:rPr lang="en-US" sz="700" spc="50" kern="0" dirty="0">
                <a:solidFill>
                  <a:srgbClr val="22262A"/>
                </a:solidFill>
                <a:latin typeface="Consolas" pitchFamily="34" charset="0"/>
                <a:ea typeface="Consolas" pitchFamily="34" charset="-122"/>
                <a:cs typeface="Consolas" pitchFamily="34" charset="-120"/>
              </a:rPr>
              <a:t>OUTPUT — Plate rolling · forming · welding</a:t>
            </a:r>
            <a:endParaRPr lang="en-US" sz="700" dirty="0"/>
          </a:p>
        </p:txBody>
      </p:sp>
      <p:sp>
        <p:nvSpPr>
          <p:cNvPr id="30" name="Shape 28"/>
          <p:cNvSpPr/>
          <p:nvPr/>
        </p:nvSpPr>
        <p:spPr>
          <a:xfrm>
            <a:off x="5989320" y="3145536"/>
            <a:ext cx="2651760" cy="1536192"/>
          </a:xfrm>
          <a:prstGeom prst="roundRect">
            <a:avLst>
              <a:gd name="adj" fmla="val 2381"/>
            </a:avLst>
          </a:prstGeom>
          <a:solidFill>
            <a:srgbClr val="F7F3EA"/>
          </a:solidFill>
          <a:ln w="12700">
            <a:solidFill>
              <a:srgbClr val="C9C2B4"/>
            </a:solidFill>
            <a:prstDash val="solid"/>
          </a:ln>
        </p:spPr>
      </p:sp>
      <p:sp>
        <p:nvSpPr>
          <p:cNvPr id="31" name="Text 29"/>
          <p:cNvSpPr/>
          <p:nvPr/>
        </p:nvSpPr>
        <p:spPr>
          <a:xfrm>
            <a:off x="6117336" y="3236976"/>
            <a:ext cx="2395728" cy="182880"/>
          </a:xfrm>
          <a:prstGeom prst="rect">
            <a:avLst/>
          </a:prstGeom>
          <a:noFill/>
          <a:ln/>
        </p:spPr>
        <p:txBody>
          <a:bodyPr wrap="square" rtlCol="0" anchor="ctr"/>
          <a:lstStyle/>
          <a:p>
            <a:pPr indent="0" marL="0">
              <a:buNone/>
            </a:pPr>
            <a:r>
              <a:rPr lang="en-US" sz="800" b="1" dirty="0">
                <a:solidFill>
                  <a:srgbClr val="C4441F"/>
                </a:solidFill>
                <a:latin typeface="Consolas" pitchFamily="34" charset="0"/>
                <a:ea typeface="Consolas" pitchFamily="34" charset="-122"/>
                <a:cs typeface="Consolas" pitchFamily="34" charset="-120"/>
              </a:rPr>
              <a:t>06  ·  OS-06</a:t>
            </a:r>
            <a:endParaRPr lang="en-US" sz="800" dirty="0"/>
          </a:p>
        </p:txBody>
      </p:sp>
      <p:sp>
        <p:nvSpPr>
          <p:cNvPr id="32" name="Text 30"/>
          <p:cNvSpPr/>
          <p:nvPr/>
        </p:nvSpPr>
        <p:spPr>
          <a:xfrm>
            <a:off x="6117336" y="3419856"/>
            <a:ext cx="2395728" cy="402336"/>
          </a:xfrm>
          <a:prstGeom prst="rect">
            <a:avLst/>
          </a:prstGeom>
          <a:noFill/>
          <a:ln/>
        </p:spPr>
        <p:txBody>
          <a:bodyPr wrap="square" rtlCol="0" anchor="t"/>
          <a:lstStyle/>
          <a:p>
            <a:pPr indent="0" marL="0">
              <a:lnSpc>
                <a:spcPct val="98000"/>
              </a:lnSpc>
              <a:buNone/>
            </a:pPr>
            <a:r>
              <a:rPr lang="en-US" sz="1250" b="1" dirty="0">
                <a:solidFill>
                  <a:srgbClr val="22262A"/>
                </a:solidFill>
                <a:latin typeface="Arial Narrow" pitchFamily="34" charset="0"/>
                <a:ea typeface="Arial Narrow" pitchFamily="34" charset="-122"/>
                <a:cs typeface="Arial Narrow" pitchFamily="34" charset="-120"/>
              </a:rPr>
              <a:t>On-site Welding &amp; Shutdown Support</a:t>
            </a:r>
            <a:endParaRPr lang="en-US" sz="1250" dirty="0"/>
          </a:p>
        </p:txBody>
      </p:sp>
      <p:sp>
        <p:nvSpPr>
          <p:cNvPr id="33" name="Text 31"/>
          <p:cNvSpPr/>
          <p:nvPr/>
        </p:nvSpPr>
        <p:spPr>
          <a:xfrm>
            <a:off x="6117336" y="3822192"/>
            <a:ext cx="2395728" cy="603504"/>
          </a:xfrm>
          <a:prstGeom prst="rect">
            <a:avLst/>
          </a:prstGeom>
          <a:noFill/>
          <a:ln/>
        </p:spPr>
        <p:txBody>
          <a:bodyPr wrap="square" rtlCol="0" anchor="t"/>
          <a:lstStyle/>
          <a:p>
            <a:pPr indent="0" marL="0">
              <a:lnSpc>
                <a:spcPct val="108000"/>
              </a:lnSpc>
              <a:buNone/>
            </a:pPr>
            <a:r>
              <a:rPr lang="en-US" sz="800" dirty="0">
                <a:solidFill>
                  <a:srgbClr val="55595E"/>
                </a:solidFill>
                <a:latin typeface="Arial" pitchFamily="34" charset="0"/>
                <a:ea typeface="Arial" pitchFamily="34" charset="-122"/>
                <a:cs typeface="Arial" pitchFamily="34" charset="-120"/>
              </a:rPr>
              <a:t>Breakdown response and planned shutdown crews for cutting, fitting, welding, alignment, reinstatement and commissioning support.</a:t>
            </a:r>
            <a:endParaRPr lang="en-US" sz="800" dirty="0"/>
          </a:p>
        </p:txBody>
      </p:sp>
      <p:sp>
        <p:nvSpPr>
          <p:cNvPr id="34" name="Text 32"/>
          <p:cNvSpPr/>
          <p:nvPr/>
        </p:nvSpPr>
        <p:spPr>
          <a:xfrm>
            <a:off x="6117336" y="4443984"/>
            <a:ext cx="2395728" cy="182880"/>
          </a:xfrm>
          <a:prstGeom prst="rect">
            <a:avLst/>
          </a:prstGeom>
          <a:noFill/>
          <a:ln/>
        </p:spPr>
        <p:txBody>
          <a:bodyPr wrap="square" rtlCol="0" anchor="ctr"/>
          <a:lstStyle/>
          <a:p>
            <a:pPr indent="0" marL="0">
              <a:buNone/>
            </a:pPr>
            <a:r>
              <a:rPr lang="en-US" sz="700" spc="50" kern="0" dirty="0">
                <a:solidFill>
                  <a:srgbClr val="22262A"/>
                </a:solidFill>
                <a:latin typeface="Consolas" pitchFamily="34" charset="0"/>
                <a:ea typeface="Consolas" pitchFamily="34" charset="-122"/>
                <a:cs typeface="Consolas" pitchFamily="34" charset="-120"/>
              </a:rPr>
              <a:t>OUTPUT — Perak · Kedah · Penang · Selangor</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F2B705"/>
                </a:solidFill>
                <a:latin typeface="Consolas" pitchFamily="34" charset="0"/>
                <a:ea typeface="Consolas" pitchFamily="34" charset="-122"/>
                <a:cs typeface="Consolas" pitchFamily="34" charset="-120"/>
              </a:rPr>
              <a:t>03 · INFRASTRUCTURE &amp; FACILITIES</a:t>
            </a:r>
            <a:endParaRPr lang="en-US" sz="900" dirty="0"/>
          </a:p>
        </p:txBody>
      </p:sp>
      <p:sp>
        <p:nvSpPr>
          <p:cNvPr id="3" name="Shape 1"/>
          <p:cNvSpPr/>
          <p:nvPr/>
        </p:nvSpPr>
        <p:spPr>
          <a:xfrm>
            <a:off x="502920" y="603504"/>
            <a:ext cx="1280160" cy="0"/>
          </a:xfrm>
          <a:prstGeom prst="line">
            <a:avLst/>
          </a:prstGeom>
          <a:noFill/>
          <a:ln w="25400">
            <a:solidFill>
              <a:srgbClr val="F2B705"/>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900" b="1" dirty="0">
                <a:solidFill>
                  <a:srgbClr val="E7E2D8"/>
                </a:solidFill>
                <a:latin typeface="Arial Narrow" pitchFamily="34" charset="0"/>
                <a:ea typeface="Arial Narrow" pitchFamily="34" charset="-122"/>
                <a:cs typeface="Arial Narrow" pitchFamily="34" charset="-120"/>
              </a:rPr>
              <a:t>BUILT FOR </a:t>
            </a:r>
            <a:pPr indent="0" marL="0">
              <a:lnSpc>
                <a:spcPct val="95000"/>
              </a:lnSpc>
              <a:buNone/>
            </a:pPr>
            <a:r>
              <a:rPr lang="en-US" sz="2900" b="1" dirty="0">
                <a:solidFill>
                  <a:srgbClr val="F2B705"/>
                </a:solidFill>
                <a:latin typeface="Arial Narrow" pitchFamily="34" charset="0"/>
                <a:ea typeface="Arial Narrow" pitchFamily="34" charset="-122"/>
                <a:cs typeface="Arial Narrow" pitchFamily="34" charset="-120"/>
              </a:rPr>
              <a:t>HEAVY REPAIR WORK</a:t>
            </a:r>
            <a:endParaRPr lang="en-US" sz="2900" dirty="0"/>
          </a:p>
        </p:txBody>
      </p:sp>
      <p:sp>
        <p:nvSpPr>
          <p:cNvPr id="5" name="Text 3"/>
          <p:cNvSpPr/>
          <p:nvPr/>
        </p:nvSpPr>
        <p:spPr>
          <a:xfrm>
            <a:off x="502920" y="1481328"/>
            <a:ext cx="5120640" cy="685800"/>
          </a:xfrm>
          <a:prstGeom prst="rect">
            <a:avLst/>
          </a:prstGeom>
          <a:noFill/>
          <a:ln/>
        </p:spPr>
        <p:txBody>
          <a:bodyPr wrap="square" rtlCol="0" anchor="ctr"/>
          <a:lstStyle/>
          <a:p>
            <a:pPr indent="0" marL="0">
              <a:lnSpc>
                <a:spcPct val="118000"/>
              </a:lnSpc>
              <a:buNone/>
            </a:pPr>
            <a:r>
              <a:rPr lang="en-US" sz="1050" dirty="0">
                <a:solidFill>
                  <a:srgbClr val="A9A69E"/>
                </a:solidFill>
                <a:latin typeface="Arial" pitchFamily="34" charset="0"/>
                <a:ea typeface="Arial" pitchFamily="34" charset="-122"/>
                <a:cs typeface="Arial" pitchFamily="34" charset="-120"/>
              </a:rPr>
              <a:t>Dedicated repair workshop at Lot 01 &amp; 02, Menglembu — high-tolerance heavy mechanical operations on boilers and pressure vessels, with an equipment register and calibration certificates on file.</a:t>
            </a:r>
            <a:endParaRPr lang="en-US" sz="1050" dirty="0"/>
          </a:p>
        </p:txBody>
      </p:sp>
      <p:sp>
        <p:nvSpPr>
          <p:cNvPr id="6" name="Text 4"/>
          <p:cNvSpPr/>
          <p:nvPr/>
        </p:nvSpPr>
        <p:spPr>
          <a:xfrm>
            <a:off x="502920" y="2194560"/>
            <a:ext cx="5212080" cy="2468880"/>
          </a:xfrm>
          <a:prstGeom prst="rect">
            <a:avLst/>
          </a:prstGeom>
          <a:noFill/>
          <a:ln/>
        </p:spPr>
        <p:txBody>
          <a:bodyPr wrap="square" rtlCol="0" anchor="t"/>
          <a:lstStyle/>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Three covered bays — plate &amp; cylinder storage, materials handling, assembly &amp; fit-up</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CNC laser cutting — MPS-D3 system in the dedicated Lot 02 facility</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Plate rolling to 12.7 mm — three-roll plate rolling machine (EQ-011)</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Machining in-house — precision lathe (EQ-007) and milling machine with DRO (EQ-008)</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Welding &amp; cutting — SMAW, GTAW and GMAW per approved WPS · oxy-fuel and air-arc</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Calibrated inspection — thickness survey and flaw detection with reference blocks</a:t>
            </a:r>
            <a:endParaRPr lang="en-US" sz="1050" dirty="0"/>
          </a:p>
        </p:txBody>
      </p:sp>
      <p:sp>
        <p:nvSpPr>
          <p:cNvPr id="7" name="Shape 5"/>
          <p:cNvSpPr/>
          <p:nvPr/>
        </p:nvSpPr>
        <p:spPr>
          <a:xfrm>
            <a:off x="5989320" y="1481328"/>
            <a:ext cx="2651760" cy="3200400"/>
          </a:xfrm>
          <a:prstGeom prst="roundRect">
            <a:avLst>
              <a:gd name="adj" fmla="val 1379"/>
            </a:avLst>
          </a:prstGeom>
          <a:solidFill>
            <a:srgbClr val="1D242B"/>
          </a:solidFill>
          <a:ln w="12700">
            <a:solidFill>
              <a:srgbClr val="3A444D"/>
            </a:solidFill>
            <a:prstDash val="solid"/>
          </a:ln>
        </p:spPr>
      </p:sp>
      <p:pic>
        <p:nvPicPr>
          <p:cNvPr id="8" name="Image 0" descr="public/images/facility-lot02.jpg">    </p:cNvPr>
          <p:cNvPicPr>
            <a:picLocks noChangeAspect="1"/>
          </p:cNvPicPr>
          <p:nvPr/>
        </p:nvPicPr>
        <p:blipFill>
          <a:blip r:embed="rId1"/>
          <a:stretch>
            <a:fillRect/>
          </a:stretch>
        </p:blipFill>
        <p:spPr>
          <a:xfrm>
            <a:off x="6126480" y="1618488"/>
            <a:ext cx="2377440" cy="1709928"/>
          </a:xfrm>
          <a:prstGeom prst="rect">
            <a:avLst/>
          </a:prstGeom>
        </p:spPr>
      </p:pic>
      <p:sp>
        <p:nvSpPr>
          <p:cNvPr id="9" name="Text 6"/>
          <p:cNvSpPr/>
          <p:nvPr/>
        </p:nvSpPr>
        <p:spPr>
          <a:xfrm>
            <a:off x="6126480" y="3401568"/>
            <a:ext cx="2377440" cy="182880"/>
          </a:xfrm>
          <a:prstGeom prst="rect">
            <a:avLst/>
          </a:prstGeom>
          <a:noFill/>
          <a:ln/>
        </p:spPr>
        <p:txBody>
          <a:bodyPr wrap="square" rtlCol="0" anchor="ctr"/>
          <a:lstStyle/>
          <a:p>
            <a:pPr indent="0" marL="0">
              <a:buNone/>
            </a:pPr>
            <a:r>
              <a:rPr lang="en-US" sz="750" spc="150" kern="0" dirty="0">
                <a:solidFill>
                  <a:srgbClr val="F2B705"/>
                </a:solidFill>
                <a:latin typeface="Consolas" pitchFamily="34" charset="0"/>
                <a:ea typeface="Consolas" pitchFamily="34" charset="-122"/>
                <a:cs typeface="Consolas" pitchFamily="34" charset="-120"/>
              </a:rPr>
              <a:t>LOT 02 · FRONT VIEW FACILITY</a:t>
            </a:r>
            <a:endParaRPr lang="en-US" sz="750" dirty="0"/>
          </a:p>
        </p:txBody>
      </p:sp>
      <p:sp>
        <p:nvSpPr>
          <p:cNvPr id="10" name="Text 7"/>
          <p:cNvSpPr/>
          <p:nvPr/>
        </p:nvSpPr>
        <p:spPr>
          <a:xfrm>
            <a:off x="6126480" y="3639312"/>
            <a:ext cx="2377440" cy="914400"/>
          </a:xfrm>
          <a:prstGeom prst="rect">
            <a:avLst/>
          </a:prstGeom>
          <a:noFill/>
          <a:ln/>
        </p:spPr>
        <p:txBody>
          <a:bodyPr wrap="square" rtlCol="0" anchor="ctr"/>
          <a:lstStyle/>
          <a:p>
            <a:pPr indent="0" marL="0">
              <a:lnSpc>
                <a:spcPct val="115000"/>
              </a:lnSpc>
              <a:buNone/>
            </a:pPr>
            <a:r>
              <a:rPr lang="en-US" sz="900" dirty="0">
                <a:solidFill>
                  <a:srgbClr val="A9A69E"/>
                </a:solidFill>
                <a:latin typeface="Arial" pitchFamily="34" charset="0"/>
                <a:ea typeface="Arial" pitchFamily="34" charset="-122"/>
                <a:cs typeface="Arial" pitchFamily="34" charset="-120"/>
              </a:rPr>
              <a:t>Hala Perusahaan Kledang Utara 6, Menglembu — equipment list &amp; calibration certificates available for evaluation.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F2B705"/>
                </a:solidFill>
                <a:latin typeface="Consolas" pitchFamily="34" charset="0"/>
                <a:ea typeface="Consolas" pitchFamily="34" charset="-122"/>
                <a:cs typeface="Consolas" pitchFamily="34" charset="-120"/>
              </a:rPr>
              <a:t>04 · WORKS EXECUTED</a:t>
            </a:r>
            <a:endParaRPr lang="en-US" sz="900" dirty="0"/>
          </a:p>
        </p:txBody>
      </p:sp>
      <p:sp>
        <p:nvSpPr>
          <p:cNvPr id="3" name="Shape 1"/>
          <p:cNvSpPr/>
          <p:nvPr/>
        </p:nvSpPr>
        <p:spPr>
          <a:xfrm>
            <a:off x="502920" y="603504"/>
            <a:ext cx="1280160" cy="0"/>
          </a:xfrm>
          <a:prstGeom prst="line">
            <a:avLst/>
          </a:prstGeom>
          <a:noFill/>
          <a:ln w="25400">
            <a:solidFill>
              <a:srgbClr val="F2B705"/>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900" b="1" dirty="0">
                <a:solidFill>
                  <a:srgbClr val="E7E2D8"/>
                </a:solidFill>
                <a:latin typeface="Arial Narrow" pitchFamily="34" charset="0"/>
                <a:ea typeface="Arial Narrow" pitchFamily="34" charset="-122"/>
                <a:cs typeface="Arial Narrow" pitchFamily="34" charset="-120"/>
              </a:rPr>
              <a:t>REPAIRS THAT KEEP </a:t>
            </a:r>
            <a:pPr indent="0" marL="0">
              <a:lnSpc>
                <a:spcPct val="95000"/>
              </a:lnSpc>
              <a:buNone/>
            </a:pPr>
            <a:r>
              <a:rPr lang="en-US" sz="2900" b="1" dirty="0">
                <a:solidFill>
                  <a:srgbClr val="F2B705"/>
                </a:solidFill>
                <a:latin typeface="Arial Narrow" pitchFamily="34" charset="0"/>
                <a:ea typeface="Arial Narrow" pitchFamily="34" charset="-122"/>
                <a:cs typeface="Arial Narrow" pitchFamily="34" charset="-120"/>
              </a:rPr>
              <a:t>PLANTS RUNNING</a:t>
            </a:r>
            <a:endParaRPr lang="en-US" sz="2900" dirty="0"/>
          </a:p>
        </p:txBody>
      </p:sp>
      <p:sp>
        <p:nvSpPr>
          <p:cNvPr id="5" name="Text 3"/>
          <p:cNvSpPr/>
          <p:nvPr/>
        </p:nvSpPr>
        <p:spPr>
          <a:xfrm>
            <a:off x="502920" y="1463040"/>
            <a:ext cx="8138160" cy="365760"/>
          </a:xfrm>
          <a:prstGeom prst="rect">
            <a:avLst/>
          </a:prstGeom>
          <a:noFill/>
          <a:ln/>
        </p:spPr>
        <p:txBody>
          <a:bodyPr wrap="square" rtlCol="0" anchor="ctr"/>
          <a:lstStyle/>
          <a:p>
            <a:pPr indent="0" marL="0">
              <a:lnSpc>
                <a:spcPct val="115000"/>
              </a:lnSpc>
              <a:buNone/>
            </a:pPr>
            <a:r>
              <a:rPr lang="en-US" sz="1050" dirty="0">
                <a:solidFill>
                  <a:srgbClr val="A9A69E"/>
                </a:solidFill>
                <a:latin typeface="Arial" pitchFamily="34" charset="0"/>
                <a:ea typeface="Arial" pitchFamily="34" charset="-122"/>
                <a:cs typeface="Arial" pitchFamily="34" charset="-120"/>
              </a:rPr>
              <a:t>Most work arrives as a defect list, a failed inspection item, or plant that has stopped the line — the everyday scope we take on:</a:t>
            </a:r>
            <a:endParaRPr lang="en-US" sz="1050" dirty="0"/>
          </a:p>
        </p:txBody>
      </p:sp>
      <p:sp>
        <p:nvSpPr>
          <p:cNvPr id="6" name="Text 4"/>
          <p:cNvSpPr/>
          <p:nvPr/>
        </p:nvSpPr>
        <p:spPr>
          <a:xfrm>
            <a:off x="502920" y="1965960"/>
            <a:ext cx="457200" cy="228600"/>
          </a:xfrm>
          <a:prstGeom prst="rect">
            <a:avLst/>
          </a:prstGeom>
          <a:noFill/>
          <a:ln/>
        </p:spPr>
        <p:txBody>
          <a:bodyPr wrap="square" rtlCol="0" anchor="ctr"/>
          <a:lstStyle/>
          <a:p>
            <a:pPr indent="0" marL="0">
              <a:buNone/>
            </a:pPr>
            <a:r>
              <a:rPr lang="en-US" sz="900" b="1" dirty="0">
                <a:solidFill>
                  <a:srgbClr val="F2B705"/>
                </a:solidFill>
                <a:latin typeface="Consolas" pitchFamily="34" charset="0"/>
                <a:ea typeface="Consolas" pitchFamily="34" charset="-122"/>
                <a:cs typeface="Consolas" pitchFamily="34" charset="-120"/>
              </a:rPr>
              <a:t>01</a:t>
            </a:r>
            <a:endParaRPr lang="en-US" sz="900" dirty="0"/>
          </a:p>
        </p:txBody>
      </p:sp>
      <p:sp>
        <p:nvSpPr>
          <p:cNvPr id="7" name="Text 5"/>
          <p:cNvSpPr/>
          <p:nvPr/>
        </p:nvSpPr>
        <p:spPr>
          <a:xfrm>
            <a:off x="886968" y="1947672"/>
            <a:ext cx="2331720" cy="457200"/>
          </a:xfrm>
          <a:prstGeom prst="rect">
            <a:avLst/>
          </a:prstGeom>
          <a:noFill/>
          <a:ln/>
        </p:spPr>
        <p:txBody>
          <a:bodyPr wrap="square" rtlCol="0" anchor="t"/>
          <a:lstStyle/>
          <a:p>
            <a:pPr indent="0" marL="0">
              <a:lnSpc>
                <a:spcPct val="98000"/>
              </a:lnSpc>
              <a:buNone/>
            </a:pPr>
            <a:r>
              <a:rPr lang="en-US" sz="1250" b="1" dirty="0">
                <a:solidFill>
                  <a:srgbClr val="E7E2D8"/>
                </a:solidFill>
                <a:latin typeface="Arial Narrow" pitchFamily="34" charset="0"/>
                <a:ea typeface="Arial Narrow" pitchFamily="34" charset="-122"/>
                <a:cs typeface="Arial Narrow" pitchFamily="34" charset="-120"/>
              </a:rPr>
              <a:t>BOILER &amp; PRESSURE EQUIPMENT</a:t>
            </a:r>
            <a:endParaRPr lang="en-US" sz="1250" dirty="0"/>
          </a:p>
        </p:txBody>
      </p:sp>
      <p:sp>
        <p:nvSpPr>
          <p:cNvPr id="8" name="Shape 6"/>
          <p:cNvSpPr/>
          <p:nvPr/>
        </p:nvSpPr>
        <p:spPr>
          <a:xfrm>
            <a:off x="502920" y="2432304"/>
            <a:ext cx="2606040" cy="0"/>
          </a:xfrm>
          <a:prstGeom prst="line">
            <a:avLst/>
          </a:prstGeom>
          <a:noFill/>
          <a:ln w="12700">
            <a:solidFill>
              <a:srgbClr val="3A444D"/>
            </a:solidFill>
            <a:prstDash val="solid"/>
          </a:ln>
        </p:spPr>
      </p:sp>
      <p:sp>
        <p:nvSpPr>
          <p:cNvPr id="9" name="Text 7"/>
          <p:cNvSpPr/>
          <p:nvPr/>
        </p:nvSpPr>
        <p:spPr>
          <a:xfrm>
            <a:off x="502920" y="2523744"/>
            <a:ext cx="2606040" cy="2194560"/>
          </a:xfrm>
          <a:prstGeom prst="rect">
            <a:avLst/>
          </a:prstGeom>
          <a:noFill/>
          <a:ln/>
        </p:spPr>
        <p:txBody>
          <a:bodyPr wrap="square" rtlCol="0" anchor="t"/>
          <a:lstStyle/>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Boiler shell plate replacement &amp; patching</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Fire-tube and water-tube renewal</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Tube plate re-boring and re-tubing</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Furnace &amp; combustion chamber repair</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Refractory and insulation renewal</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Dished end and nozzle pad repair</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Hydrostatic pressure testing &amp; certification</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Safety valve overhaul and setting</a:t>
            </a:r>
            <a:endParaRPr lang="en-US" sz="950" dirty="0"/>
          </a:p>
        </p:txBody>
      </p:sp>
      <p:sp>
        <p:nvSpPr>
          <p:cNvPr id="10" name="Text 8"/>
          <p:cNvSpPr/>
          <p:nvPr/>
        </p:nvSpPr>
        <p:spPr>
          <a:xfrm>
            <a:off x="3291840" y="1965960"/>
            <a:ext cx="457200" cy="228600"/>
          </a:xfrm>
          <a:prstGeom prst="rect">
            <a:avLst/>
          </a:prstGeom>
          <a:noFill/>
          <a:ln/>
        </p:spPr>
        <p:txBody>
          <a:bodyPr wrap="square" rtlCol="0" anchor="ctr"/>
          <a:lstStyle/>
          <a:p>
            <a:pPr indent="0" marL="0">
              <a:buNone/>
            </a:pPr>
            <a:r>
              <a:rPr lang="en-US" sz="900" b="1" dirty="0">
                <a:solidFill>
                  <a:srgbClr val="F2B705"/>
                </a:solidFill>
                <a:latin typeface="Consolas" pitchFamily="34" charset="0"/>
                <a:ea typeface="Consolas" pitchFamily="34" charset="-122"/>
                <a:cs typeface="Consolas" pitchFamily="34" charset="-120"/>
              </a:rPr>
              <a:t>02</a:t>
            </a:r>
            <a:endParaRPr lang="en-US" sz="900" dirty="0"/>
          </a:p>
        </p:txBody>
      </p:sp>
      <p:sp>
        <p:nvSpPr>
          <p:cNvPr id="11" name="Text 9"/>
          <p:cNvSpPr/>
          <p:nvPr/>
        </p:nvSpPr>
        <p:spPr>
          <a:xfrm>
            <a:off x="3675888" y="1947672"/>
            <a:ext cx="2331720" cy="457200"/>
          </a:xfrm>
          <a:prstGeom prst="rect">
            <a:avLst/>
          </a:prstGeom>
          <a:noFill/>
          <a:ln/>
        </p:spPr>
        <p:txBody>
          <a:bodyPr wrap="square" rtlCol="0" anchor="t"/>
          <a:lstStyle/>
          <a:p>
            <a:pPr indent="0" marL="0">
              <a:lnSpc>
                <a:spcPct val="98000"/>
              </a:lnSpc>
              <a:buNone/>
            </a:pPr>
            <a:r>
              <a:rPr lang="en-US" sz="1250" b="1" dirty="0">
                <a:solidFill>
                  <a:srgbClr val="E7E2D8"/>
                </a:solidFill>
                <a:latin typeface="Arial Narrow" pitchFamily="34" charset="0"/>
                <a:ea typeface="Arial Narrow" pitchFamily="34" charset="-122"/>
                <a:cs typeface="Arial Narrow" pitchFamily="34" charset="-120"/>
              </a:rPr>
              <a:t>STRUCTURAL STEEL &amp; FABRICATION</a:t>
            </a:r>
            <a:endParaRPr lang="en-US" sz="1250" dirty="0"/>
          </a:p>
        </p:txBody>
      </p:sp>
      <p:sp>
        <p:nvSpPr>
          <p:cNvPr id="12" name="Shape 10"/>
          <p:cNvSpPr/>
          <p:nvPr/>
        </p:nvSpPr>
        <p:spPr>
          <a:xfrm>
            <a:off x="3291840" y="2432304"/>
            <a:ext cx="2606040" cy="0"/>
          </a:xfrm>
          <a:prstGeom prst="line">
            <a:avLst/>
          </a:prstGeom>
          <a:noFill/>
          <a:ln w="12700">
            <a:solidFill>
              <a:srgbClr val="3A444D"/>
            </a:solidFill>
            <a:prstDash val="solid"/>
          </a:ln>
        </p:spPr>
      </p:sp>
      <p:sp>
        <p:nvSpPr>
          <p:cNvPr id="13" name="Text 11"/>
          <p:cNvSpPr/>
          <p:nvPr/>
        </p:nvSpPr>
        <p:spPr>
          <a:xfrm>
            <a:off x="3291840" y="2523744"/>
            <a:ext cx="2606040" cy="2194560"/>
          </a:xfrm>
          <a:prstGeom prst="rect">
            <a:avLst/>
          </a:prstGeom>
          <a:noFill/>
          <a:ln/>
        </p:spPr>
        <p:txBody>
          <a:bodyPr wrap="square" rtlCol="0" anchor="t"/>
          <a:lstStyle/>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Platforms, staircases and handrails</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Machine bases, frames and skirting</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Ducting, hopper and cyclone works</a:t>
            </a:r>
            <a:endParaRPr lang="en-US" sz="950" dirty="0"/>
          </a:p>
        </p:txBody>
      </p:sp>
      <p:sp>
        <p:nvSpPr>
          <p:cNvPr id="14" name="Text 12"/>
          <p:cNvSpPr/>
          <p:nvPr/>
        </p:nvSpPr>
        <p:spPr>
          <a:xfrm>
            <a:off x="6080760" y="1965960"/>
            <a:ext cx="457200" cy="228600"/>
          </a:xfrm>
          <a:prstGeom prst="rect">
            <a:avLst/>
          </a:prstGeom>
          <a:noFill/>
          <a:ln/>
        </p:spPr>
        <p:txBody>
          <a:bodyPr wrap="square" rtlCol="0" anchor="ctr"/>
          <a:lstStyle/>
          <a:p>
            <a:pPr indent="0" marL="0">
              <a:buNone/>
            </a:pPr>
            <a:r>
              <a:rPr lang="en-US" sz="900" b="1" dirty="0">
                <a:solidFill>
                  <a:srgbClr val="F2B705"/>
                </a:solidFill>
                <a:latin typeface="Consolas" pitchFamily="34" charset="0"/>
                <a:ea typeface="Consolas" pitchFamily="34" charset="-122"/>
                <a:cs typeface="Consolas" pitchFamily="34" charset="-120"/>
              </a:rPr>
              <a:t>03</a:t>
            </a:r>
            <a:endParaRPr lang="en-US" sz="900" dirty="0"/>
          </a:p>
        </p:txBody>
      </p:sp>
      <p:sp>
        <p:nvSpPr>
          <p:cNvPr id="15" name="Text 13"/>
          <p:cNvSpPr/>
          <p:nvPr/>
        </p:nvSpPr>
        <p:spPr>
          <a:xfrm>
            <a:off x="6464808" y="1947672"/>
            <a:ext cx="2331720" cy="457200"/>
          </a:xfrm>
          <a:prstGeom prst="rect">
            <a:avLst/>
          </a:prstGeom>
          <a:noFill/>
          <a:ln/>
        </p:spPr>
        <p:txBody>
          <a:bodyPr wrap="square" rtlCol="0" anchor="t"/>
          <a:lstStyle/>
          <a:p>
            <a:pPr indent="0" marL="0">
              <a:lnSpc>
                <a:spcPct val="98000"/>
              </a:lnSpc>
              <a:buNone/>
            </a:pPr>
            <a:r>
              <a:rPr lang="en-US" sz="1250" b="1" dirty="0">
                <a:solidFill>
                  <a:srgbClr val="E7E2D8"/>
                </a:solidFill>
                <a:latin typeface="Arial Narrow" pitchFamily="34" charset="0"/>
                <a:ea typeface="Arial Narrow" pitchFamily="34" charset="-122"/>
                <a:cs typeface="Arial Narrow" pitchFamily="34" charset="-120"/>
              </a:rPr>
              <a:t>PIPING &amp; SITE WORKS</a:t>
            </a:r>
            <a:endParaRPr lang="en-US" sz="1250" dirty="0"/>
          </a:p>
        </p:txBody>
      </p:sp>
      <p:sp>
        <p:nvSpPr>
          <p:cNvPr id="16" name="Shape 14"/>
          <p:cNvSpPr/>
          <p:nvPr/>
        </p:nvSpPr>
        <p:spPr>
          <a:xfrm>
            <a:off x="6080760" y="2432304"/>
            <a:ext cx="2606040" cy="0"/>
          </a:xfrm>
          <a:prstGeom prst="line">
            <a:avLst/>
          </a:prstGeom>
          <a:noFill/>
          <a:ln w="12700">
            <a:solidFill>
              <a:srgbClr val="3A444D"/>
            </a:solidFill>
            <a:prstDash val="solid"/>
          </a:ln>
        </p:spPr>
      </p:sp>
      <p:sp>
        <p:nvSpPr>
          <p:cNvPr id="17" name="Text 15"/>
          <p:cNvSpPr/>
          <p:nvPr/>
        </p:nvSpPr>
        <p:spPr>
          <a:xfrm>
            <a:off x="6080760" y="2523744"/>
            <a:ext cx="2606040" cy="2194560"/>
          </a:xfrm>
          <a:prstGeom prst="rect">
            <a:avLst/>
          </a:prstGeom>
          <a:noFill/>
          <a:ln/>
        </p:spPr>
        <p:txBody>
          <a:bodyPr wrap="square" rtlCol="0" anchor="t"/>
          <a:lstStyle/>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Steam line and condensate piping repair</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On-site cutting, fitting and welding</a:t>
            </a:r>
            <a:endParaRPr lang="en-US" sz="950" dirty="0"/>
          </a:p>
          <a:p>
            <a:pPr marL="342900" indent="-342900">
              <a:lnSpc>
                <a:spcPct val="110000"/>
              </a:lnSpc>
              <a:spcAft>
                <a:spcPts val="600"/>
              </a:spcAft>
              <a:buSzPct val="100000"/>
              <a:buChar char="▪"/>
            </a:pPr>
            <a:r>
              <a:rPr lang="en-US" sz="950" dirty="0">
                <a:solidFill>
                  <a:srgbClr val="E7E2D8"/>
                </a:solidFill>
                <a:latin typeface="Arial" pitchFamily="34" charset="0"/>
                <a:ea typeface="Arial" pitchFamily="34" charset="-122"/>
                <a:cs typeface="Arial" pitchFamily="34" charset="-120"/>
              </a:rPr>
              <a:t>Shutdown and breakdown attendance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C4441F"/>
                </a:solidFill>
                <a:latin typeface="Consolas" pitchFamily="34" charset="0"/>
                <a:ea typeface="Consolas" pitchFamily="34" charset="-122"/>
                <a:cs typeface="Consolas" pitchFamily="34" charset="-120"/>
              </a:rPr>
              <a:t>05 · COMPLIANCE &amp; SAFETY — INSTRUMENTS</a:t>
            </a:r>
            <a:endParaRPr lang="en-US" sz="900" dirty="0"/>
          </a:p>
        </p:txBody>
      </p:sp>
      <p:sp>
        <p:nvSpPr>
          <p:cNvPr id="3" name="Shape 1"/>
          <p:cNvSpPr/>
          <p:nvPr/>
        </p:nvSpPr>
        <p:spPr>
          <a:xfrm>
            <a:off x="502920" y="603504"/>
            <a:ext cx="1280160" cy="0"/>
          </a:xfrm>
          <a:prstGeom prst="line">
            <a:avLst/>
          </a:prstGeom>
          <a:noFill/>
          <a:ln w="25400">
            <a:solidFill>
              <a:srgbClr val="C4441F"/>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700" b="1" dirty="0">
                <a:solidFill>
                  <a:srgbClr val="22262A"/>
                </a:solidFill>
                <a:latin typeface="Arial Narrow" pitchFamily="34" charset="0"/>
                <a:ea typeface="Arial Narrow" pitchFamily="34" charset="-122"/>
                <a:cs typeface="Arial Narrow" pitchFamily="34" charset="-120"/>
              </a:rPr>
              <a:t>WORK THAT STANDS UP </a:t>
            </a:r>
            <a:pPr indent="0" marL="0">
              <a:lnSpc>
                <a:spcPct val="95000"/>
              </a:lnSpc>
              <a:buNone/>
            </a:pPr>
            <a:r>
              <a:rPr lang="en-US" sz="2700" b="1" dirty="0">
                <a:solidFill>
                  <a:srgbClr val="C4441F"/>
                </a:solidFill>
                <a:latin typeface="Arial Narrow" pitchFamily="34" charset="0"/>
                <a:ea typeface="Arial Narrow" pitchFamily="34" charset="-122"/>
                <a:cs typeface="Arial Narrow" pitchFamily="34" charset="-120"/>
              </a:rPr>
              <a:t>TO INSPECTION</a:t>
            </a:r>
            <a:endParaRPr lang="en-US" sz="2700" dirty="0"/>
          </a:p>
        </p:txBody>
      </p:sp>
      <p:sp>
        <p:nvSpPr>
          <p:cNvPr id="5" name="Text 3"/>
          <p:cNvSpPr/>
          <p:nvPr/>
        </p:nvSpPr>
        <p:spPr>
          <a:xfrm>
            <a:off x="502920" y="1426464"/>
            <a:ext cx="8138160" cy="320040"/>
          </a:xfrm>
          <a:prstGeom prst="rect">
            <a:avLst/>
          </a:prstGeom>
          <a:noFill/>
          <a:ln/>
        </p:spPr>
        <p:txBody>
          <a:bodyPr wrap="square" rtlCol="0" anchor="ctr"/>
          <a:lstStyle/>
          <a:p>
            <a:pPr indent="0" marL="0">
              <a:buNone/>
            </a:pPr>
            <a:r>
              <a:rPr lang="en-US" sz="1050" dirty="0">
                <a:solidFill>
                  <a:srgbClr val="55595E"/>
                </a:solidFill>
                <a:latin typeface="Arial" pitchFamily="34" charset="0"/>
                <a:ea typeface="Arial" pitchFamily="34" charset="-122"/>
                <a:cs typeface="Arial" pitchFamily="34" charset="-120"/>
              </a:rPr>
              <a:t>Boiler and pressure vessel work is statutory work, executed to the FMA 1967 and coordinated with the DOSH-appointed inspector.</a:t>
            </a:r>
            <a:endParaRPr lang="en-US" sz="1050" dirty="0"/>
          </a:p>
        </p:txBody>
      </p:sp>
      <p:sp>
        <p:nvSpPr>
          <p:cNvPr id="6" name="Text 4"/>
          <p:cNvSpPr/>
          <p:nvPr/>
        </p:nvSpPr>
        <p:spPr>
          <a:xfrm>
            <a:off x="502920" y="1828800"/>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01</a:t>
            </a:r>
            <a:endParaRPr lang="en-US" sz="900" dirty="0"/>
          </a:p>
        </p:txBody>
      </p:sp>
      <p:sp>
        <p:nvSpPr>
          <p:cNvPr id="7" name="Text 5"/>
          <p:cNvSpPr/>
          <p:nvPr/>
        </p:nvSpPr>
        <p:spPr>
          <a:xfrm>
            <a:off x="1005840" y="1810512"/>
            <a:ext cx="3017520" cy="603504"/>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Factories and Machinery Act 1967 (Act 139)</a:t>
            </a:r>
            <a:endParaRPr lang="en-US" sz="1150" dirty="0"/>
          </a:p>
        </p:txBody>
      </p:sp>
      <p:sp>
        <p:nvSpPr>
          <p:cNvPr id="8" name="Text 6"/>
          <p:cNvSpPr/>
          <p:nvPr/>
        </p:nvSpPr>
        <p:spPr>
          <a:xfrm>
            <a:off x="4114800" y="1810512"/>
            <a:ext cx="4526280" cy="603504"/>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The statute governing steam boilers and unfired pressure vessels in Malaysia, and the basis on which prescribed machinery is registered and inspected.</a:t>
            </a:r>
            <a:endParaRPr lang="en-US" sz="900" dirty="0"/>
          </a:p>
        </p:txBody>
      </p:sp>
      <p:sp>
        <p:nvSpPr>
          <p:cNvPr id="9" name="Shape 7"/>
          <p:cNvSpPr/>
          <p:nvPr/>
        </p:nvSpPr>
        <p:spPr>
          <a:xfrm>
            <a:off x="502920" y="2377440"/>
            <a:ext cx="8138160" cy="0"/>
          </a:xfrm>
          <a:prstGeom prst="line">
            <a:avLst/>
          </a:prstGeom>
          <a:noFill/>
          <a:ln w="9525">
            <a:solidFill>
              <a:srgbClr val="D3CCBE"/>
            </a:solidFill>
            <a:prstDash val="solid"/>
          </a:ln>
        </p:spPr>
      </p:sp>
      <p:sp>
        <p:nvSpPr>
          <p:cNvPr id="10" name="Text 8"/>
          <p:cNvSpPr/>
          <p:nvPr/>
        </p:nvSpPr>
        <p:spPr>
          <a:xfrm>
            <a:off x="502920" y="2450592"/>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02</a:t>
            </a:r>
            <a:endParaRPr lang="en-US" sz="900" dirty="0"/>
          </a:p>
        </p:txBody>
      </p:sp>
      <p:sp>
        <p:nvSpPr>
          <p:cNvPr id="11" name="Text 9"/>
          <p:cNvSpPr/>
          <p:nvPr/>
        </p:nvSpPr>
        <p:spPr>
          <a:xfrm>
            <a:off x="1005840" y="2432304"/>
            <a:ext cx="3017520" cy="603504"/>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FMA (Steam Boiler &amp; Unfired Pressure Vessel) Regulations 1970</a:t>
            </a:r>
            <a:endParaRPr lang="en-US" sz="1150" dirty="0"/>
          </a:p>
        </p:txBody>
      </p:sp>
      <p:sp>
        <p:nvSpPr>
          <p:cNvPr id="12" name="Text 10"/>
          <p:cNvSpPr/>
          <p:nvPr/>
        </p:nvSpPr>
        <p:spPr>
          <a:xfrm>
            <a:off x="4114800" y="2432304"/>
            <a:ext cx="4526280" cy="603504"/>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Requirements for manufacture, repair, authorised safe working pressure, safety valves and hydrostatic testing of boilers and vessels.</a:t>
            </a:r>
            <a:endParaRPr lang="en-US" sz="900" dirty="0"/>
          </a:p>
        </p:txBody>
      </p:sp>
      <p:sp>
        <p:nvSpPr>
          <p:cNvPr id="13" name="Shape 11"/>
          <p:cNvSpPr/>
          <p:nvPr/>
        </p:nvSpPr>
        <p:spPr>
          <a:xfrm>
            <a:off x="502920" y="2999232"/>
            <a:ext cx="8138160" cy="0"/>
          </a:xfrm>
          <a:prstGeom prst="line">
            <a:avLst/>
          </a:prstGeom>
          <a:noFill/>
          <a:ln w="9525">
            <a:solidFill>
              <a:srgbClr val="D3CCBE"/>
            </a:solidFill>
            <a:prstDash val="solid"/>
          </a:ln>
        </p:spPr>
      </p:sp>
      <p:sp>
        <p:nvSpPr>
          <p:cNvPr id="14" name="Text 12"/>
          <p:cNvSpPr/>
          <p:nvPr/>
        </p:nvSpPr>
        <p:spPr>
          <a:xfrm>
            <a:off x="502920" y="3072384"/>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03</a:t>
            </a:r>
            <a:endParaRPr lang="en-US" sz="900" dirty="0"/>
          </a:p>
        </p:txBody>
      </p:sp>
      <p:sp>
        <p:nvSpPr>
          <p:cNvPr id="15" name="Text 13"/>
          <p:cNvSpPr/>
          <p:nvPr/>
        </p:nvSpPr>
        <p:spPr>
          <a:xfrm>
            <a:off x="1005840" y="3054096"/>
            <a:ext cx="3017520" cy="603504"/>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Certificate of Fitness &amp; Inspection Regulations 1970 — P.U.(A) 43/70</a:t>
            </a:r>
            <a:endParaRPr lang="en-US" sz="1150" dirty="0"/>
          </a:p>
        </p:txBody>
      </p:sp>
      <p:sp>
        <p:nvSpPr>
          <p:cNvPr id="16" name="Text 14"/>
          <p:cNvSpPr/>
          <p:nvPr/>
        </p:nvSpPr>
        <p:spPr>
          <a:xfrm>
            <a:off x="4114800" y="3054096"/>
            <a:ext cx="4526280" cy="603504"/>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Registration, inspection intervals and the Certificate of Fitness — Form A (steam boilers), Form B (unfired pressure vessels) — ordinarily valid fifteen calendar months.</a:t>
            </a:r>
            <a:endParaRPr lang="en-US" sz="900" dirty="0"/>
          </a:p>
        </p:txBody>
      </p:sp>
      <p:sp>
        <p:nvSpPr>
          <p:cNvPr id="17" name="Shape 15"/>
          <p:cNvSpPr/>
          <p:nvPr/>
        </p:nvSpPr>
        <p:spPr>
          <a:xfrm>
            <a:off x="502920" y="3621024"/>
            <a:ext cx="8138160" cy="0"/>
          </a:xfrm>
          <a:prstGeom prst="line">
            <a:avLst/>
          </a:prstGeom>
          <a:noFill/>
          <a:ln w="9525">
            <a:solidFill>
              <a:srgbClr val="D3CCBE"/>
            </a:solidFill>
            <a:prstDash val="solid"/>
          </a:ln>
        </p:spPr>
      </p:sp>
      <p:sp>
        <p:nvSpPr>
          <p:cNvPr id="18" name="Text 16"/>
          <p:cNvSpPr/>
          <p:nvPr/>
        </p:nvSpPr>
        <p:spPr>
          <a:xfrm>
            <a:off x="502920" y="3694176"/>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04</a:t>
            </a:r>
            <a:endParaRPr lang="en-US" sz="900" dirty="0"/>
          </a:p>
        </p:txBody>
      </p:sp>
      <p:sp>
        <p:nvSpPr>
          <p:cNvPr id="19" name="Text 17"/>
          <p:cNvSpPr/>
          <p:nvPr/>
        </p:nvSpPr>
        <p:spPr>
          <a:xfrm>
            <a:off x="1005840" y="3675888"/>
            <a:ext cx="3017520" cy="603504"/>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Section 29A, Act 139 — written authority</a:t>
            </a:r>
            <a:endParaRPr lang="en-US" sz="1150" dirty="0"/>
          </a:p>
        </p:txBody>
      </p:sp>
      <p:sp>
        <p:nvSpPr>
          <p:cNvPr id="20" name="Text 18"/>
          <p:cNvSpPr/>
          <p:nvPr/>
        </p:nvSpPr>
        <p:spPr>
          <a:xfrm>
            <a:off x="4114800" y="3675888"/>
            <a:ext cx="4526280" cy="603504"/>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No person shall manufacture, fabricate, test, install, maintain, dismantle or repair prescribed machinery without written authority from the Chief Inspector.</a:t>
            </a:r>
            <a:endParaRPr lang="en-US" sz="900" dirty="0"/>
          </a:p>
        </p:txBody>
      </p:sp>
      <p:sp>
        <p:nvSpPr>
          <p:cNvPr id="21" name="Shape 19"/>
          <p:cNvSpPr/>
          <p:nvPr/>
        </p:nvSpPr>
        <p:spPr>
          <a:xfrm>
            <a:off x="502920" y="4242816"/>
            <a:ext cx="8138160" cy="0"/>
          </a:xfrm>
          <a:prstGeom prst="line">
            <a:avLst/>
          </a:prstGeom>
          <a:noFill/>
          <a:ln w="9525">
            <a:solidFill>
              <a:srgbClr val="D3CCBE"/>
            </a:solidFill>
            <a:prstDash val="solid"/>
          </a:ln>
        </p:spPr>
      </p:sp>
      <p:sp>
        <p:nvSpPr>
          <p:cNvPr id="22" name="Text 20"/>
          <p:cNvSpPr/>
          <p:nvPr/>
        </p:nvSpPr>
        <p:spPr>
          <a:xfrm>
            <a:off x="502920" y="4315968"/>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05</a:t>
            </a:r>
            <a:endParaRPr lang="en-US" sz="900" dirty="0"/>
          </a:p>
        </p:txBody>
      </p:sp>
      <p:sp>
        <p:nvSpPr>
          <p:cNvPr id="23" name="Text 21"/>
          <p:cNvSpPr/>
          <p:nvPr/>
        </p:nvSpPr>
        <p:spPr>
          <a:xfrm>
            <a:off x="1005840" y="4297680"/>
            <a:ext cx="3017520" cy="603504"/>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ASME PCC-2 — Repair of Pressure Equipment &amp; Piping</a:t>
            </a:r>
            <a:endParaRPr lang="en-US" sz="1150" dirty="0"/>
          </a:p>
        </p:txBody>
      </p:sp>
      <p:sp>
        <p:nvSpPr>
          <p:cNvPr id="24" name="Text 22"/>
          <p:cNvSpPr/>
          <p:nvPr/>
        </p:nvSpPr>
        <p:spPr>
          <a:xfrm>
            <a:off x="4114800" y="4297680"/>
            <a:ext cx="4526280" cy="603504"/>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Accepted guidelines for inspecting, evaluating and repairing pressure-containing components and industrial piping systems.</a:t>
            </a:r>
            <a:endParaRPr lang="en-US" sz="900" dirty="0"/>
          </a:p>
        </p:txBody>
      </p:sp>
      <p:sp>
        <p:nvSpPr>
          <p:cNvPr id="25" name="Shape 23"/>
          <p:cNvSpPr/>
          <p:nvPr/>
        </p:nvSpPr>
        <p:spPr>
          <a:xfrm>
            <a:off x="502920" y="4864608"/>
            <a:ext cx="8138160" cy="0"/>
          </a:xfrm>
          <a:prstGeom prst="line">
            <a:avLst/>
          </a:prstGeom>
          <a:noFill/>
          <a:ln w="9525">
            <a:solidFill>
              <a:srgbClr val="D3CCBE"/>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C4441F"/>
                </a:solidFill>
                <a:latin typeface="Consolas" pitchFamily="34" charset="0"/>
                <a:ea typeface="Consolas" pitchFamily="34" charset="-122"/>
                <a:cs typeface="Consolas" pitchFamily="34" charset="-120"/>
              </a:rPr>
              <a:t>05 · COMPLIANCE &amp; SAFETY — TESTS &amp; PLATES</a:t>
            </a:r>
            <a:endParaRPr lang="en-US" sz="900" dirty="0"/>
          </a:p>
        </p:txBody>
      </p:sp>
      <p:sp>
        <p:nvSpPr>
          <p:cNvPr id="3" name="Shape 1"/>
          <p:cNvSpPr/>
          <p:nvPr/>
        </p:nvSpPr>
        <p:spPr>
          <a:xfrm>
            <a:off x="502920" y="603504"/>
            <a:ext cx="1280160" cy="0"/>
          </a:xfrm>
          <a:prstGeom prst="line">
            <a:avLst/>
          </a:prstGeom>
          <a:noFill/>
          <a:ln w="25400">
            <a:solidFill>
              <a:srgbClr val="C4441F"/>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700" b="1" dirty="0">
                <a:solidFill>
                  <a:srgbClr val="22262A"/>
                </a:solidFill>
                <a:latin typeface="Arial Narrow" pitchFamily="34" charset="0"/>
                <a:ea typeface="Arial Narrow" pitchFamily="34" charset="-122"/>
                <a:cs typeface="Arial Narrow" pitchFamily="34" charset="-120"/>
              </a:rPr>
              <a:t>TESTS, VALVES </a:t>
            </a:r>
            <a:pPr indent="0" marL="0">
              <a:lnSpc>
                <a:spcPct val="95000"/>
              </a:lnSpc>
              <a:buNone/>
            </a:pPr>
            <a:r>
              <a:rPr lang="en-US" sz="2700" b="1" dirty="0">
                <a:solidFill>
                  <a:srgbClr val="C4441F"/>
                </a:solidFill>
                <a:latin typeface="Arial Narrow" pitchFamily="34" charset="0"/>
                <a:ea typeface="Arial Narrow" pitchFamily="34" charset="-122"/>
                <a:cs typeface="Arial Narrow" pitchFamily="34" charset="-120"/>
              </a:rPr>
              <a:t>&amp; NUMBER PLATES</a:t>
            </a:r>
            <a:endParaRPr lang="en-US" sz="2700" dirty="0"/>
          </a:p>
        </p:txBody>
      </p:sp>
      <p:sp>
        <p:nvSpPr>
          <p:cNvPr id="5" name="Text 3"/>
          <p:cNvSpPr/>
          <p:nvPr/>
        </p:nvSpPr>
        <p:spPr>
          <a:xfrm>
            <a:off x="502920" y="1572768"/>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06</a:t>
            </a:r>
            <a:endParaRPr lang="en-US" sz="900" dirty="0"/>
          </a:p>
        </p:txBody>
      </p:sp>
      <p:sp>
        <p:nvSpPr>
          <p:cNvPr id="6" name="Text 4"/>
          <p:cNvSpPr/>
          <p:nvPr/>
        </p:nvSpPr>
        <p:spPr>
          <a:xfrm>
            <a:off x="1005840" y="1554480"/>
            <a:ext cx="3017520" cy="713232"/>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NBIC — National Board Inspection Code</a:t>
            </a:r>
            <a:endParaRPr lang="en-US" sz="1150" dirty="0"/>
          </a:p>
        </p:txBody>
      </p:sp>
      <p:sp>
        <p:nvSpPr>
          <p:cNvPr id="7" name="Text 5"/>
          <p:cNvSpPr/>
          <p:nvPr/>
        </p:nvSpPr>
        <p:spPr>
          <a:xfrm>
            <a:off x="4114800" y="1554480"/>
            <a:ext cx="4526280" cy="713232"/>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A systematic approach to inspecting, evaluating and repairing boilers and pressure vessels, recognised internationally for safe, compliant, extended service life.</a:t>
            </a:r>
            <a:endParaRPr lang="en-US" sz="900" dirty="0"/>
          </a:p>
        </p:txBody>
      </p:sp>
      <p:sp>
        <p:nvSpPr>
          <p:cNvPr id="8" name="Shape 6"/>
          <p:cNvSpPr/>
          <p:nvPr/>
        </p:nvSpPr>
        <p:spPr>
          <a:xfrm>
            <a:off x="502920" y="2231136"/>
            <a:ext cx="8138160" cy="0"/>
          </a:xfrm>
          <a:prstGeom prst="line">
            <a:avLst/>
          </a:prstGeom>
          <a:noFill/>
          <a:ln w="9525">
            <a:solidFill>
              <a:srgbClr val="D3CCBE"/>
            </a:solidFill>
            <a:prstDash val="solid"/>
          </a:ln>
        </p:spPr>
      </p:sp>
      <p:sp>
        <p:nvSpPr>
          <p:cNvPr id="9" name="Text 7"/>
          <p:cNvSpPr/>
          <p:nvPr/>
        </p:nvSpPr>
        <p:spPr>
          <a:xfrm>
            <a:off x="502920" y="2304288"/>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07</a:t>
            </a:r>
            <a:endParaRPr lang="en-US" sz="900" dirty="0"/>
          </a:p>
        </p:txBody>
      </p:sp>
      <p:sp>
        <p:nvSpPr>
          <p:cNvPr id="10" name="Text 8"/>
          <p:cNvSpPr/>
          <p:nvPr/>
        </p:nvSpPr>
        <p:spPr>
          <a:xfrm>
            <a:off x="1005840" y="2286000"/>
            <a:ext cx="3017520" cy="713232"/>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Hydrostatic test</a:t>
            </a:r>
            <a:endParaRPr lang="en-US" sz="1150" dirty="0"/>
          </a:p>
        </p:txBody>
      </p:sp>
      <p:sp>
        <p:nvSpPr>
          <p:cNvPr id="11" name="Text 9"/>
          <p:cNvSpPr/>
          <p:nvPr/>
        </p:nvSpPr>
        <p:spPr>
          <a:xfrm>
            <a:off x="4114800" y="2286000"/>
            <a:ext cx="4526280" cy="713232"/>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Required where a repair involves full-penetration welding or major replacement of pressure-retaining components; minor non-penetrating repairs are exempt under ASME PCC-2. Weld repairs after final PWHT require hydrostatic re-testing under ASME Section VIII, Division 1.</a:t>
            </a:r>
            <a:endParaRPr lang="en-US" sz="900" dirty="0"/>
          </a:p>
        </p:txBody>
      </p:sp>
      <p:sp>
        <p:nvSpPr>
          <p:cNvPr id="12" name="Shape 10"/>
          <p:cNvSpPr/>
          <p:nvPr/>
        </p:nvSpPr>
        <p:spPr>
          <a:xfrm>
            <a:off x="502920" y="2962656"/>
            <a:ext cx="8138160" cy="0"/>
          </a:xfrm>
          <a:prstGeom prst="line">
            <a:avLst/>
          </a:prstGeom>
          <a:noFill/>
          <a:ln w="9525">
            <a:solidFill>
              <a:srgbClr val="D3CCBE"/>
            </a:solidFill>
            <a:prstDash val="solid"/>
          </a:ln>
        </p:spPr>
      </p:sp>
      <p:sp>
        <p:nvSpPr>
          <p:cNvPr id="13" name="Text 11"/>
          <p:cNvSpPr/>
          <p:nvPr/>
        </p:nvSpPr>
        <p:spPr>
          <a:xfrm>
            <a:off x="502920" y="3035808"/>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08</a:t>
            </a:r>
            <a:endParaRPr lang="en-US" sz="900" dirty="0"/>
          </a:p>
        </p:txBody>
      </p:sp>
      <p:sp>
        <p:nvSpPr>
          <p:cNvPr id="14" name="Text 12"/>
          <p:cNvSpPr/>
          <p:nvPr/>
        </p:nvSpPr>
        <p:spPr>
          <a:xfrm>
            <a:off x="1005840" y="3017520"/>
            <a:ext cx="3017520" cy="713232"/>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Safety valve accumulation test</a:t>
            </a:r>
            <a:endParaRPr lang="en-US" sz="1150" dirty="0"/>
          </a:p>
        </p:txBody>
      </p:sp>
      <p:sp>
        <p:nvSpPr>
          <p:cNvPr id="15" name="Text 13"/>
          <p:cNvSpPr/>
          <p:nvPr/>
        </p:nvSpPr>
        <p:spPr>
          <a:xfrm>
            <a:off x="4114800" y="3017520"/>
            <a:ext cx="4526280" cy="713232"/>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With the stop valve closed and under full firing, pressure accumulation must not exceed ten per cent above the authorised safe working pressure.</a:t>
            </a:r>
            <a:endParaRPr lang="en-US" sz="900" dirty="0"/>
          </a:p>
        </p:txBody>
      </p:sp>
      <p:sp>
        <p:nvSpPr>
          <p:cNvPr id="16" name="Shape 14"/>
          <p:cNvSpPr/>
          <p:nvPr/>
        </p:nvSpPr>
        <p:spPr>
          <a:xfrm>
            <a:off x="502920" y="3694176"/>
            <a:ext cx="8138160" cy="0"/>
          </a:xfrm>
          <a:prstGeom prst="line">
            <a:avLst/>
          </a:prstGeom>
          <a:noFill/>
          <a:ln w="9525">
            <a:solidFill>
              <a:srgbClr val="D3CCBE"/>
            </a:solidFill>
            <a:prstDash val="solid"/>
          </a:ln>
        </p:spPr>
      </p:sp>
      <p:sp>
        <p:nvSpPr>
          <p:cNvPr id="17" name="Text 15"/>
          <p:cNvSpPr/>
          <p:nvPr/>
        </p:nvSpPr>
        <p:spPr>
          <a:xfrm>
            <a:off x="502920" y="3767328"/>
            <a:ext cx="50292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09</a:t>
            </a:r>
            <a:endParaRPr lang="en-US" sz="900" dirty="0"/>
          </a:p>
        </p:txBody>
      </p:sp>
      <p:sp>
        <p:nvSpPr>
          <p:cNvPr id="18" name="Text 16"/>
          <p:cNvSpPr/>
          <p:nvPr/>
        </p:nvSpPr>
        <p:spPr>
          <a:xfrm>
            <a:off x="1005840" y="3749040"/>
            <a:ext cx="3017520" cy="713232"/>
          </a:xfrm>
          <a:prstGeom prst="rect">
            <a:avLst/>
          </a:prstGeom>
          <a:noFill/>
          <a:ln/>
        </p:spPr>
        <p:txBody>
          <a:bodyPr wrap="square" rtlCol="0" anchor="t"/>
          <a:lstStyle/>
          <a:p>
            <a:pPr indent="0" marL="0">
              <a:lnSpc>
                <a:spcPct val="100000"/>
              </a:lnSpc>
              <a:buNone/>
            </a:pPr>
            <a:r>
              <a:rPr lang="en-US" sz="1150" b="1" dirty="0">
                <a:solidFill>
                  <a:srgbClr val="22262A"/>
                </a:solidFill>
                <a:latin typeface="Arial Narrow" pitchFamily="34" charset="0"/>
                <a:ea typeface="Arial Narrow" pitchFamily="34" charset="-122"/>
                <a:cs typeface="Arial Narrow" pitchFamily="34" charset="-120"/>
              </a:rPr>
              <a:t>Registration number plate (Reg. 82)</a:t>
            </a:r>
            <a:endParaRPr lang="en-US" sz="1150" dirty="0"/>
          </a:p>
        </p:txBody>
      </p:sp>
      <p:sp>
        <p:nvSpPr>
          <p:cNvPr id="19" name="Text 17"/>
          <p:cNvSpPr/>
          <p:nvPr/>
        </p:nvSpPr>
        <p:spPr>
          <a:xfrm>
            <a:off x="4114800" y="3749040"/>
            <a:ext cx="4526280" cy="713232"/>
          </a:xfrm>
          <a:prstGeom prst="rect">
            <a:avLst/>
          </a:prstGeom>
          <a:noFill/>
          <a:ln/>
        </p:spPr>
        <p:txBody>
          <a:bodyPr wrap="square" rtlCol="0" anchor="t"/>
          <a:lstStyle/>
          <a:p>
            <a:pPr indent="0" marL="0">
              <a:lnSpc>
                <a:spcPct val="108000"/>
              </a:lnSpc>
              <a:buNone/>
            </a:pPr>
            <a:r>
              <a:rPr lang="en-US" sz="900" dirty="0">
                <a:solidFill>
                  <a:srgbClr val="55595E"/>
                </a:solidFill>
                <a:latin typeface="Arial" pitchFamily="34" charset="0"/>
                <a:ea typeface="Arial" pitchFamily="34" charset="-122"/>
                <a:cs typeface="Arial" pitchFamily="34" charset="-120"/>
              </a:rPr>
              <a:t>The registration number plate is provided, marked and maintained on every steam boiler and unfired pressure vessel held under certificate of fitness.</a:t>
            </a:r>
            <a:endParaRPr lang="en-US" sz="900" dirty="0"/>
          </a:p>
        </p:txBody>
      </p:sp>
      <p:sp>
        <p:nvSpPr>
          <p:cNvPr id="20" name="Shape 18"/>
          <p:cNvSpPr/>
          <p:nvPr/>
        </p:nvSpPr>
        <p:spPr>
          <a:xfrm>
            <a:off x="502920" y="4425696"/>
            <a:ext cx="8138160" cy="0"/>
          </a:xfrm>
          <a:prstGeom prst="line">
            <a:avLst/>
          </a:prstGeom>
          <a:noFill/>
          <a:ln w="9525">
            <a:solidFill>
              <a:srgbClr val="D3CCBE"/>
            </a:solidFill>
            <a:prstDash val="solid"/>
          </a:ln>
        </p:spPr>
      </p:sp>
      <p:sp>
        <p:nvSpPr>
          <p:cNvPr id="21" name="Shape 19"/>
          <p:cNvSpPr/>
          <p:nvPr/>
        </p:nvSpPr>
        <p:spPr>
          <a:xfrm>
            <a:off x="502920" y="4553712"/>
            <a:ext cx="8138160" cy="310896"/>
          </a:xfrm>
          <a:prstGeom prst="rect">
            <a:avLst/>
          </a:prstGeom>
          <a:solidFill>
            <a:srgbClr val="E6E0D3"/>
          </a:solidFill>
          <a:ln w="12700">
            <a:solidFill>
              <a:srgbClr val="C4441F"/>
            </a:solidFill>
            <a:prstDash val="solid"/>
          </a:ln>
        </p:spPr>
      </p:sp>
      <p:sp>
        <p:nvSpPr>
          <p:cNvPr id="22" name="Shape 20"/>
          <p:cNvSpPr/>
          <p:nvPr/>
        </p:nvSpPr>
        <p:spPr>
          <a:xfrm>
            <a:off x="502920" y="4553712"/>
            <a:ext cx="45720" cy="310896"/>
          </a:xfrm>
          <a:prstGeom prst="rect">
            <a:avLst/>
          </a:prstGeom>
          <a:solidFill>
            <a:srgbClr val="C4441F"/>
          </a:solidFill>
          <a:ln w="12700">
            <a:solidFill>
              <a:srgbClr val="333333"/>
            </a:solidFill>
            <a:prstDash val="solid"/>
          </a:ln>
        </p:spPr>
      </p:sp>
      <p:sp>
        <p:nvSpPr>
          <p:cNvPr id="23" name="Text 21"/>
          <p:cNvSpPr/>
          <p:nvPr/>
        </p:nvSpPr>
        <p:spPr>
          <a:xfrm>
            <a:off x="667512" y="4626864"/>
            <a:ext cx="7827264" cy="164592"/>
          </a:xfrm>
          <a:prstGeom prst="rect">
            <a:avLst/>
          </a:prstGeom>
          <a:noFill/>
          <a:ln/>
        </p:spPr>
        <p:txBody>
          <a:bodyPr wrap="square" rtlCol="0" anchor="ctr"/>
          <a:lstStyle/>
          <a:p>
            <a:pPr indent="0" marL="0">
              <a:lnSpc>
                <a:spcPct val="125000"/>
              </a:lnSpc>
              <a:buNone/>
            </a:pPr>
            <a:r>
              <a:rPr lang="en-US" sz="800" spc="40" kern="0" dirty="0">
                <a:solidFill>
                  <a:srgbClr val="55595E"/>
                </a:solidFill>
                <a:latin typeface="Consolas" pitchFamily="34" charset="0"/>
                <a:ea typeface="Consolas" pitchFamily="34" charset="-122"/>
                <a:cs typeface="Consolas" pitchFamily="34" charset="-120"/>
              </a:rPr>
              <a:t>NOTE — SCOPE IS CONFIRMED IN WRITING BEFORE ANY HOT WORK. METHOD STATEMENTS, WELDER QUALIFICATIONS AND TEST RECORDS COME WITH THE JOB FILE.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F2B705"/>
                </a:solidFill>
                <a:latin typeface="Consolas" pitchFamily="34" charset="0"/>
                <a:ea typeface="Consolas" pitchFamily="34" charset="-122"/>
                <a:cs typeface="Consolas" pitchFamily="34" charset="-120"/>
              </a:rPr>
              <a:t>06 · QUALITY MANAGEMENT SYSTEM</a:t>
            </a:r>
            <a:endParaRPr lang="en-US" sz="900" dirty="0"/>
          </a:p>
        </p:txBody>
      </p:sp>
      <p:sp>
        <p:nvSpPr>
          <p:cNvPr id="3" name="Shape 1"/>
          <p:cNvSpPr/>
          <p:nvPr/>
        </p:nvSpPr>
        <p:spPr>
          <a:xfrm>
            <a:off x="502920" y="603504"/>
            <a:ext cx="1280160" cy="0"/>
          </a:xfrm>
          <a:prstGeom prst="line">
            <a:avLst/>
          </a:prstGeom>
          <a:noFill/>
          <a:ln w="25400">
            <a:solidFill>
              <a:srgbClr val="F2B705"/>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900" b="1" dirty="0">
                <a:solidFill>
                  <a:srgbClr val="E7E2D8"/>
                </a:solidFill>
                <a:latin typeface="Arial Narrow" pitchFamily="34" charset="0"/>
                <a:ea typeface="Arial Narrow" pitchFamily="34" charset="-122"/>
                <a:cs typeface="Arial Narrow" pitchFamily="34" charset="-120"/>
              </a:rPr>
              <a:t>UNDER CONTROL, </a:t>
            </a:r>
            <a:pPr indent="0" marL="0">
              <a:lnSpc>
                <a:spcPct val="95000"/>
              </a:lnSpc>
              <a:buNone/>
            </a:pPr>
            <a:r>
              <a:rPr lang="en-US" sz="2900" b="1" dirty="0">
                <a:solidFill>
                  <a:srgbClr val="F2B705"/>
                </a:solidFill>
                <a:latin typeface="Arial Narrow" pitchFamily="34" charset="0"/>
                <a:ea typeface="Arial Narrow" pitchFamily="34" charset="-122"/>
                <a:cs typeface="Arial Narrow" pitchFamily="34" charset="-120"/>
              </a:rPr>
              <a:t>WITHIN THE CODE</a:t>
            </a:r>
            <a:endParaRPr lang="en-US" sz="2900" dirty="0"/>
          </a:p>
        </p:txBody>
      </p:sp>
      <p:sp>
        <p:nvSpPr>
          <p:cNvPr id="5" name="Text 3"/>
          <p:cNvSpPr/>
          <p:nvPr/>
        </p:nvSpPr>
        <p:spPr>
          <a:xfrm>
            <a:off x="502920" y="1463040"/>
            <a:ext cx="8138160" cy="502920"/>
          </a:xfrm>
          <a:prstGeom prst="rect">
            <a:avLst/>
          </a:prstGeom>
          <a:noFill/>
          <a:ln/>
        </p:spPr>
        <p:txBody>
          <a:bodyPr wrap="square" rtlCol="0" anchor="ctr"/>
          <a:lstStyle/>
          <a:p>
            <a:pPr indent="0" marL="0">
              <a:lnSpc>
                <a:spcPct val="118000"/>
              </a:lnSpc>
              <a:buNone/>
            </a:pPr>
            <a:r>
              <a:rPr lang="en-US" sz="1050" dirty="0">
                <a:solidFill>
                  <a:srgbClr val="A9A69E"/>
                </a:solidFill>
                <a:latin typeface="Arial" pitchFamily="34" charset="0"/>
                <a:ea typeface="Arial" pitchFamily="34" charset="-122"/>
                <a:cs typeface="Arial" pitchFamily="34" charset="-120"/>
              </a:rPr>
              <a:t>Every alteration, repair, inspection, testing and certification job runs through our Quality Management Center — one controlled online workspace shared by the workshop, our inspectors and your plant team.</a:t>
            </a:r>
            <a:endParaRPr lang="en-US" sz="1050" dirty="0"/>
          </a:p>
        </p:txBody>
      </p:sp>
      <p:sp>
        <p:nvSpPr>
          <p:cNvPr id="6" name="Shape 4"/>
          <p:cNvSpPr/>
          <p:nvPr/>
        </p:nvSpPr>
        <p:spPr>
          <a:xfrm>
            <a:off x="502920" y="2103120"/>
            <a:ext cx="3986784" cy="1207008"/>
          </a:xfrm>
          <a:prstGeom prst="roundRect">
            <a:avLst>
              <a:gd name="adj" fmla="val 3030"/>
            </a:avLst>
          </a:prstGeom>
          <a:solidFill>
            <a:srgbClr val="1D242B"/>
          </a:solidFill>
          <a:ln w="12700">
            <a:solidFill>
              <a:srgbClr val="3A444D"/>
            </a:solidFill>
            <a:prstDash val="solid"/>
          </a:ln>
        </p:spPr>
      </p:sp>
      <p:sp>
        <p:nvSpPr>
          <p:cNvPr id="7" name="Text 5"/>
          <p:cNvSpPr/>
          <p:nvPr/>
        </p:nvSpPr>
        <p:spPr>
          <a:xfrm>
            <a:off x="649224" y="2231136"/>
            <a:ext cx="548640" cy="201168"/>
          </a:xfrm>
          <a:prstGeom prst="rect">
            <a:avLst/>
          </a:prstGeom>
          <a:noFill/>
          <a:ln/>
        </p:spPr>
        <p:txBody>
          <a:bodyPr wrap="square" rtlCol="0" anchor="ctr"/>
          <a:lstStyle/>
          <a:p>
            <a:pPr indent="0" marL="0">
              <a:buNone/>
            </a:pPr>
            <a:r>
              <a:rPr lang="en-US" sz="850" b="1" dirty="0">
                <a:solidFill>
                  <a:srgbClr val="F2B705"/>
                </a:solidFill>
                <a:latin typeface="Consolas" pitchFamily="34" charset="0"/>
                <a:ea typeface="Consolas" pitchFamily="34" charset="-122"/>
                <a:cs typeface="Consolas" pitchFamily="34" charset="-120"/>
              </a:rPr>
              <a:t>01</a:t>
            </a:r>
            <a:endParaRPr lang="en-US" sz="850" dirty="0"/>
          </a:p>
        </p:txBody>
      </p:sp>
      <p:sp>
        <p:nvSpPr>
          <p:cNvPr id="8" name="Text 6"/>
          <p:cNvSpPr/>
          <p:nvPr/>
        </p:nvSpPr>
        <p:spPr>
          <a:xfrm>
            <a:off x="649224" y="2450592"/>
            <a:ext cx="3694176" cy="45720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Controlled before work starts</a:t>
            </a:r>
            <a:endParaRPr lang="en-US" sz="1200" dirty="0"/>
          </a:p>
        </p:txBody>
      </p:sp>
      <p:sp>
        <p:nvSpPr>
          <p:cNvPr id="9" name="Text 7"/>
          <p:cNvSpPr/>
          <p:nvPr/>
        </p:nvSpPr>
        <p:spPr>
          <a:xfrm>
            <a:off x="649224" y="2706624"/>
            <a:ext cx="3694176" cy="493776"/>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Scope confirmed in writing; defect assessment, thickness measurement, ITP, method statement and JSA raised — documents sent to DOSH as a 'repair notice' and approved before any hot work begins.</a:t>
            </a:r>
            <a:endParaRPr lang="en-US" sz="850" dirty="0"/>
          </a:p>
        </p:txBody>
      </p:sp>
      <p:sp>
        <p:nvSpPr>
          <p:cNvPr id="10" name="Shape 8"/>
          <p:cNvSpPr/>
          <p:nvPr/>
        </p:nvSpPr>
        <p:spPr>
          <a:xfrm>
            <a:off x="4654296" y="2103120"/>
            <a:ext cx="3986784" cy="1207008"/>
          </a:xfrm>
          <a:prstGeom prst="roundRect">
            <a:avLst>
              <a:gd name="adj" fmla="val 3030"/>
            </a:avLst>
          </a:prstGeom>
          <a:solidFill>
            <a:srgbClr val="1D242B"/>
          </a:solidFill>
          <a:ln w="12700">
            <a:solidFill>
              <a:srgbClr val="3A444D"/>
            </a:solidFill>
            <a:prstDash val="solid"/>
          </a:ln>
        </p:spPr>
      </p:sp>
      <p:sp>
        <p:nvSpPr>
          <p:cNvPr id="11" name="Text 9"/>
          <p:cNvSpPr/>
          <p:nvPr/>
        </p:nvSpPr>
        <p:spPr>
          <a:xfrm>
            <a:off x="4800600" y="2231136"/>
            <a:ext cx="548640" cy="201168"/>
          </a:xfrm>
          <a:prstGeom prst="rect">
            <a:avLst/>
          </a:prstGeom>
          <a:noFill/>
          <a:ln/>
        </p:spPr>
        <p:txBody>
          <a:bodyPr wrap="square" rtlCol="0" anchor="ctr"/>
          <a:lstStyle/>
          <a:p>
            <a:pPr indent="0" marL="0">
              <a:buNone/>
            </a:pPr>
            <a:r>
              <a:rPr lang="en-US" sz="850" b="1" dirty="0">
                <a:solidFill>
                  <a:srgbClr val="F2B705"/>
                </a:solidFill>
                <a:latin typeface="Consolas" pitchFamily="34" charset="0"/>
                <a:ea typeface="Consolas" pitchFamily="34" charset="-122"/>
                <a:cs typeface="Consolas" pitchFamily="34" charset="-120"/>
              </a:rPr>
              <a:t>02</a:t>
            </a:r>
            <a:endParaRPr lang="en-US" sz="850" dirty="0"/>
          </a:p>
        </p:txBody>
      </p:sp>
      <p:sp>
        <p:nvSpPr>
          <p:cNvPr id="12" name="Text 10"/>
          <p:cNvSpPr/>
          <p:nvPr/>
        </p:nvSpPr>
        <p:spPr>
          <a:xfrm>
            <a:off x="4800600" y="2450592"/>
            <a:ext cx="3694176" cy="45720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Qualified welders &amp; procedures</a:t>
            </a:r>
            <a:endParaRPr lang="en-US" sz="1200" dirty="0"/>
          </a:p>
        </p:txBody>
      </p:sp>
      <p:sp>
        <p:nvSpPr>
          <p:cNvPr id="13" name="Text 11"/>
          <p:cNvSpPr/>
          <p:nvPr/>
        </p:nvSpPr>
        <p:spPr>
          <a:xfrm>
            <a:off x="4800600" y="2706624"/>
            <a:ext cx="3694176" cy="493776"/>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WPS, PQR and welder qualification tests to ASME BPVC Section IX or ISO/BS EN 15614, with welder continuity tracked — only qualified welders weld on pressure parts.</a:t>
            </a:r>
            <a:endParaRPr lang="en-US" sz="850" dirty="0"/>
          </a:p>
        </p:txBody>
      </p:sp>
      <p:sp>
        <p:nvSpPr>
          <p:cNvPr id="14" name="Shape 12"/>
          <p:cNvSpPr/>
          <p:nvPr/>
        </p:nvSpPr>
        <p:spPr>
          <a:xfrm>
            <a:off x="502920" y="3456432"/>
            <a:ext cx="3986784" cy="1207008"/>
          </a:xfrm>
          <a:prstGeom prst="roundRect">
            <a:avLst>
              <a:gd name="adj" fmla="val 3030"/>
            </a:avLst>
          </a:prstGeom>
          <a:solidFill>
            <a:srgbClr val="1D242B"/>
          </a:solidFill>
          <a:ln w="12700">
            <a:solidFill>
              <a:srgbClr val="3A444D"/>
            </a:solidFill>
            <a:prstDash val="solid"/>
          </a:ln>
        </p:spPr>
      </p:sp>
      <p:sp>
        <p:nvSpPr>
          <p:cNvPr id="15" name="Text 13"/>
          <p:cNvSpPr/>
          <p:nvPr/>
        </p:nvSpPr>
        <p:spPr>
          <a:xfrm>
            <a:off x="649224" y="3584448"/>
            <a:ext cx="548640" cy="201168"/>
          </a:xfrm>
          <a:prstGeom prst="rect">
            <a:avLst/>
          </a:prstGeom>
          <a:noFill/>
          <a:ln/>
        </p:spPr>
        <p:txBody>
          <a:bodyPr wrap="square" rtlCol="0" anchor="ctr"/>
          <a:lstStyle/>
          <a:p>
            <a:pPr indent="0" marL="0">
              <a:buNone/>
            </a:pPr>
            <a:r>
              <a:rPr lang="en-US" sz="850" b="1" dirty="0">
                <a:solidFill>
                  <a:srgbClr val="F2B705"/>
                </a:solidFill>
                <a:latin typeface="Consolas" pitchFamily="34" charset="0"/>
                <a:ea typeface="Consolas" pitchFamily="34" charset="-122"/>
                <a:cs typeface="Consolas" pitchFamily="34" charset="-120"/>
              </a:rPr>
              <a:t>03</a:t>
            </a:r>
            <a:endParaRPr lang="en-US" sz="850" dirty="0"/>
          </a:p>
        </p:txBody>
      </p:sp>
      <p:sp>
        <p:nvSpPr>
          <p:cNvPr id="16" name="Text 14"/>
          <p:cNvSpPr/>
          <p:nvPr/>
        </p:nvSpPr>
        <p:spPr>
          <a:xfrm>
            <a:off x="649224" y="3803904"/>
            <a:ext cx="3694176" cy="45720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Answered in minutes, monitored live</a:t>
            </a:r>
            <a:endParaRPr lang="en-US" sz="1200" dirty="0"/>
          </a:p>
        </p:txBody>
      </p:sp>
      <p:sp>
        <p:nvSpPr>
          <p:cNvPr id="17" name="Text 15"/>
          <p:cNvSpPr/>
          <p:nvPr/>
        </p:nvSpPr>
        <p:spPr>
          <a:xfrm>
            <a:off x="649224" y="4059936"/>
            <a:ext cx="3694176" cy="493776"/>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Inspection plans, procedures, acceptance criteria and decisions answered within minutes. Clients and inspectors monitor progress live via a link to the QMC and can comment inside the system.</a:t>
            </a:r>
            <a:endParaRPr lang="en-US" sz="850" dirty="0"/>
          </a:p>
        </p:txBody>
      </p:sp>
      <p:sp>
        <p:nvSpPr>
          <p:cNvPr id="18" name="Shape 16"/>
          <p:cNvSpPr/>
          <p:nvPr/>
        </p:nvSpPr>
        <p:spPr>
          <a:xfrm>
            <a:off x="4654296" y="3456432"/>
            <a:ext cx="3986784" cy="1207008"/>
          </a:xfrm>
          <a:prstGeom prst="roundRect">
            <a:avLst>
              <a:gd name="adj" fmla="val 3030"/>
            </a:avLst>
          </a:prstGeom>
          <a:solidFill>
            <a:srgbClr val="1D242B"/>
          </a:solidFill>
          <a:ln w="12700">
            <a:solidFill>
              <a:srgbClr val="3A444D"/>
            </a:solidFill>
            <a:prstDash val="solid"/>
          </a:ln>
        </p:spPr>
      </p:sp>
      <p:sp>
        <p:nvSpPr>
          <p:cNvPr id="19" name="Text 17"/>
          <p:cNvSpPr/>
          <p:nvPr/>
        </p:nvSpPr>
        <p:spPr>
          <a:xfrm>
            <a:off x="4800600" y="3584448"/>
            <a:ext cx="548640" cy="201168"/>
          </a:xfrm>
          <a:prstGeom prst="rect">
            <a:avLst/>
          </a:prstGeom>
          <a:noFill/>
          <a:ln/>
        </p:spPr>
        <p:txBody>
          <a:bodyPr wrap="square" rtlCol="0" anchor="ctr"/>
          <a:lstStyle/>
          <a:p>
            <a:pPr indent="0" marL="0">
              <a:buNone/>
            </a:pPr>
            <a:r>
              <a:rPr lang="en-US" sz="850" b="1" dirty="0">
                <a:solidFill>
                  <a:srgbClr val="F2B705"/>
                </a:solidFill>
                <a:latin typeface="Consolas" pitchFamily="34" charset="0"/>
                <a:ea typeface="Consolas" pitchFamily="34" charset="-122"/>
                <a:cs typeface="Consolas" pitchFamily="34" charset="-120"/>
              </a:rPr>
              <a:t>04</a:t>
            </a:r>
            <a:endParaRPr lang="en-US" sz="850" dirty="0"/>
          </a:p>
        </p:txBody>
      </p:sp>
      <p:sp>
        <p:nvSpPr>
          <p:cNvPr id="20" name="Text 18"/>
          <p:cNvSpPr/>
          <p:nvPr/>
        </p:nvSpPr>
        <p:spPr>
          <a:xfrm>
            <a:off x="4800600" y="3803904"/>
            <a:ext cx="3694176" cy="45720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Certified, traceable close-out</a:t>
            </a:r>
            <a:endParaRPr lang="en-US" sz="1200" dirty="0"/>
          </a:p>
        </p:txBody>
      </p:sp>
      <p:sp>
        <p:nvSpPr>
          <p:cNvPr id="21" name="Text 19"/>
          <p:cNvSpPr/>
          <p:nvPr/>
        </p:nvSpPr>
        <p:spPr>
          <a:xfrm>
            <a:off x="4800600" y="4059936"/>
            <a:ext cx="3694176" cy="493776"/>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Numbered certificates, PDF test reports and job records cloud-synced to the job file, released after client acceptance — for maintenance records, insurer and appointed inspector.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F2B705"/>
                </a:solidFill>
                <a:latin typeface="Consolas" pitchFamily="34" charset="0"/>
                <a:ea typeface="Consolas" pitchFamily="34" charset="-122"/>
                <a:cs typeface="Consolas" pitchFamily="34" charset="-120"/>
              </a:rPr>
              <a:t>07 · APP PROCESS — QUALITY MANAGEMENT CENTER</a:t>
            </a:r>
            <a:endParaRPr lang="en-US" sz="900" dirty="0"/>
          </a:p>
        </p:txBody>
      </p:sp>
      <p:sp>
        <p:nvSpPr>
          <p:cNvPr id="3" name="Shape 1"/>
          <p:cNvSpPr/>
          <p:nvPr/>
        </p:nvSpPr>
        <p:spPr>
          <a:xfrm>
            <a:off x="502920" y="603504"/>
            <a:ext cx="1280160" cy="0"/>
          </a:xfrm>
          <a:prstGeom prst="line">
            <a:avLst/>
          </a:prstGeom>
          <a:noFill/>
          <a:ln w="25400">
            <a:solidFill>
              <a:srgbClr val="F2B705"/>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900" b="1" dirty="0">
                <a:solidFill>
                  <a:srgbClr val="E7E2D8"/>
                </a:solidFill>
                <a:latin typeface="Arial Narrow" pitchFamily="34" charset="0"/>
                <a:ea typeface="Arial Narrow" pitchFamily="34" charset="-122"/>
                <a:cs typeface="Arial Narrow" pitchFamily="34" charset="-120"/>
              </a:rPr>
              <a:t>HOW A JOB RUNS </a:t>
            </a:r>
            <a:pPr indent="0" marL="0">
              <a:lnSpc>
                <a:spcPct val="95000"/>
              </a:lnSpc>
              <a:buNone/>
            </a:pPr>
            <a:r>
              <a:rPr lang="en-US" sz="2900" b="1" dirty="0">
                <a:solidFill>
                  <a:srgbClr val="F2B705"/>
                </a:solidFill>
                <a:latin typeface="Arial Narrow" pitchFamily="34" charset="0"/>
                <a:ea typeface="Arial Narrow" pitchFamily="34" charset="-122"/>
                <a:cs typeface="Arial Narrow" pitchFamily="34" charset="-120"/>
              </a:rPr>
              <a:t>IN THE SYSTEM</a:t>
            </a:r>
            <a:endParaRPr lang="en-US" sz="2900" dirty="0"/>
          </a:p>
        </p:txBody>
      </p:sp>
      <p:sp>
        <p:nvSpPr>
          <p:cNvPr id="5" name="Text 3"/>
          <p:cNvSpPr/>
          <p:nvPr/>
        </p:nvSpPr>
        <p:spPr>
          <a:xfrm>
            <a:off x="502920" y="1444752"/>
            <a:ext cx="8138160" cy="365760"/>
          </a:xfrm>
          <a:prstGeom prst="rect">
            <a:avLst/>
          </a:prstGeom>
          <a:noFill/>
          <a:ln/>
        </p:spPr>
        <p:txBody>
          <a:bodyPr wrap="square" rtlCol="0" anchor="ctr"/>
          <a:lstStyle/>
          <a:p>
            <a:pPr indent="0" marL="0">
              <a:buNone/>
            </a:pPr>
            <a:r>
              <a:rPr lang="en-US" sz="1050" dirty="0">
                <a:solidFill>
                  <a:srgbClr val="A9A69E"/>
                </a:solidFill>
                <a:latin typeface="Arial" pitchFamily="34" charset="0"/>
                <a:ea typeface="Arial" pitchFamily="34" charset="-122"/>
                <a:cs typeface="Arial" pitchFamily="34" charset="-120"/>
              </a:rPr>
              <a:t>The website links into the live application at qmc.freeskillengineering.com — this is the process every job follows inside it:</a:t>
            </a:r>
            <a:endParaRPr lang="en-US" sz="1050" dirty="0"/>
          </a:p>
        </p:txBody>
      </p:sp>
      <p:sp>
        <p:nvSpPr>
          <p:cNvPr id="6" name="Shape 4"/>
          <p:cNvSpPr/>
          <p:nvPr/>
        </p:nvSpPr>
        <p:spPr>
          <a:xfrm>
            <a:off x="502920" y="1965960"/>
            <a:ext cx="1517904" cy="2011680"/>
          </a:xfrm>
          <a:prstGeom prst="roundRect">
            <a:avLst>
              <a:gd name="adj" fmla="val 2410"/>
            </a:avLst>
          </a:prstGeom>
          <a:solidFill>
            <a:srgbClr val="1D242B"/>
          </a:solidFill>
          <a:ln w="12700">
            <a:solidFill>
              <a:srgbClr val="3A444D"/>
            </a:solidFill>
            <a:prstDash val="solid"/>
          </a:ln>
        </p:spPr>
      </p:sp>
      <p:sp>
        <p:nvSpPr>
          <p:cNvPr id="7" name="Text 5"/>
          <p:cNvSpPr/>
          <p:nvPr/>
        </p:nvSpPr>
        <p:spPr>
          <a:xfrm>
            <a:off x="612648" y="2075688"/>
            <a:ext cx="640080" cy="201168"/>
          </a:xfrm>
          <a:prstGeom prst="rect">
            <a:avLst/>
          </a:prstGeom>
          <a:noFill/>
          <a:ln/>
        </p:spPr>
        <p:txBody>
          <a:bodyPr wrap="square" rtlCol="0" anchor="ctr"/>
          <a:lstStyle/>
          <a:p>
            <a:pPr indent="0" marL="0">
              <a:buNone/>
            </a:pPr>
            <a:r>
              <a:rPr lang="en-US" sz="900" b="1" dirty="0">
                <a:solidFill>
                  <a:srgbClr val="F2B705"/>
                </a:solidFill>
                <a:latin typeface="Consolas" pitchFamily="34" charset="0"/>
                <a:ea typeface="Consolas" pitchFamily="34" charset="-122"/>
                <a:cs typeface="Consolas" pitchFamily="34" charset="-120"/>
              </a:rPr>
              <a:t>01</a:t>
            </a:r>
            <a:endParaRPr lang="en-US" sz="900" dirty="0"/>
          </a:p>
        </p:txBody>
      </p:sp>
      <p:sp>
        <p:nvSpPr>
          <p:cNvPr id="8" name="Text 6"/>
          <p:cNvSpPr/>
          <p:nvPr/>
        </p:nvSpPr>
        <p:spPr>
          <a:xfrm>
            <a:off x="612648" y="2295144"/>
            <a:ext cx="1298448" cy="54864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Raise the job</a:t>
            </a:r>
            <a:endParaRPr lang="en-US" sz="1200" dirty="0"/>
          </a:p>
        </p:txBody>
      </p:sp>
      <p:sp>
        <p:nvSpPr>
          <p:cNvPr id="9" name="Text 7"/>
          <p:cNvSpPr/>
          <p:nvPr/>
        </p:nvSpPr>
        <p:spPr>
          <a:xfrm>
            <a:off x="612648" y="2807208"/>
            <a:ext cx="1298448" cy="1078992"/>
          </a:xfrm>
          <a:prstGeom prst="rect">
            <a:avLst/>
          </a:prstGeom>
          <a:noFill/>
          <a:ln/>
        </p:spPr>
        <p:txBody>
          <a:bodyPr wrap="square" rtlCol="0" anchor="t"/>
          <a:lstStyle/>
          <a:p>
            <a:pPr indent="0" marL="0">
              <a:lnSpc>
                <a:spcPct val="110000"/>
              </a:lnSpc>
              <a:buNone/>
            </a:pPr>
            <a:r>
              <a:rPr lang="en-US" sz="800" dirty="0">
                <a:solidFill>
                  <a:srgbClr val="A9A69E"/>
                </a:solidFill>
                <a:latin typeface="Arial" pitchFamily="34" charset="0"/>
                <a:ea typeface="Arial" pitchFamily="34" charset="-122"/>
                <a:cs typeface="Arial" pitchFamily="34" charset="-120"/>
              </a:rPr>
              <a:t>The defect list is logged against the client and equipment record — history, drawings and certificates pulled up in one place.</a:t>
            </a:r>
            <a:endParaRPr lang="en-US" sz="800" dirty="0"/>
          </a:p>
        </p:txBody>
      </p:sp>
      <p:sp>
        <p:nvSpPr>
          <p:cNvPr id="10" name="Text 8"/>
          <p:cNvSpPr/>
          <p:nvPr/>
        </p:nvSpPr>
        <p:spPr>
          <a:xfrm>
            <a:off x="2029968" y="2807208"/>
            <a:ext cx="164592" cy="329184"/>
          </a:xfrm>
          <a:prstGeom prst="rect">
            <a:avLst/>
          </a:prstGeom>
          <a:noFill/>
          <a:ln/>
        </p:spPr>
        <p:txBody>
          <a:bodyPr wrap="square" rtlCol="0" anchor="ctr"/>
          <a:lstStyle/>
          <a:p>
            <a:pPr algn="ctr" indent="0" marL="0">
              <a:buNone/>
            </a:pPr>
            <a:r>
              <a:rPr lang="en-US" sz="1500" b="1" dirty="0">
                <a:solidFill>
                  <a:srgbClr val="C4441F"/>
                </a:solidFill>
                <a:latin typeface="Arial" pitchFamily="34" charset="0"/>
                <a:ea typeface="Arial" pitchFamily="34" charset="-122"/>
                <a:cs typeface="Arial" pitchFamily="34" charset="-120"/>
              </a:rPr>
              <a:t>→</a:t>
            </a:r>
            <a:endParaRPr lang="en-US" sz="1500" dirty="0"/>
          </a:p>
        </p:txBody>
      </p:sp>
      <p:sp>
        <p:nvSpPr>
          <p:cNvPr id="11" name="Shape 9"/>
          <p:cNvSpPr/>
          <p:nvPr/>
        </p:nvSpPr>
        <p:spPr>
          <a:xfrm>
            <a:off x="2203704" y="1965960"/>
            <a:ext cx="1517904" cy="2011680"/>
          </a:xfrm>
          <a:prstGeom prst="roundRect">
            <a:avLst>
              <a:gd name="adj" fmla="val 2410"/>
            </a:avLst>
          </a:prstGeom>
          <a:solidFill>
            <a:srgbClr val="1D242B"/>
          </a:solidFill>
          <a:ln w="12700">
            <a:solidFill>
              <a:srgbClr val="3A444D"/>
            </a:solidFill>
            <a:prstDash val="solid"/>
          </a:ln>
        </p:spPr>
      </p:sp>
      <p:sp>
        <p:nvSpPr>
          <p:cNvPr id="12" name="Text 10"/>
          <p:cNvSpPr/>
          <p:nvPr/>
        </p:nvSpPr>
        <p:spPr>
          <a:xfrm>
            <a:off x="2313432" y="2075688"/>
            <a:ext cx="640080" cy="201168"/>
          </a:xfrm>
          <a:prstGeom prst="rect">
            <a:avLst/>
          </a:prstGeom>
          <a:noFill/>
          <a:ln/>
        </p:spPr>
        <p:txBody>
          <a:bodyPr wrap="square" rtlCol="0" anchor="ctr"/>
          <a:lstStyle/>
          <a:p>
            <a:pPr indent="0" marL="0">
              <a:buNone/>
            </a:pPr>
            <a:r>
              <a:rPr lang="en-US" sz="900" b="1" dirty="0">
                <a:solidFill>
                  <a:srgbClr val="F2B705"/>
                </a:solidFill>
                <a:latin typeface="Consolas" pitchFamily="34" charset="0"/>
                <a:ea typeface="Consolas" pitchFamily="34" charset="-122"/>
                <a:cs typeface="Consolas" pitchFamily="34" charset="-120"/>
              </a:rPr>
              <a:t>02</a:t>
            </a:r>
            <a:endParaRPr lang="en-US" sz="900" dirty="0"/>
          </a:p>
        </p:txBody>
      </p:sp>
      <p:sp>
        <p:nvSpPr>
          <p:cNvPr id="13" name="Text 11"/>
          <p:cNvSpPr/>
          <p:nvPr/>
        </p:nvSpPr>
        <p:spPr>
          <a:xfrm>
            <a:off x="2313432" y="2295144"/>
            <a:ext cx="1298448" cy="54864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Plans &amp; approvals</a:t>
            </a:r>
            <a:endParaRPr lang="en-US" sz="1200" dirty="0"/>
          </a:p>
        </p:txBody>
      </p:sp>
      <p:sp>
        <p:nvSpPr>
          <p:cNvPr id="14" name="Text 12"/>
          <p:cNvSpPr/>
          <p:nvPr/>
        </p:nvSpPr>
        <p:spPr>
          <a:xfrm>
            <a:off x="2313432" y="2807208"/>
            <a:ext cx="1298448" cy="1078992"/>
          </a:xfrm>
          <a:prstGeom prst="rect">
            <a:avLst/>
          </a:prstGeom>
          <a:noFill/>
          <a:ln/>
        </p:spPr>
        <p:txBody>
          <a:bodyPr wrap="square" rtlCol="0" anchor="t"/>
          <a:lstStyle/>
          <a:p>
            <a:pPr indent="0" marL="0">
              <a:lnSpc>
                <a:spcPct val="110000"/>
              </a:lnSpc>
              <a:buNone/>
            </a:pPr>
            <a:r>
              <a:rPr lang="en-US" sz="800" dirty="0">
                <a:solidFill>
                  <a:srgbClr val="A9A69E"/>
                </a:solidFill>
                <a:latin typeface="Arial" pitchFamily="34" charset="0"/>
                <a:ea typeface="Arial" pitchFamily="34" charset="-122"/>
                <a:cs typeface="Arial" pitchFamily="34" charset="-120"/>
              </a:rPr>
              <a:t>ITP, method statement and JSA generated in-system; repair-notice documents sent to DOSH and approved before any hot work.</a:t>
            </a:r>
            <a:endParaRPr lang="en-US" sz="800" dirty="0"/>
          </a:p>
        </p:txBody>
      </p:sp>
      <p:sp>
        <p:nvSpPr>
          <p:cNvPr id="15" name="Text 13"/>
          <p:cNvSpPr/>
          <p:nvPr/>
        </p:nvSpPr>
        <p:spPr>
          <a:xfrm>
            <a:off x="3730752" y="2807208"/>
            <a:ext cx="164592" cy="329184"/>
          </a:xfrm>
          <a:prstGeom prst="rect">
            <a:avLst/>
          </a:prstGeom>
          <a:noFill/>
          <a:ln/>
        </p:spPr>
        <p:txBody>
          <a:bodyPr wrap="square" rtlCol="0" anchor="ctr"/>
          <a:lstStyle/>
          <a:p>
            <a:pPr algn="ctr" indent="0" marL="0">
              <a:buNone/>
            </a:pPr>
            <a:r>
              <a:rPr lang="en-US" sz="1500" b="1" dirty="0">
                <a:solidFill>
                  <a:srgbClr val="C4441F"/>
                </a:solidFill>
                <a:latin typeface="Arial" pitchFamily="34" charset="0"/>
                <a:ea typeface="Arial" pitchFamily="34" charset="-122"/>
                <a:cs typeface="Arial" pitchFamily="34" charset="-120"/>
              </a:rPr>
              <a:t>→</a:t>
            </a:r>
            <a:endParaRPr lang="en-US" sz="1500" dirty="0"/>
          </a:p>
        </p:txBody>
      </p:sp>
      <p:sp>
        <p:nvSpPr>
          <p:cNvPr id="16" name="Shape 14"/>
          <p:cNvSpPr/>
          <p:nvPr/>
        </p:nvSpPr>
        <p:spPr>
          <a:xfrm>
            <a:off x="3904488" y="1965960"/>
            <a:ext cx="1517904" cy="2011680"/>
          </a:xfrm>
          <a:prstGeom prst="roundRect">
            <a:avLst>
              <a:gd name="adj" fmla="val 2410"/>
            </a:avLst>
          </a:prstGeom>
          <a:solidFill>
            <a:srgbClr val="1D242B"/>
          </a:solidFill>
          <a:ln w="12700">
            <a:solidFill>
              <a:srgbClr val="3A444D"/>
            </a:solidFill>
            <a:prstDash val="solid"/>
          </a:ln>
        </p:spPr>
      </p:sp>
      <p:sp>
        <p:nvSpPr>
          <p:cNvPr id="17" name="Text 15"/>
          <p:cNvSpPr/>
          <p:nvPr/>
        </p:nvSpPr>
        <p:spPr>
          <a:xfrm>
            <a:off x="4014216" y="2075688"/>
            <a:ext cx="640080" cy="201168"/>
          </a:xfrm>
          <a:prstGeom prst="rect">
            <a:avLst/>
          </a:prstGeom>
          <a:noFill/>
          <a:ln/>
        </p:spPr>
        <p:txBody>
          <a:bodyPr wrap="square" rtlCol="0" anchor="ctr"/>
          <a:lstStyle/>
          <a:p>
            <a:pPr indent="0" marL="0">
              <a:buNone/>
            </a:pPr>
            <a:r>
              <a:rPr lang="en-US" sz="900" b="1" dirty="0">
                <a:solidFill>
                  <a:srgbClr val="F2B705"/>
                </a:solidFill>
                <a:latin typeface="Consolas" pitchFamily="34" charset="0"/>
                <a:ea typeface="Consolas" pitchFamily="34" charset="-122"/>
                <a:cs typeface="Consolas" pitchFamily="34" charset="-120"/>
              </a:rPr>
              <a:t>03</a:t>
            </a:r>
            <a:endParaRPr lang="en-US" sz="900" dirty="0"/>
          </a:p>
        </p:txBody>
      </p:sp>
      <p:sp>
        <p:nvSpPr>
          <p:cNvPr id="18" name="Text 16"/>
          <p:cNvSpPr/>
          <p:nvPr/>
        </p:nvSpPr>
        <p:spPr>
          <a:xfrm>
            <a:off x="4014216" y="2295144"/>
            <a:ext cx="1298448" cy="54864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Qualified execution</a:t>
            </a:r>
            <a:endParaRPr lang="en-US" sz="1200" dirty="0"/>
          </a:p>
        </p:txBody>
      </p:sp>
      <p:sp>
        <p:nvSpPr>
          <p:cNvPr id="19" name="Text 17"/>
          <p:cNvSpPr/>
          <p:nvPr/>
        </p:nvSpPr>
        <p:spPr>
          <a:xfrm>
            <a:off x="4014216" y="2807208"/>
            <a:ext cx="1298448" cy="1078992"/>
          </a:xfrm>
          <a:prstGeom prst="rect">
            <a:avLst/>
          </a:prstGeom>
          <a:noFill/>
          <a:ln/>
        </p:spPr>
        <p:txBody>
          <a:bodyPr wrap="square" rtlCol="0" anchor="t"/>
          <a:lstStyle/>
          <a:p>
            <a:pPr indent="0" marL="0">
              <a:lnSpc>
                <a:spcPct val="110000"/>
              </a:lnSpc>
              <a:buNone/>
            </a:pPr>
            <a:r>
              <a:rPr lang="en-US" sz="800" dirty="0">
                <a:solidFill>
                  <a:srgbClr val="A9A69E"/>
                </a:solidFill>
                <a:latin typeface="Arial" pitchFamily="34" charset="0"/>
                <a:ea typeface="Arial" pitchFamily="34" charset="-122"/>
                <a:cs typeface="Arial" pitchFamily="34" charset="-120"/>
              </a:rPr>
              <a:t>WPS/PQR and welder qualifications matched to the job, with the workshop updating progress live as the repair runs.</a:t>
            </a:r>
            <a:endParaRPr lang="en-US" sz="800" dirty="0"/>
          </a:p>
        </p:txBody>
      </p:sp>
      <p:sp>
        <p:nvSpPr>
          <p:cNvPr id="20" name="Text 18"/>
          <p:cNvSpPr/>
          <p:nvPr/>
        </p:nvSpPr>
        <p:spPr>
          <a:xfrm>
            <a:off x="5431536" y="2807208"/>
            <a:ext cx="164592" cy="329184"/>
          </a:xfrm>
          <a:prstGeom prst="rect">
            <a:avLst/>
          </a:prstGeom>
          <a:noFill/>
          <a:ln/>
        </p:spPr>
        <p:txBody>
          <a:bodyPr wrap="square" rtlCol="0" anchor="ctr"/>
          <a:lstStyle/>
          <a:p>
            <a:pPr algn="ctr" indent="0" marL="0">
              <a:buNone/>
            </a:pPr>
            <a:r>
              <a:rPr lang="en-US" sz="1500" b="1" dirty="0">
                <a:solidFill>
                  <a:srgbClr val="C4441F"/>
                </a:solidFill>
                <a:latin typeface="Arial" pitchFamily="34" charset="0"/>
                <a:ea typeface="Arial" pitchFamily="34" charset="-122"/>
                <a:cs typeface="Arial" pitchFamily="34" charset="-120"/>
              </a:rPr>
              <a:t>→</a:t>
            </a:r>
            <a:endParaRPr lang="en-US" sz="1500" dirty="0"/>
          </a:p>
        </p:txBody>
      </p:sp>
      <p:sp>
        <p:nvSpPr>
          <p:cNvPr id="21" name="Shape 19"/>
          <p:cNvSpPr/>
          <p:nvPr/>
        </p:nvSpPr>
        <p:spPr>
          <a:xfrm>
            <a:off x="5605272" y="1965960"/>
            <a:ext cx="1517904" cy="2011680"/>
          </a:xfrm>
          <a:prstGeom prst="roundRect">
            <a:avLst>
              <a:gd name="adj" fmla="val 2410"/>
            </a:avLst>
          </a:prstGeom>
          <a:solidFill>
            <a:srgbClr val="1D242B"/>
          </a:solidFill>
          <a:ln w="12700">
            <a:solidFill>
              <a:srgbClr val="3A444D"/>
            </a:solidFill>
            <a:prstDash val="solid"/>
          </a:ln>
        </p:spPr>
      </p:sp>
      <p:sp>
        <p:nvSpPr>
          <p:cNvPr id="22" name="Text 20"/>
          <p:cNvSpPr/>
          <p:nvPr/>
        </p:nvSpPr>
        <p:spPr>
          <a:xfrm>
            <a:off x="5715000" y="2075688"/>
            <a:ext cx="640080" cy="201168"/>
          </a:xfrm>
          <a:prstGeom prst="rect">
            <a:avLst/>
          </a:prstGeom>
          <a:noFill/>
          <a:ln/>
        </p:spPr>
        <p:txBody>
          <a:bodyPr wrap="square" rtlCol="0" anchor="ctr"/>
          <a:lstStyle/>
          <a:p>
            <a:pPr indent="0" marL="0">
              <a:buNone/>
            </a:pPr>
            <a:r>
              <a:rPr lang="en-US" sz="900" b="1" dirty="0">
                <a:solidFill>
                  <a:srgbClr val="F2B705"/>
                </a:solidFill>
                <a:latin typeface="Consolas" pitchFamily="34" charset="0"/>
                <a:ea typeface="Consolas" pitchFamily="34" charset="-122"/>
                <a:cs typeface="Consolas" pitchFamily="34" charset="-120"/>
              </a:rPr>
              <a:t>04</a:t>
            </a:r>
            <a:endParaRPr lang="en-US" sz="900" dirty="0"/>
          </a:p>
        </p:txBody>
      </p:sp>
      <p:sp>
        <p:nvSpPr>
          <p:cNvPr id="23" name="Text 21"/>
          <p:cNvSpPr/>
          <p:nvPr/>
        </p:nvSpPr>
        <p:spPr>
          <a:xfrm>
            <a:off x="5715000" y="2295144"/>
            <a:ext cx="1298448" cy="54864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Test &amp; decide</a:t>
            </a:r>
            <a:endParaRPr lang="en-US" sz="1200" dirty="0"/>
          </a:p>
        </p:txBody>
      </p:sp>
      <p:sp>
        <p:nvSpPr>
          <p:cNvPr id="24" name="Text 22"/>
          <p:cNvSpPr/>
          <p:nvPr/>
        </p:nvSpPr>
        <p:spPr>
          <a:xfrm>
            <a:off x="5715000" y="2807208"/>
            <a:ext cx="1298448" cy="1078992"/>
          </a:xfrm>
          <a:prstGeom prst="rect">
            <a:avLst/>
          </a:prstGeom>
          <a:noFill/>
          <a:ln/>
        </p:spPr>
        <p:txBody>
          <a:bodyPr wrap="square" rtlCol="0" anchor="t"/>
          <a:lstStyle/>
          <a:p>
            <a:pPr indent="0" marL="0">
              <a:lnSpc>
                <a:spcPct val="110000"/>
              </a:lnSpc>
              <a:buNone/>
            </a:pPr>
            <a:r>
              <a:rPr lang="en-US" sz="800" dirty="0">
                <a:solidFill>
                  <a:srgbClr val="A9A69E"/>
                </a:solidFill>
                <a:latin typeface="Arial" pitchFamily="34" charset="0"/>
                <a:ea typeface="Arial" pitchFamily="34" charset="-122"/>
                <a:cs typeface="Arial" pitchFamily="34" charset="-120"/>
              </a:rPr>
              <a:t>Inspections recorded and acceptance criteria answered within minutes — results sent to the inspector or client without delay.</a:t>
            </a:r>
            <a:endParaRPr lang="en-US" sz="800" dirty="0"/>
          </a:p>
        </p:txBody>
      </p:sp>
      <p:sp>
        <p:nvSpPr>
          <p:cNvPr id="25" name="Text 23"/>
          <p:cNvSpPr/>
          <p:nvPr/>
        </p:nvSpPr>
        <p:spPr>
          <a:xfrm>
            <a:off x="7132320" y="2807208"/>
            <a:ext cx="164592" cy="329184"/>
          </a:xfrm>
          <a:prstGeom prst="rect">
            <a:avLst/>
          </a:prstGeom>
          <a:noFill/>
          <a:ln/>
        </p:spPr>
        <p:txBody>
          <a:bodyPr wrap="square" rtlCol="0" anchor="ctr"/>
          <a:lstStyle/>
          <a:p>
            <a:pPr algn="ctr" indent="0" marL="0">
              <a:buNone/>
            </a:pPr>
            <a:r>
              <a:rPr lang="en-US" sz="1500" b="1" dirty="0">
                <a:solidFill>
                  <a:srgbClr val="C4441F"/>
                </a:solidFill>
                <a:latin typeface="Arial" pitchFamily="34" charset="0"/>
                <a:ea typeface="Arial" pitchFamily="34" charset="-122"/>
                <a:cs typeface="Arial" pitchFamily="34" charset="-120"/>
              </a:rPr>
              <a:t>→</a:t>
            </a:r>
            <a:endParaRPr lang="en-US" sz="1500" dirty="0"/>
          </a:p>
        </p:txBody>
      </p:sp>
      <p:sp>
        <p:nvSpPr>
          <p:cNvPr id="26" name="Shape 24"/>
          <p:cNvSpPr/>
          <p:nvPr/>
        </p:nvSpPr>
        <p:spPr>
          <a:xfrm>
            <a:off x="7306056" y="1965960"/>
            <a:ext cx="1517904" cy="2011680"/>
          </a:xfrm>
          <a:prstGeom prst="roundRect">
            <a:avLst>
              <a:gd name="adj" fmla="val 2410"/>
            </a:avLst>
          </a:prstGeom>
          <a:solidFill>
            <a:srgbClr val="1D242B"/>
          </a:solidFill>
          <a:ln w="12700">
            <a:solidFill>
              <a:srgbClr val="3A444D"/>
            </a:solidFill>
            <a:prstDash val="solid"/>
          </a:ln>
        </p:spPr>
      </p:sp>
      <p:sp>
        <p:nvSpPr>
          <p:cNvPr id="27" name="Text 25"/>
          <p:cNvSpPr/>
          <p:nvPr/>
        </p:nvSpPr>
        <p:spPr>
          <a:xfrm>
            <a:off x="7415784" y="2075688"/>
            <a:ext cx="640080" cy="201168"/>
          </a:xfrm>
          <a:prstGeom prst="rect">
            <a:avLst/>
          </a:prstGeom>
          <a:noFill/>
          <a:ln/>
        </p:spPr>
        <p:txBody>
          <a:bodyPr wrap="square" rtlCol="0" anchor="ctr"/>
          <a:lstStyle/>
          <a:p>
            <a:pPr indent="0" marL="0">
              <a:buNone/>
            </a:pPr>
            <a:r>
              <a:rPr lang="en-US" sz="900" b="1" dirty="0">
                <a:solidFill>
                  <a:srgbClr val="F2B705"/>
                </a:solidFill>
                <a:latin typeface="Consolas" pitchFamily="34" charset="0"/>
                <a:ea typeface="Consolas" pitchFamily="34" charset="-122"/>
                <a:cs typeface="Consolas" pitchFamily="34" charset="-120"/>
              </a:rPr>
              <a:t>05</a:t>
            </a:r>
            <a:endParaRPr lang="en-US" sz="900" dirty="0"/>
          </a:p>
        </p:txBody>
      </p:sp>
      <p:sp>
        <p:nvSpPr>
          <p:cNvPr id="28" name="Text 26"/>
          <p:cNvSpPr/>
          <p:nvPr/>
        </p:nvSpPr>
        <p:spPr>
          <a:xfrm>
            <a:off x="7415784" y="2295144"/>
            <a:ext cx="1298448" cy="548640"/>
          </a:xfrm>
          <a:prstGeom prst="rect">
            <a:avLst/>
          </a:prstGeom>
          <a:noFill/>
          <a:ln/>
        </p:spPr>
        <p:txBody>
          <a:bodyPr wrap="square" rtlCol="0" anchor="t"/>
          <a:lstStyle/>
          <a:p>
            <a:pPr indent="0" marL="0">
              <a:lnSpc>
                <a:spcPct val="98000"/>
              </a:lnSpc>
              <a:buNone/>
            </a:pPr>
            <a:r>
              <a:rPr lang="en-US" sz="1200" b="1" dirty="0">
                <a:solidFill>
                  <a:srgbClr val="E7E2D8"/>
                </a:solidFill>
                <a:latin typeface="Arial Narrow" pitchFamily="34" charset="0"/>
                <a:ea typeface="Arial Narrow" pitchFamily="34" charset="-122"/>
                <a:cs typeface="Arial Narrow" pitchFamily="34" charset="-120"/>
              </a:rPr>
              <a:t>Handover</a:t>
            </a:r>
            <a:endParaRPr lang="en-US" sz="1200" dirty="0"/>
          </a:p>
        </p:txBody>
      </p:sp>
      <p:sp>
        <p:nvSpPr>
          <p:cNvPr id="29" name="Text 27"/>
          <p:cNvSpPr/>
          <p:nvPr/>
        </p:nvSpPr>
        <p:spPr>
          <a:xfrm>
            <a:off x="7415784" y="2807208"/>
            <a:ext cx="1298448" cy="1078992"/>
          </a:xfrm>
          <a:prstGeom prst="rect">
            <a:avLst/>
          </a:prstGeom>
          <a:noFill/>
          <a:ln/>
        </p:spPr>
        <p:txBody>
          <a:bodyPr wrap="square" rtlCol="0" anchor="t"/>
          <a:lstStyle/>
          <a:p>
            <a:pPr indent="0" marL="0">
              <a:lnSpc>
                <a:spcPct val="110000"/>
              </a:lnSpc>
              <a:buNone/>
            </a:pPr>
            <a:r>
              <a:rPr lang="en-US" sz="800" dirty="0">
                <a:solidFill>
                  <a:srgbClr val="A9A69E"/>
                </a:solidFill>
                <a:latin typeface="Arial" pitchFamily="34" charset="0"/>
                <a:ea typeface="Arial" pitchFamily="34" charset="-122"/>
                <a:cs typeface="Arial" pitchFamily="34" charset="-120"/>
              </a:rPr>
              <a:t>Numbered certificate, PDF test reports and the complete, ordered job file released after client acceptance.</a:t>
            </a:r>
            <a:endParaRPr lang="en-US" sz="800" dirty="0"/>
          </a:p>
        </p:txBody>
      </p:sp>
      <p:sp>
        <p:nvSpPr>
          <p:cNvPr id="30" name="Shape 28"/>
          <p:cNvSpPr/>
          <p:nvPr/>
        </p:nvSpPr>
        <p:spPr>
          <a:xfrm>
            <a:off x="502920" y="4160520"/>
            <a:ext cx="8138160" cy="502920"/>
          </a:xfrm>
          <a:prstGeom prst="rect">
            <a:avLst/>
          </a:prstGeom>
          <a:solidFill>
            <a:srgbClr val="1D242B">
              <a:alpha val="60000"/>
            </a:srgbClr>
          </a:solidFill>
          <a:ln w="12700">
            <a:solidFill>
              <a:srgbClr val="F2B705"/>
            </a:solidFill>
            <a:prstDash val="solid"/>
          </a:ln>
        </p:spPr>
      </p:sp>
      <p:sp>
        <p:nvSpPr>
          <p:cNvPr id="31" name="Shape 29"/>
          <p:cNvSpPr/>
          <p:nvPr/>
        </p:nvSpPr>
        <p:spPr>
          <a:xfrm>
            <a:off x="502920" y="4160520"/>
            <a:ext cx="45720" cy="502920"/>
          </a:xfrm>
          <a:prstGeom prst="rect">
            <a:avLst/>
          </a:prstGeom>
          <a:solidFill>
            <a:srgbClr val="F2B705"/>
          </a:solidFill>
          <a:ln w="12700">
            <a:solidFill>
              <a:srgbClr val="333333"/>
            </a:solidFill>
            <a:prstDash val="solid"/>
          </a:ln>
        </p:spPr>
      </p:sp>
      <p:sp>
        <p:nvSpPr>
          <p:cNvPr id="32" name="Text 30"/>
          <p:cNvSpPr/>
          <p:nvPr/>
        </p:nvSpPr>
        <p:spPr>
          <a:xfrm>
            <a:off x="667512" y="4233672"/>
            <a:ext cx="7827264" cy="356616"/>
          </a:xfrm>
          <a:prstGeom prst="rect">
            <a:avLst/>
          </a:prstGeom>
          <a:noFill/>
          <a:ln/>
        </p:spPr>
        <p:txBody>
          <a:bodyPr wrap="square" rtlCol="0" anchor="ctr"/>
          <a:lstStyle/>
          <a:p>
            <a:pPr indent="0" marL="0">
              <a:lnSpc>
                <a:spcPct val="125000"/>
              </a:lnSpc>
              <a:buNone/>
            </a:pPr>
            <a:r>
              <a:rPr lang="en-US" sz="800" spc="40" kern="0" dirty="0">
                <a:solidFill>
                  <a:srgbClr val="A9A69E"/>
                </a:solidFill>
                <a:latin typeface="Consolas" pitchFamily="34" charset="0"/>
                <a:ea typeface="Consolas" pitchFamily="34" charset="-122"/>
                <a:cs typeface="Consolas" pitchFamily="34" charset="-120"/>
              </a:rPr>
              <a:t>THE QMC IS THE SINGLE SOURCE FOR CF EXPIRY DATES, PROJECT MONITORING, APPROVAL DOCUMENTS, INSPECTION PLANS, WELDER &amp; WELDING RECORDS, PROCEDURES, TEST RESULTS AND CERTIFICATES — EVERY JOB FILE STAYS THERE, IN ORDER, FROM DEFECT LIST TO SIGNED-OFF HANDOVER.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F2B705"/>
                </a:solidFill>
                <a:latin typeface="Consolas" pitchFamily="34" charset="0"/>
                <a:ea typeface="Consolas" pitchFamily="34" charset="-122"/>
                <a:cs typeface="Consolas" pitchFamily="34" charset="-120"/>
              </a:rPr>
              <a:t>08 · APP PROCESS — INSIDE THE QUALITY MANAGEMENT CENTER</a:t>
            </a:r>
            <a:endParaRPr lang="en-US" sz="900" dirty="0"/>
          </a:p>
        </p:txBody>
      </p:sp>
      <p:sp>
        <p:nvSpPr>
          <p:cNvPr id="3" name="Shape 1"/>
          <p:cNvSpPr/>
          <p:nvPr/>
        </p:nvSpPr>
        <p:spPr>
          <a:xfrm>
            <a:off x="502920" y="603504"/>
            <a:ext cx="1280160" cy="0"/>
          </a:xfrm>
          <a:prstGeom prst="line">
            <a:avLst/>
          </a:prstGeom>
          <a:noFill/>
          <a:ln w="25400">
            <a:solidFill>
              <a:srgbClr val="F2B705"/>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800" b="1" dirty="0">
                <a:solidFill>
                  <a:srgbClr val="E7E2D8"/>
                </a:solidFill>
                <a:latin typeface="Arial Narrow" pitchFamily="34" charset="0"/>
                <a:ea typeface="Arial Narrow" pitchFamily="34" charset="-122"/>
                <a:cs typeface="Arial Narrow" pitchFamily="34" charset="-120"/>
              </a:rPr>
              <a:t>WHAT THE APPLICATION </a:t>
            </a:r>
            <a:pPr indent="0" marL="0">
              <a:lnSpc>
                <a:spcPct val="95000"/>
              </a:lnSpc>
              <a:buNone/>
            </a:pPr>
            <a:r>
              <a:rPr lang="en-US" sz="2800" b="1" dirty="0">
                <a:solidFill>
                  <a:srgbClr val="F2B705"/>
                </a:solidFill>
                <a:latin typeface="Arial Narrow" pitchFamily="34" charset="0"/>
                <a:ea typeface="Arial Narrow" pitchFamily="34" charset="-122"/>
                <a:cs typeface="Arial Narrow" pitchFamily="34" charset="-120"/>
              </a:rPr>
              <a:t>HANDLES</a:t>
            </a:r>
            <a:endParaRPr lang="en-US" sz="2800" dirty="0"/>
          </a:p>
        </p:txBody>
      </p:sp>
      <p:sp>
        <p:nvSpPr>
          <p:cNvPr id="5" name="Text 3"/>
          <p:cNvSpPr/>
          <p:nvPr/>
        </p:nvSpPr>
        <p:spPr>
          <a:xfrm>
            <a:off x="502920" y="1426464"/>
            <a:ext cx="8138160" cy="274320"/>
          </a:xfrm>
          <a:prstGeom prst="rect">
            <a:avLst/>
          </a:prstGeom>
          <a:noFill/>
          <a:ln/>
        </p:spPr>
        <p:txBody>
          <a:bodyPr wrap="square" rtlCol="0" anchor="ctr"/>
          <a:lstStyle/>
          <a:p>
            <a:pPr indent="0" marL="0">
              <a:buNone/>
            </a:pPr>
            <a:r>
              <a:rPr lang="en-US" sz="950" spc="100" kern="0" dirty="0">
                <a:solidFill>
                  <a:srgbClr val="F2B705"/>
                </a:solidFill>
                <a:latin typeface="Consolas" pitchFamily="34" charset="0"/>
                <a:ea typeface="Consolas" pitchFamily="34" charset="-122"/>
                <a:cs typeface="Consolas" pitchFamily="34" charset="-120"/>
              </a:rPr>
              <a:t>qmc.freeskillengineering.com  ·  cloud sync &amp; PDF reports</a:t>
            </a:r>
            <a:endParaRPr lang="en-US" sz="950" dirty="0"/>
          </a:p>
        </p:txBody>
      </p:sp>
      <p:sp>
        <p:nvSpPr>
          <p:cNvPr id="6" name="Shape 4"/>
          <p:cNvSpPr/>
          <p:nvPr/>
        </p:nvSpPr>
        <p:spPr>
          <a:xfrm>
            <a:off x="502920" y="1810512"/>
            <a:ext cx="3986784" cy="2834640"/>
          </a:xfrm>
          <a:prstGeom prst="roundRect">
            <a:avLst>
              <a:gd name="adj" fmla="val 1290"/>
            </a:avLst>
          </a:prstGeom>
          <a:solidFill>
            <a:srgbClr val="1D242B"/>
          </a:solidFill>
          <a:ln w="12700">
            <a:solidFill>
              <a:srgbClr val="3A444D"/>
            </a:solidFill>
            <a:prstDash val="solid"/>
          </a:ln>
        </p:spPr>
      </p:sp>
      <p:sp>
        <p:nvSpPr>
          <p:cNvPr id="7" name="Shape 5"/>
          <p:cNvSpPr/>
          <p:nvPr/>
        </p:nvSpPr>
        <p:spPr>
          <a:xfrm>
            <a:off x="4654296" y="1810512"/>
            <a:ext cx="3986784" cy="2834640"/>
          </a:xfrm>
          <a:prstGeom prst="roundRect">
            <a:avLst>
              <a:gd name="adj" fmla="val 1290"/>
            </a:avLst>
          </a:prstGeom>
          <a:solidFill>
            <a:srgbClr val="1D242B"/>
          </a:solidFill>
          <a:ln w="12700">
            <a:solidFill>
              <a:srgbClr val="3A444D"/>
            </a:solidFill>
            <a:prstDash val="solid"/>
          </a:ln>
        </p:spPr>
      </p:sp>
      <p:sp>
        <p:nvSpPr>
          <p:cNvPr id="8" name="Text 6"/>
          <p:cNvSpPr/>
          <p:nvPr/>
        </p:nvSpPr>
        <p:spPr>
          <a:xfrm>
            <a:off x="685800" y="1956816"/>
            <a:ext cx="3657600" cy="22860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PLANS &amp; QUALIFICATIONS</a:t>
            </a:r>
            <a:endParaRPr lang="en-US" sz="900" dirty="0"/>
          </a:p>
        </p:txBody>
      </p:sp>
      <p:sp>
        <p:nvSpPr>
          <p:cNvPr id="9" name="Text 7"/>
          <p:cNvSpPr/>
          <p:nvPr/>
        </p:nvSpPr>
        <p:spPr>
          <a:xfrm>
            <a:off x="4837176" y="1956816"/>
            <a:ext cx="3657600" cy="228600"/>
          </a:xfrm>
          <a:prstGeom prst="rect">
            <a:avLst/>
          </a:prstGeom>
          <a:noFill/>
          <a:ln/>
        </p:spPr>
        <p:txBody>
          <a:bodyPr wrap="square" rtlCol="0" anchor="ctr"/>
          <a:lstStyle/>
          <a:p>
            <a:pPr indent="0" marL="0">
              <a:buNone/>
            </a:pPr>
            <a:r>
              <a:rPr lang="en-US" sz="900" spc="150" kern="0" dirty="0">
                <a:solidFill>
                  <a:srgbClr val="F2B705"/>
                </a:solidFill>
                <a:latin typeface="Consolas" pitchFamily="34" charset="0"/>
                <a:ea typeface="Consolas" pitchFamily="34" charset="-122"/>
                <a:cs typeface="Consolas" pitchFamily="34" charset="-120"/>
              </a:rPr>
              <a:t>RECORDS, TESTS &amp; CERTIFICATES</a:t>
            </a:r>
            <a:endParaRPr lang="en-US" sz="900" dirty="0"/>
          </a:p>
        </p:txBody>
      </p:sp>
      <p:sp>
        <p:nvSpPr>
          <p:cNvPr id="10" name="Text 8"/>
          <p:cNvSpPr/>
          <p:nvPr/>
        </p:nvSpPr>
        <p:spPr>
          <a:xfrm>
            <a:off x="685800" y="2267712"/>
            <a:ext cx="3657600" cy="2286000"/>
          </a:xfrm>
          <a:prstGeom prst="rect">
            <a:avLst/>
          </a:prstGeom>
          <a:noFill/>
          <a:ln/>
        </p:spPr>
        <p:txBody>
          <a:bodyPr wrap="square" rtlCol="0" anchor="t"/>
          <a:lstStyle/>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Inspection &amp; Test Plans (ITP)</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Method Statements</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Job Safety Analysis (JSA)</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WPS / PQR / QW-301 documents</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Welder qualification — ASME IX &amp; ISO/BS EN 15614</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Welder continuity records</a:t>
            </a:r>
            <a:endParaRPr lang="en-US" sz="1050" dirty="0"/>
          </a:p>
        </p:txBody>
      </p:sp>
      <p:sp>
        <p:nvSpPr>
          <p:cNvPr id="11" name="Text 9"/>
          <p:cNvSpPr/>
          <p:nvPr/>
        </p:nvSpPr>
        <p:spPr>
          <a:xfrm>
            <a:off x="4837176" y="2267712"/>
            <a:ext cx="3657600" cy="2286000"/>
          </a:xfrm>
          <a:prstGeom prst="rect">
            <a:avLst/>
          </a:prstGeom>
          <a:noFill/>
          <a:ln/>
        </p:spPr>
        <p:txBody>
          <a:bodyPr wrap="square" rtlCol="0" anchor="t"/>
          <a:lstStyle/>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Defect assessments &amp; thickness measurements</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Hydrostatic, bubble and thickness test reports</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Safety valve &amp; inspection results</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Numbered certificates with client acceptance</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Cloud job files with PDF export</a:t>
            </a:r>
            <a:endParaRPr lang="en-US" sz="1050" dirty="0"/>
          </a:p>
          <a:p>
            <a:pPr marL="342900" indent="-342900">
              <a:lnSpc>
                <a:spcPct val="110000"/>
              </a:lnSpc>
              <a:spcAft>
                <a:spcPts val="600"/>
              </a:spcAft>
              <a:buSzPct val="100000"/>
              <a:buChar char="▪"/>
            </a:pPr>
            <a:r>
              <a:rPr lang="en-US" sz="1050" dirty="0">
                <a:solidFill>
                  <a:srgbClr val="E7E2D8"/>
                </a:solidFill>
                <a:latin typeface="Arial" pitchFamily="34" charset="0"/>
                <a:ea typeface="Arial" pitchFamily="34" charset="-122"/>
                <a:cs typeface="Arial" pitchFamily="34" charset="-120"/>
              </a:rPr>
              <a:t>Live progress link for clients &amp; inspectors (comments in-system)</a:t>
            </a:r>
            <a:endParaRPr lang="en-US" sz="1050" dirty="0"/>
          </a:p>
        </p:txBody>
      </p:sp>
      <p:sp>
        <p:nvSpPr>
          <p:cNvPr id="12" name="Text 10"/>
          <p:cNvSpPr/>
          <p:nvPr/>
        </p:nvSpPr>
        <p:spPr>
          <a:xfrm>
            <a:off x="502920" y="4617720"/>
            <a:ext cx="8138160" cy="228600"/>
          </a:xfrm>
          <a:prstGeom prst="rect">
            <a:avLst/>
          </a:prstGeom>
          <a:noFill/>
          <a:ln/>
        </p:spPr>
        <p:txBody>
          <a:bodyPr wrap="square" rtlCol="0" anchor="ctr"/>
          <a:lstStyle/>
          <a:p>
            <a:pPr indent="0" marL="0">
              <a:buNone/>
            </a:pPr>
            <a:r>
              <a:rPr lang="en-US" sz="900" i="1" dirty="0">
                <a:solidFill>
                  <a:srgbClr val="7C8480"/>
                </a:solidFill>
                <a:latin typeface="Arial" pitchFamily="34" charset="0"/>
                <a:ea typeface="Arial" pitchFamily="34" charset="-122"/>
                <a:cs typeface="Arial" pitchFamily="34" charset="-120"/>
              </a:rPr>
              <a:t>Open from the website via “Open the live system” in the Quality section.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F2B705"/>
                </a:solidFill>
                <a:latin typeface="Consolas" pitchFamily="34" charset="0"/>
                <a:ea typeface="Consolas" pitchFamily="34" charset="-122"/>
                <a:cs typeface="Consolas" pitchFamily="34" charset="-120"/>
              </a:rPr>
              <a:t>09 · JOB FLOW</a:t>
            </a:r>
            <a:endParaRPr lang="en-US" sz="900" dirty="0"/>
          </a:p>
        </p:txBody>
      </p:sp>
      <p:sp>
        <p:nvSpPr>
          <p:cNvPr id="3" name="Shape 1"/>
          <p:cNvSpPr/>
          <p:nvPr/>
        </p:nvSpPr>
        <p:spPr>
          <a:xfrm>
            <a:off x="502920" y="603504"/>
            <a:ext cx="1280160" cy="0"/>
          </a:xfrm>
          <a:prstGeom prst="line">
            <a:avLst/>
          </a:prstGeom>
          <a:noFill/>
          <a:ln w="25400">
            <a:solidFill>
              <a:srgbClr val="F2B705"/>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700" b="1" dirty="0">
                <a:solidFill>
                  <a:srgbClr val="E7E2D8"/>
                </a:solidFill>
                <a:latin typeface="Arial Narrow" pitchFamily="34" charset="0"/>
                <a:ea typeface="Arial Narrow" pitchFamily="34" charset="-122"/>
                <a:cs typeface="Arial Narrow" pitchFamily="34" charset="-120"/>
              </a:rPr>
              <a:t>FROM DEFECT LIST TO </a:t>
            </a:r>
            <a:pPr indent="0" marL="0">
              <a:lnSpc>
                <a:spcPct val="95000"/>
              </a:lnSpc>
              <a:buNone/>
            </a:pPr>
            <a:r>
              <a:rPr lang="en-US" sz="2700" b="1" dirty="0">
                <a:solidFill>
                  <a:srgbClr val="C4441F"/>
                </a:solidFill>
                <a:latin typeface="Arial Narrow" pitchFamily="34" charset="0"/>
                <a:ea typeface="Arial Narrow" pitchFamily="34" charset="-122"/>
                <a:cs typeface="Arial Narrow" pitchFamily="34" charset="-120"/>
              </a:rPr>
              <a:t>SIGNED-OFF HANDOVER</a:t>
            </a:r>
            <a:endParaRPr lang="en-US" sz="2700" dirty="0"/>
          </a:p>
        </p:txBody>
      </p:sp>
      <p:sp>
        <p:nvSpPr>
          <p:cNvPr id="5" name="Shape 3"/>
          <p:cNvSpPr/>
          <p:nvPr/>
        </p:nvSpPr>
        <p:spPr>
          <a:xfrm>
            <a:off x="502920" y="1691640"/>
            <a:ext cx="1554480" cy="2743200"/>
          </a:xfrm>
          <a:prstGeom prst="roundRect">
            <a:avLst>
              <a:gd name="adj" fmla="val 2353"/>
            </a:avLst>
          </a:prstGeom>
          <a:solidFill>
            <a:srgbClr val="1D242B"/>
          </a:solidFill>
          <a:ln w="12700">
            <a:solidFill>
              <a:srgbClr val="3A444D"/>
            </a:solidFill>
            <a:prstDash val="solid"/>
          </a:ln>
        </p:spPr>
      </p:sp>
      <p:sp>
        <p:nvSpPr>
          <p:cNvPr id="6" name="Text 4"/>
          <p:cNvSpPr/>
          <p:nvPr/>
        </p:nvSpPr>
        <p:spPr>
          <a:xfrm>
            <a:off x="621792" y="1819656"/>
            <a:ext cx="548640" cy="274320"/>
          </a:xfrm>
          <a:prstGeom prst="rect">
            <a:avLst/>
          </a:prstGeom>
          <a:noFill/>
          <a:ln/>
        </p:spPr>
        <p:txBody>
          <a:bodyPr wrap="square" rtlCol="0" anchor="ctr"/>
          <a:lstStyle/>
          <a:p>
            <a:pPr indent="0" marL="0">
              <a:buNone/>
            </a:pPr>
            <a:r>
              <a:rPr lang="en-US" sz="1200" b="1" dirty="0">
                <a:solidFill>
                  <a:srgbClr val="F2B705"/>
                </a:solidFill>
                <a:latin typeface="Consolas" pitchFamily="34" charset="0"/>
                <a:ea typeface="Consolas" pitchFamily="34" charset="-122"/>
                <a:cs typeface="Consolas" pitchFamily="34" charset="-120"/>
              </a:rPr>
              <a:t>01</a:t>
            </a:r>
            <a:endParaRPr lang="en-US" sz="1200" dirty="0"/>
          </a:p>
        </p:txBody>
      </p:sp>
      <p:sp>
        <p:nvSpPr>
          <p:cNvPr id="7" name="Shape 5"/>
          <p:cNvSpPr/>
          <p:nvPr/>
        </p:nvSpPr>
        <p:spPr>
          <a:xfrm>
            <a:off x="621792" y="2167128"/>
            <a:ext cx="1316736" cy="0"/>
          </a:xfrm>
          <a:prstGeom prst="line">
            <a:avLst/>
          </a:prstGeom>
          <a:noFill/>
          <a:ln w="19050">
            <a:solidFill>
              <a:srgbClr val="C4441F"/>
            </a:solidFill>
            <a:prstDash val="solid"/>
          </a:ln>
        </p:spPr>
      </p:sp>
      <p:sp>
        <p:nvSpPr>
          <p:cNvPr id="8" name="Text 6"/>
          <p:cNvSpPr/>
          <p:nvPr/>
        </p:nvSpPr>
        <p:spPr>
          <a:xfrm>
            <a:off x="621792" y="2258568"/>
            <a:ext cx="1316736" cy="685800"/>
          </a:xfrm>
          <a:prstGeom prst="rect">
            <a:avLst/>
          </a:prstGeom>
          <a:noFill/>
          <a:ln/>
        </p:spPr>
        <p:txBody>
          <a:bodyPr wrap="square" rtlCol="0" anchor="t"/>
          <a:lstStyle/>
          <a:p>
            <a:pPr indent="0" marL="0">
              <a:lnSpc>
                <a:spcPct val="98000"/>
              </a:lnSpc>
              <a:buNone/>
            </a:pPr>
            <a:r>
              <a:rPr lang="en-US" sz="1300" b="1" dirty="0">
                <a:solidFill>
                  <a:srgbClr val="E7E2D8"/>
                </a:solidFill>
                <a:latin typeface="Arial Narrow" pitchFamily="34" charset="0"/>
                <a:ea typeface="Arial Narrow" pitchFamily="34" charset="-122"/>
                <a:cs typeface="Arial Narrow" pitchFamily="34" charset="-120"/>
              </a:rPr>
              <a:t>Survey &amp; assessment</a:t>
            </a:r>
            <a:endParaRPr lang="en-US" sz="1300" dirty="0"/>
          </a:p>
        </p:txBody>
      </p:sp>
      <p:sp>
        <p:nvSpPr>
          <p:cNvPr id="9" name="Text 7"/>
          <p:cNvSpPr/>
          <p:nvPr/>
        </p:nvSpPr>
        <p:spPr>
          <a:xfrm>
            <a:off x="621792" y="2916936"/>
            <a:ext cx="1316736" cy="1371600"/>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Site attendance for defect assessments, thickness measurements and visual findings, aligned with the current Certificate of Fitness.</a:t>
            </a:r>
            <a:endParaRPr lang="en-US" sz="850" dirty="0"/>
          </a:p>
        </p:txBody>
      </p:sp>
      <p:sp>
        <p:nvSpPr>
          <p:cNvPr id="10" name="Shape 8"/>
          <p:cNvSpPr/>
          <p:nvPr/>
        </p:nvSpPr>
        <p:spPr>
          <a:xfrm>
            <a:off x="2212848" y="1691640"/>
            <a:ext cx="1554480" cy="2743200"/>
          </a:xfrm>
          <a:prstGeom prst="roundRect">
            <a:avLst>
              <a:gd name="adj" fmla="val 2353"/>
            </a:avLst>
          </a:prstGeom>
          <a:solidFill>
            <a:srgbClr val="1D242B"/>
          </a:solidFill>
          <a:ln w="12700">
            <a:solidFill>
              <a:srgbClr val="3A444D"/>
            </a:solidFill>
            <a:prstDash val="solid"/>
          </a:ln>
        </p:spPr>
      </p:sp>
      <p:sp>
        <p:nvSpPr>
          <p:cNvPr id="11" name="Text 9"/>
          <p:cNvSpPr/>
          <p:nvPr/>
        </p:nvSpPr>
        <p:spPr>
          <a:xfrm>
            <a:off x="2331720" y="1819656"/>
            <a:ext cx="548640" cy="274320"/>
          </a:xfrm>
          <a:prstGeom prst="rect">
            <a:avLst/>
          </a:prstGeom>
          <a:noFill/>
          <a:ln/>
        </p:spPr>
        <p:txBody>
          <a:bodyPr wrap="square" rtlCol="0" anchor="ctr"/>
          <a:lstStyle/>
          <a:p>
            <a:pPr indent="0" marL="0">
              <a:buNone/>
            </a:pPr>
            <a:r>
              <a:rPr lang="en-US" sz="1200" b="1" dirty="0">
                <a:solidFill>
                  <a:srgbClr val="F2B705"/>
                </a:solidFill>
                <a:latin typeface="Consolas" pitchFamily="34" charset="0"/>
                <a:ea typeface="Consolas" pitchFamily="34" charset="-122"/>
                <a:cs typeface="Consolas" pitchFamily="34" charset="-120"/>
              </a:rPr>
              <a:t>02</a:t>
            </a:r>
            <a:endParaRPr lang="en-US" sz="1200" dirty="0"/>
          </a:p>
        </p:txBody>
      </p:sp>
      <p:sp>
        <p:nvSpPr>
          <p:cNvPr id="12" name="Shape 10"/>
          <p:cNvSpPr/>
          <p:nvPr/>
        </p:nvSpPr>
        <p:spPr>
          <a:xfrm>
            <a:off x="2331720" y="2167128"/>
            <a:ext cx="1316736" cy="0"/>
          </a:xfrm>
          <a:prstGeom prst="line">
            <a:avLst/>
          </a:prstGeom>
          <a:noFill/>
          <a:ln w="19050">
            <a:solidFill>
              <a:srgbClr val="C4441F"/>
            </a:solidFill>
            <a:prstDash val="solid"/>
          </a:ln>
        </p:spPr>
      </p:sp>
      <p:sp>
        <p:nvSpPr>
          <p:cNvPr id="13" name="Text 11"/>
          <p:cNvSpPr/>
          <p:nvPr/>
        </p:nvSpPr>
        <p:spPr>
          <a:xfrm>
            <a:off x="2331720" y="2258568"/>
            <a:ext cx="1316736" cy="685800"/>
          </a:xfrm>
          <a:prstGeom prst="rect">
            <a:avLst/>
          </a:prstGeom>
          <a:noFill/>
          <a:ln/>
        </p:spPr>
        <p:txBody>
          <a:bodyPr wrap="square" rtlCol="0" anchor="t"/>
          <a:lstStyle/>
          <a:p>
            <a:pPr indent="0" marL="0">
              <a:lnSpc>
                <a:spcPct val="98000"/>
              </a:lnSpc>
              <a:buNone/>
            </a:pPr>
            <a:r>
              <a:rPr lang="en-US" sz="1300" b="1" dirty="0">
                <a:solidFill>
                  <a:srgbClr val="E7E2D8"/>
                </a:solidFill>
                <a:latin typeface="Arial Narrow" pitchFamily="34" charset="0"/>
                <a:ea typeface="Arial Narrow" pitchFamily="34" charset="-122"/>
                <a:cs typeface="Arial Narrow" pitchFamily="34" charset="-120"/>
              </a:rPr>
              <a:t>Scope &amp; quotation</a:t>
            </a:r>
            <a:endParaRPr lang="en-US" sz="1300" dirty="0"/>
          </a:p>
        </p:txBody>
      </p:sp>
      <p:sp>
        <p:nvSpPr>
          <p:cNvPr id="14" name="Text 12"/>
          <p:cNvSpPr/>
          <p:nvPr/>
        </p:nvSpPr>
        <p:spPr>
          <a:xfrm>
            <a:off x="2331720" y="2916936"/>
            <a:ext cx="1316736" cy="1371600"/>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Written scope, material specification, method statement, inspection test plans and a schedule agreed with your plant team.</a:t>
            </a:r>
            <a:endParaRPr lang="en-US" sz="850" dirty="0"/>
          </a:p>
        </p:txBody>
      </p:sp>
      <p:sp>
        <p:nvSpPr>
          <p:cNvPr id="15" name="Shape 13"/>
          <p:cNvSpPr/>
          <p:nvPr/>
        </p:nvSpPr>
        <p:spPr>
          <a:xfrm>
            <a:off x="3922776" y="1691640"/>
            <a:ext cx="1554480" cy="2743200"/>
          </a:xfrm>
          <a:prstGeom prst="roundRect">
            <a:avLst>
              <a:gd name="adj" fmla="val 2353"/>
            </a:avLst>
          </a:prstGeom>
          <a:solidFill>
            <a:srgbClr val="1D242B"/>
          </a:solidFill>
          <a:ln w="12700">
            <a:solidFill>
              <a:srgbClr val="3A444D"/>
            </a:solidFill>
            <a:prstDash val="solid"/>
          </a:ln>
        </p:spPr>
      </p:sp>
      <p:sp>
        <p:nvSpPr>
          <p:cNvPr id="16" name="Text 14"/>
          <p:cNvSpPr/>
          <p:nvPr/>
        </p:nvSpPr>
        <p:spPr>
          <a:xfrm>
            <a:off x="4041648" y="1819656"/>
            <a:ext cx="548640" cy="274320"/>
          </a:xfrm>
          <a:prstGeom prst="rect">
            <a:avLst/>
          </a:prstGeom>
          <a:noFill/>
          <a:ln/>
        </p:spPr>
        <p:txBody>
          <a:bodyPr wrap="square" rtlCol="0" anchor="ctr"/>
          <a:lstStyle/>
          <a:p>
            <a:pPr indent="0" marL="0">
              <a:buNone/>
            </a:pPr>
            <a:r>
              <a:rPr lang="en-US" sz="1200" b="1" dirty="0">
                <a:solidFill>
                  <a:srgbClr val="F2B705"/>
                </a:solidFill>
                <a:latin typeface="Consolas" pitchFamily="34" charset="0"/>
                <a:ea typeface="Consolas" pitchFamily="34" charset="-122"/>
                <a:cs typeface="Consolas" pitchFamily="34" charset="-120"/>
              </a:rPr>
              <a:t>03</a:t>
            </a:r>
            <a:endParaRPr lang="en-US" sz="1200" dirty="0"/>
          </a:p>
        </p:txBody>
      </p:sp>
      <p:sp>
        <p:nvSpPr>
          <p:cNvPr id="17" name="Shape 15"/>
          <p:cNvSpPr/>
          <p:nvPr/>
        </p:nvSpPr>
        <p:spPr>
          <a:xfrm>
            <a:off x="4041648" y="2167128"/>
            <a:ext cx="1316736" cy="0"/>
          </a:xfrm>
          <a:prstGeom prst="line">
            <a:avLst/>
          </a:prstGeom>
          <a:noFill/>
          <a:ln w="19050">
            <a:solidFill>
              <a:srgbClr val="C4441F"/>
            </a:solidFill>
            <a:prstDash val="solid"/>
          </a:ln>
        </p:spPr>
      </p:sp>
      <p:sp>
        <p:nvSpPr>
          <p:cNvPr id="18" name="Text 16"/>
          <p:cNvSpPr/>
          <p:nvPr/>
        </p:nvSpPr>
        <p:spPr>
          <a:xfrm>
            <a:off x="4041648" y="2258568"/>
            <a:ext cx="1316736" cy="685800"/>
          </a:xfrm>
          <a:prstGeom prst="rect">
            <a:avLst/>
          </a:prstGeom>
          <a:noFill/>
          <a:ln/>
        </p:spPr>
        <p:txBody>
          <a:bodyPr wrap="square" rtlCol="0" anchor="t"/>
          <a:lstStyle/>
          <a:p>
            <a:pPr indent="0" marL="0">
              <a:lnSpc>
                <a:spcPct val="98000"/>
              </a:lnSpc>
              <a:buNone/>
            </a:pPr>
            <a:r>
              <a:rPr lang="en-US" sz="1300" b="1" dirty="0">
                <a:solidFill>
                  <a:srgbClr val="E7E2D8"/>
                </a:solidFill>
                <a:latin typeface="Arial Narrow" pitchFamily="34" charset="0"/>
                <a:ea typeface="Arial Narrow" pitchFamily="34" charset="-122"/>
                <a:cs typeface="Arial Narrow" pitchFamily="34" charset="-120"/>
              </a:rPr>
              <a:t>Repair / fabrication</a:t>
            </a:r>
            <a:endParaRPr lang="en-US" sz="1300" dirty="0"/>
          </a:p>
        </p:txBody>
      </p:sp>
      <p:sp>
        <p:nvSpPr>
          <p:cNvPr id="19" name="Text 17"/>
          <p:cNvSpPr/>
          <p:nvPr/>
        </p:nvSpPr>
        <p:spPr>
          <a:xfrm>
            <a:off x="4041648" y="2916936"/>
            <a:ext cx="1316736" cy="1371600"/>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Cutting, rolling, forming, fit-up and welding in the Menglembu workshop or on-site within your shutdown window.</a:t>
            </a:r>
            <a:endParaRPr lang="en-US" sz="850" dirty="0"/>
          </a:p>
        </p:txBody>
      </p:sp>
      <p:sp>
        <p:nvSpPr>
          <p:cNvPr id="20" name="Shape 18"/>
          <p:cNvSpPr/>
          <p:nvPr/>
        </p:nvSpPr>
        <p:spPr>
          <a:xfrm>
            <a:off x="5632704" y="1691640"/>
            <a:ext cx="1554480" cy="2743200"/>
          </a:xfrm>
          <a:prstGeom prst="roundRect">
            <a:avLst>
              <a:gd name="adj" fmla="val 2353"/>
            </a:avLst>
          </a:prstGeom>
          <a:solidFill>
            <a:srgbClr val="1D242B"/>
          </a:solidFill>
          <a:ln w="12700">
            <a:solidFill>
              <a:srgbClr val="3A444D"/>
            </a:solidFill>
            <a:prstDash val="solid"/>
          </a:ln>
        </p:spPr>
      </p:sp>
      <p:sp>
        <p:nvSpPr>
          <p:cNvPr id="21" name="Text 19"/>
          <p:cNvSpPr/>
          <p:nvPr/>
        </p:nvSpPr>
        <p:spPr>
          <a:xfrm>
            <a:off x="5751576" y="1819656"/>
            <a:ext cx="548640" cy="274320"/>
          </a:xfrm>
          <a:prstGeom prst="rect">
            <a:avLst/>
          </a:prstGeom>
          <a:noFill/>
          <a:ln/>
        </p:spPr>
        <p:txBody>
          <a:bodyPr wrap="square" rtlCol="0" anchor="ctr"/>
          <a:lstStyle/>
          <a:p>
            <a:pPr indent="0" marL="0">
              <a:buNone/>
            </a:pPr>
            <a:r>
              <a:rPr lang="en-US" sz="1200" b="1" dirty="0">
                <a:solidFill>
                  <a:srgbClr val="F2B705"/>
                </a:solidFill>
                <a:latin typeface="Consolas" pitchFamily="34" charset="0"/>
                <a:ea typeface="Consolas" pitchFamily="34" charset="-122"/>
                <a:cs typeface="Consolas" pitchFamily="34" charset="-120"/>
              </a:rPr>
              <a:t>04</a:t>
            </a:r>
            <a:endParaRPr lang="en-US" sz="1200" dirty="0"/>
          </a:p>
        </p:txBody>
      </p:sp>
      <p:sp>
        <p:nvSpPr>
          <p:cNvPr id="22" name="Shape 20"/>
          <p:cNvSpPr/>
          <p:nvPr/>
        </p:nvSpPr>
        <p:spPr>
          <a:xfrm>
            <a:off x="5751576" y="2167128"/>
            <a:ext cx="1316736" cy="0"/>
          </a:xfrm>
          <a:prstGeom prst="line">
            <a:avLst/>
          </a:prstGeom>
          <a:noFill/>
          <a:ln w="19050">
            <a:solidFill>
              <a:srgbClr val="C4441F"/>
            </a:solidFill>
            <a:prstDash val="solid"/>
          </a:ln>
        </p:spPr>
      </p:sp>
      <p:sp>
        <p:nvSpPr>
          <p:cNvPr id="23" name="Text 21"/>
          <p:cNvSpPr/>
          <p:nvPr/>
        </p:nvSpPr>
        <p:spPr>
          <a:xfrm>
            <a:off x="5751576" y="2258568"/>
            <a:ext cx="1316736" cy="685800"/>
          </a:xfrm>
          <a:prstGeom prst="rect">
            <a:avLst/>
          </a:prstGeom>
          <a:noFill/>
          <a:ln/>
        </p:spPr>
        <p:txBody>
          <a:bodyPr wrap="square" rtlCol="0" anchor="t"/>
          <a:lstStyle/>
          <a:p>
            <a:pPr indent="0" marL="0">
              <a:lnSpc>
                <a:spcPct val="98000"/>
              </a:lnSpc>
              <a:buNone/>
            </a:pPr>
            <a:r>
              <a:rPr lang="en-US" sz="1300" b="1" dirty="0">
                <a:solidFill>
                  <a:srgbClr val="E7E2D8"/>
                </a:solidFill>
                <a:latin typeface="Arial Narrow" pitchFamily="34" charset="0"/>
                <a:ea typeface="Arial Narrow" pitchFamily="34" charset="-122"/>
                <a:cs typeface="Arial Narrow" pitchFamily="34" charset="-120"/>
              </a:rPr>
              <a:t>Test &amp; inspection</a:t>
            </a:r>
            <a:endParaRPr lang="en-US" sz="1300" dirty="0"/>
          </a:p>
        </p:txBody>
      </p:sp>
      <p:sp>
        <p:nvSpPr>
          <p:cNvPr id="24" name="Text 22"/>
          <p:cNvSpPr/>
          <p:nvPr/>
        </p:nvSpPr>
        <p:spPr>
          <a:xfrm>
            <a:off x="5751576" y="2916936"/>
            <a:ext cx="1316736" cy="1371600"/>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Hydrostatic testing, bubble testing, safety valve setting, weld inspection and coordination with the appointed inspector.</a:t>
            </a:r>
            <a:endParaRPr lang="en-US" sz="850" dirty="0"/>
          </a:p>
        </p:txBody>
      </p:sp>
      <p:sp>
        <p:nvSpPr>
          <p:cNvPr id="25" name="Shape 23"/>
          <p:cNvSpPr/>
          <p:nvPr/>
        </p:nvSpPr>
        <p:spPr>
          <a:xfrm>
            <a:off x="7342632" y="1691640"/>
            <a:ext cx="1554480" cy="2743200"/>
          </a:xfrm>
          <a:prstGeom prst="roundRect">
            <a:avLst>
              <a:gd name="adj" fmla="val 2353"/>
            </a:avLst>
          </a:prstGeom>
          <a:solidFill>
            <a:srgbClr val="1D242B"/>
          </a:solidFill>
          <a:ln w="12700">
            <a:solidFill>
              <a:srgbClr val="3A444D"/>
            </a:solidFill>
            <a:prstDash val="solid"/>
          </a:ln>
        </p:spPr>
      </p:sp>
      <p:sp>
        <p:nvSpPr>
          <p:cNvPr id="26" name="Text 24"/>
          <p:cNvSpPr/>
          <p:nvPr/>
        </p:nvSpPr>
        <p:spPr>
          <a:xfrm>
            <a:off x="7461504" y="1819656"/>
            <a:ext cx="548640" cy="274320"/>
          </a:xfrm>
          <a:prstGeom prst="rect">
            <a:avLst/>
          </a:prstGeom>
          <a:noFill/>
          <a:ln/>
        </p:spPr>
        <p:txBody>
          <a:bodyPr wrap="square" rtlCol="0" anchor="ctr"/>
          <a:lstStyle/>
          <a:p>
            <a:pPr indent="0" marL="0">
              <a:buNone/>
            </a:pPr>
            <a:r>
              <a:rPr lang="en-US" sz="1200" b="1" dirty="0">
                <a:solidFill>
                  <a:srgbClr val="F2B705"/>
                </a:solidFill>
                <a:latin typeface="Consolas" pitchFamily="34" charset="0"/>
                <a:ea typeface="Consolas" pitchFamily="34" charset="-122"/>
                <a:cs typeface="Consolas" pitchFamily="34" charset="-120"/>
              </a:rPr>
              <a:t>05</a:t>
            </a:r>
            <a:endParaRPr lang="en-US" sz="1200" dirty="0"/>
          </a:p>
        </p:txBody>
      </p:sp>
      <p:sp>
        <p:nvSpPr>
          <p:cNvPr id="27" name="Shape 25"/>
          <p:cNvSpPr/>
          <p:nvPr/>
        </p:nvSpPr>
        <p:spPr>
          <a:xfrm>
            <a:off x="7461504" y="2167128"/>
            <a:ext cx="1316736" cy="0"/>
          </a:xfrm>
          <a:prstGeom prst="line">
            <a:avLst/>
          </a:prstGeom>
          <a:noFill/>
          <a:ln w="19050">
            <a:solidFill>
              <a:srgbClr val="C4441F"/>
            </a:solidFill>
            <a:prstDash val="solid"/>
          </a:ln>
        </p:spPr>
      </p:sp>
      <p:sp>
        <p:nvSpPr>
          <p:cNvPr id="28" name="Text 26"/>
          <p:cNvSpPr/>
          <p:nvPr/>
        </p:nvSpPr>
        <p:spPr>
          <a:xfrm>
            <a:off x="7461504" y="2258568"/>
            <a:ext cx="1316736" cy="685800"/>
          </a:xfrm>
          <a:prstGeom prst="rect">
            <a:avLst/>
          </a:prstGeom>
          <a:noFill/>
          <a:ln/>
        </p:spPr>
        <p:txBody>
          <a:bodyPr wrap="square" rtlCol="0" anchor="t"/>
          <a:lstStyle/>
          <a:p>
            <a:pPr indent="0" marL="0">
              <a:lnSpc>
                <a:spcPct val="98000"/>
              </a:lnSpc>
              <a:buNone/>
            </a:pPr>
            <a:r>
              <a:rPr lang="en-US" sz="1300" b="1" dirty="0">
                <a:solidFill>
                  <a:srgbClr val="E7E2D8"/>
                </a:solidFill>
                <a:latin typeface="Arial Narrow" pitchFamily="34" charset="0"/>
                <a:ea typeface="Arial Narrow" pitchFamily="34" charset="-122"/>
                <a:cs typeface="Arial Narrow" pitchFamily="34" charset="-120"/>
              </a:rPr>
              <a:t>Handover &amp; records</a:t>
            </a:r>
            <a:endParaRPr lang="en-US" sz="1300" dirty="0"/>
          </a:p>
        </p:txBody>
      </p:sp>
      <p:sp>
        <p:nvSpPr>
          <p:cNvPr id="29" name="Text 27"/>
          <p:cNvSpPr/>
          <p:nvPr/>
        </p:nvSpPr>
        <p:spPr>
          <a:xfrm>
            <a:off x="7461504" y="2916936"/>
            <a:ext cx="1316736" cy="1371600"/>
          </a:xfrm>
          <a:prstGeom prst="rect">
            <a:avLst/>
          </a:prstGeom>
          <a:noFill/>
          <a:ln/>
        </p:spPr>
        <p:txBody>
          <a:bodyPr wrap="square" rtlCol="0" anchor="t"/>
          <a:lstStyle/>
          <a:p>
            <a:pPr indent="0" marL="0">
              <a:lnSpc>
                <a:spcPct val="112000"/>
              </a:lnSpc>
              <a:buNone/>
            </a:pPr>
            <a:r>
              <a:rPr lang="en-US" sz="850" dirty="0">
                <a:solidFill>
                  <a:srgbClr val="A9A69E"/>
                </a:solidFill>
                <a:latin typeface="Arial" pitchFamily="34" charset="0"/>
                <a:ea typeface="Arial" pitchFamily="34" charset="-122"/>
                <a:cs typeface="Arial" pitchFamily="34" charset="-120"/>
              </a:rPr>
              <a:t>Reinstatement, test certificates and job records for your maintenance file, insurer and appointed inspector.</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C4441F"/>
                </a:solidFill>
                <a:latin typeface="Consolas" pitchFamily="34" charset="0"/>
                <a:ea typeface="Consolas" pitchFamily="34" charset="-122"/>
                <a:cs typeface="Consolas" pitchFamily="34" charset="-120"/>
              </a:rPr>
              <a:t>10 · SAFETY &amp; HEALTH</a:t>
            </a:r>
            <a:endParaRPr lang="en-US" sz="900" dirty="0"/>
          </a:p>
        </p:txBody>
      </p:sp>
      <p:sp>
        <p:nvSpPr>
          <p:cNvPr id="3" name="Shape 1"/>
          <p:cNvSpPr/>
          <p:nvPr/>
        </p:nvSpPr>
        <p:spPr>
          <a:xfrm>
            <a:off x="502920" y="603504"/>
            <a:ext cx="1280160" cy="0"/>
          </a:xfrm>
          <a:prstGeom prst="line">
            <a:avLst/>
          </a:prstGeom>
          <a:noFill/>
          <a:ln w="25400">
            <a:solidFill>
              <a:srgbClr val="C4441F"/>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3000" b="1" dirty="0">
                <a:solidFill>
                  <a:srgbClr val="22262A"/>
                </a:solidFill>
                <a:latin typeface="Arial Narrow" pitchFamily="34" charset="0"/>
                <a:ea typeface="Arial Narrow" pitchFamily="34" charset="-122"/>
                <a:cs typeface="Arial Narrow" pitchFamily="34" charset="-120"/>
              </a:rPr>
              <a:t>SAFETY </a:t>
            </a:r>
            <a:pPr indent="0" marL="0">
              <a:lnSpc>
                <a:spcPct val="95000"/>
              </a:lnSpc>
              <a:buNone/>
            </a:pPr>
            <a:r>
              <a:rPr lang="en-US" sz="3000" b="1" dirty="0">
                <a:solidFill>
                  <a:srgbClr val="C4441F"/>
                </a:solidFill>
                <a:latin typeface="Arial Narrow" pitchFamily="34" charset="0"/>
                <a:ea typeface="Arial Narrow" pitchFamily="34" charset="-122"/>
                <a:cs typeface="Arial Narrow" pitchFamily="34" charset="-120"/>
              </a:rPr>
              <a:t>ABOVE ALL</a:t>
            </a:r>
            <a:endParaRPr lang="en-US" sz="3000" dirty="0"/>
          </a:p>
        </p:txBody>
      </p:sp>
      <p:sp>
        <p:nvSpPr>
          <p:cNvPr id="5" name="Text 3"/>
          <p:cNvSpPr/>
          <p:nvPr/>
        </p:nvSpPr>
        <p:spPr>
          <a:xfrm>
            <a:off x="502920" y="1444752"/>
            <a:ext cx="3749040" cy="1188720"/>
          </a:xfrm>
          <a:prstGeom prst="rect">
            <a:avLst/>
          </a:prstGeom>
          <a:noFill/>
          <a:ln/>
        </p:spPr>
        <p:txBody>
          <a:bodyPr wrap="square" rtlCol="0" anchor="ctr"/>
          <a:lstStyle/>
          <a:p>
            <a:pPr indent="0" marL="0">
              <a:lnSpc>
                <a:spcPct val="120000"/>
              </a:lnSpc>
              <a:buNone/>
            </a:pPr>
            <a:r>
              <a:rPr lang="en-US" sz="1000" dirty="0">
                <a:solidFill>
                  <a:srgbClr val="55595E"/>
                </a:solidFill>
                <a:latin typeface="Arial" pitchFamily="34" charset="0"/>
                <a:ea typeface="Arial" pitchFamily="34" charset="-122"/>
                <a:cs typeface="Arial" pitchFamily="34" charset="-120"/>
              </a:rPr>
              <a:t>Our OSH policy — signed by the Managing Director — commits to no operation that risks injury to people, damage to plant or harm to the environment, managed under OSHA 1994 (Act 514) and the FMA 1967, and audited by DOSH.</a:t>
            </a:r>
            <a:endParaRPr lang="en-US" sz="1000" dirty="0"/>
          </a:p>
        </p:txBody>
      </p:sp>
      <p:sp>
        <p:nvSpPr>
          <p:cNvPr id="6" name="Text 4"/>
          <p:cNvSpPr/>
          <p:nvPr/>
        </p:nvSpPr>
        <p:spPr>
          <a:xfrm>
            <a:off x="502920" y="2697480"/>
            <a:ext cx="1234440" cy="365760"/>
          </a:xfrm>
          <a:prstGeom prst="rect">
            <a:avLst/>
          </a:prstGeom>
          <a:noFill/>
          <a:ln/>
        </p:spPr>
        <p:txBody>
          <a:bodyPr wrap="square" rtlCol="0" anchor="t"/>
          <a:lstStyle/>
          <a:p>
            <a:pPr indent="0" marL="0">
              <a:buNone/>
            </a:pPr>
            <a:r>
              <a:rPr lang="en-US" sz="800" b="1" dirty="0">
                <a:solidFill>
                  <a:srgbClr val="C4441F"/>
                </a:solidFill>
                <a:latin typeface="Consolas" pitchFamily="34" charset="0"/>
                <a:ea typeface="Consolas" pitchFamily="34" charset="-122"/>
                <a:cs typeface="Consolas" pitchFamily="34" charset="-120"/>
              </a:rPr>
              <a:t>STANDARD</a:t>
            </a:r>
            <a:endParaRPr lang="en-US" sz="800" dirty="0"/>
          </a:p>
        </p:txBody>
      </p:sp>
      <p:sp>
        <p:nvSpPr>
          <p:cNvPr id="7" name="Text 5"/>
          <p:cNvSpPr/>
          <p:nvPr/>
        </p:nvSpPr>
        <p:spPr>
          <a:xfrm>
            <a:off x="1783080" y="2660904"/>
            <a:ext cx="2468880" cy="457200"/>
          </a:xfrm>
          <a:prstGeom prst="rect">
            <a:avLst/>
          </a:prstGeom>
          <a:noFill/>
          <a:ln/>
        </p:spPr>
        <p:txBody>
          <a:bodyPr wrap="square" rtlCol="0" anchor="t"/>
          <a:lstStyle/>
          <a:p>
            <a:pPr indent="0" marL="0">
              <a:lnSpc>
                <a:spcPct val="105000"/>
              </a:lnSpc>
              <a:buNone/>
            </a:pPr>
            <a:r>
              <a:rPr lang="en-US" sz="900" dirty="0">
                <a:solidFill>
                  <a:srgbClr val="22262A"/>
                </a:solidFill>
                <a:latin typeface="Arial" pitchFamily="34" charset="0"/>
                <a:ea typeface="Arial" pitchFamily="34" charset="-122"/>
                <a:cs typeface="Arial" pitchFamily="34" charset="-120"/>
              </a:rPr>
              <a:t>OSHA 1994 (Act 514) &amp; Factories &amp; Machinery Act 1967</a:t>
            </a:r>
            <a:endParaRPr lang="en-US" sz="900" dirty="0"/>
          </a:p>
        </p:txBody>
      </p:sp>
      <p:sp>
        <p:nvSpPr>
          <p:cNvPr id="8" name="Shape 6"/>
          <p:cNvSpPr/>
          <p:nvPr/>
        </p:nvSpPr>
        <p:spPr>
          <a:xfrm>
            <a:off x="502920" y="3081528"/>
            <a:ext cx="3749040" cy="0"/>
          </a:xfrm>
          <a:prstGeom prst="line">
            <a:avLst/>
          </a:prstGeom>
          <a:noFill/>
          <a:ln w="9525">
            <a:solidFill>
              <a:srgbClr val="D3CCBE"/>
            </a:solidFill>
            <a:prstDash val="solid"/>
          </a:ln>
        </p:spPr>
      </p:sp>
      <p:sp>
        <p:nvSpPr>
          <p:cNvPr id="9" name="Text 7"/>
          <p:cNvSpPr/>
          <p:nvPr/>
        </p:nvSpPr>
        <p:spPr>
          <a:xfrm>
            <a:off x="502920" y="3154680"/>
            <a:ext cx="1234440" cy="365760"/>
          </a:xfrm>
          <a:prstGeom prst="rect">
            <a:avLst/>
          </a:prstGeom>
          <a:noFill/>
          <a:ln/>
        </p:spPr>
        <p:txBody>
          <a:bodyPr wrap="square" rtlCol="0" anchor="t"/>
          <a:lstStyle/>
          <a:p>
            <a:pPr indent="0" marL="0">
              <a:buNone/>
            </a:pPr>
            <a:r>
              <a:rPr lang="en-US" sz="800" b="1" dirty="0">
                <a:solidFill>
                  <a:srgbClr val="C4441F"/>
                </a:solidFill>
                <a:latin typeface="Consolas" pitchFamily="34" charset="0"/>
                <a:ea typeface="Consolas" pitchFamily="34" charset="-122"/>
                <a:cs typeface="Consolas" pitchFamily="34" charset="-120"/>
              </a:rPr>
              <a:t>LEADERSHIP</a:t>
            </a:r>
            <a:endParaRPr lang="en-US" sz="800" dirty="0"/>
          </a:p>
        </p:txBody>
      </p:sp>
      <p:sp>
        <p:nvSpPr>
          <p:cNvPr id="10" name="Text 8"/>
          <p:cNvSpPr/>
          <p:nvPr/>
        </p:nvSpPr>
        <p:spPr>
          <a:xfrm>
            <a:off x="1783080" y="3118104"/>
            <a:ext cx="2468880" cy="457200"/>
          </a:xfrm>
          <a:prstGeom prst="rect">
            <a:avLst/>
          </a:prstGeom>
          <a:noFill/>
          <a:ln/>
        </p:spPr>
        <p:txBody>
          <a:bodyPr wrap="square" rtlCol="0" anchor="t"/>
          <a:lstStyle/>
          <a:p>
            <a:pPr indent="0" marL="0">
              <a:lnSpc>
                <a:spcPct val="105000"/>
              </a:lnSpc>
              <a:buNone/>
            </a:pPr>
            <a:r>
              <a:rPr lang="en-US" sz="900" dirty="0">
                <a:solidFill>
                  <a:srgbClr val="22262A"/>
                </a:solidFill>
                <a:latin typeface="Arial" pitchFamily="34" charset="0"/>
                <a:ea typeface="Arial" pitchFamily="34" charset="-122"/>
                <a:cs typeface="Arial" pitchFamily="34" charset="-120"/>
              </a:rPr>
              <a:t>Designated OSH Coordinator · Safety Committee chaired by the Managing Director</a:t>
            </a:r>
            <a:endParaRPr lang="en-US" sz="900" dirty="0"/>
          </a:p>
        </p:txBody>
      </p:sp>
      <p:sp>
        <p:nvSpPr>
          <p:cNvPr id="11" name="Shape 9"/>
          <p:cNvSpPr/>
          <p:nvPr/>
        </p:nvSpPr>
        <p:spPr>
          <a:xfrm>
            <a:off x="502920" y="3538728"/>
            <a:ext cx="3749040" cy="0"/>
          </a:xfrm>
          <a:prstGeom prst="line">
            <a:avLst/>
          </a:prstGeom>
          <a:noFill/>
          <a:ln w="9525">
            <a:solidFill>
              <a:srgbClr val="D3CCBE"/>
            </a:solidFill>
            <a:prstDash val="solid"/>
          </a:ln>
        </p:spPr>
      </p:sp>
      <p:sp>
        <p:nvSpPr>
          <p:cNvPr id="12" name="Text 10"/>
          <p:cNvSpPr/>
          <p:nvPr/>
        </p:nvSpPr>
        <p:spPr>
          <a:xfrm>
            <a:off x="502920" y="3611880"/>
            <a:ext cx="1234440" cy="365760"/>
          </a:xfrm>
          <a:prstGeom prst="rect">
            <a:avLst/>
          </a:prstGeom>
          <a:noFill/>
          <a:ln/>
        </p:spPr>
        <p:txBody>
          <a:bodyPr wrap="square" rtlCol="0" anchor="t"/>
          <a:lstStyle/>
          <a:p>
            <a:pPr indent="0" marL="0">
              <a:buNone/>
            </a:pPr>
            <a:r>
              <a:rPr lang="en-US" sz="800" b="1" dirty="0">
                <a:solidFill>
                  <a:srgbClr val="C4441F"/>
                </a:solidFill>
                <a:latin typeface="Consolas" pitchFamily="34" charset="0"/>
                <a:ea typeface="Consolas" pitchFamily="34" charset="-122"/>
                <a:cs typeface="Consolas" pitchFamily="34" charset="-120"/>
              </a:rPr>
              <a:t>ASSESSMENT</a:t>
            </a:r>
            <a:endParaRPr lang="en-US" sz="800" dirty="0"/>
          </a:p>
        </p:txBody>
      </p:sp>
      <p:sp>
        <p:nvSpPr>
          <p:cNvPr id="13" name="Text 11"/>
          <p:cNvSpPr/>
          <p:nvPr/>
        </p:nvSpPr>
        <p:spPr>
          <a:xfrm>
            <a:off x="1783080" y="3575304"/>
            <a:ext cx="2468880" cy="457200"/>
          </a:xfrm>
          <a:prstGeom prst="rect">
            <a:avLst/>
          </a:prstGeom>
          <a:noFill/>
          <a:ln/>
        </p:spPr>
        <p:txBody>
          <a:bodyPr wrap="square" rtlCol="0" anchor="t"/>
          <a:lstStyle/>
          <a:p>
            <a:pPr indent="0" marL="0">
              <a:lnSpc>
                <a:spcPct val="105000"/>
              </a:lnSpc>
              <a:buNone/>
            </a:pPr>
            <a:r>
              <a:rPr lang="en-US" sz="900" dirty="0">
                <a:solidFill>
                  <a:srgbClr val="22262A"/>
                </a:solidFill>
                <a:latin typeface="Arial" pitchFamily="34" charset="0"/>
                <a:ea typeface="Arial" pitchFamily="34" charset="-122"/>
                <a:cs typeface="Arial" pitchFamily="34" charset="-120"/>
              </a:rPr>
              <a:t>HIRARC — hazard identification, risk assessment and risk control — for every activity</a:t>
            </a:r>
            <a:endParaRPr lang="en-US" sz="900" dirty="0"/>
          </a:p>
        </p:txBody>
      </p:sp>
      <p:sp>
        <p:nvSpPr>
          <p:cNvPr id="14" name="Shape 12"/>
          <p:cNvSpPr/>
          <p:nvPr/>
        </p:nvSpPr>
        <p:spPr>
          <a:xfrm>
            <a:off x="502920" y="3995928"/>
            <a:ext cx="3749040" cy="0"/>
          </a:xfrm>
          <a:prstGeom prst="line">
            <a:avLst/>
          </a:prstGeom>
          <a:noFill/>
          <a:ln w="9525">
            <a:solidFill>
              <a:srgbClr val="D3CCBE"/>
            </a:solidFill>
            <a:prstDash val="solid"/>
          </a:ln>
        </p:spPr>
      </p:sp>
      <p:sp>
        <p:nvSpPr>
          <p:cNvPr id="15" name="Text 13"/>
          <p:cNvSpPr/>
          <p:nvPr/>
        </p:nvSpPr>
        <p:spPr>
          <a:xfrm>
            <a:off x="502920" y="4069080"/>
            <a:ext cx="1234440" cy="365760"/>
          </a:xfrm>
          <a:prstGeom prst="rect">
            <a:avLst/>
          </a:prstGeom>
          <a:noFill/>
          <a:ln/>
        </p:spPr>
        <p:txBody>
          <a:bodyPr wrap="square" rtlCol="0" anchor="t"/>
          <a:lstStyle/>
          <a:p>
            <a:pPr indent="0" marL="0">
              <a:buNone/>
            </a:pPr>
            <a:r>
              <a:rPr lang="en-US" sz="800" b="1" dirty="0">
                <a:solidFill>
                  <a:srgbClr val="C4441F"/>
                </a:solidFill>
                <a:latin typeface="Consolas" pitchFamily="34" charset="0"/>
                <a:ea typeface="Consolas" pitchFamily="34" charset="-122"/>
                <a:cs typeface="Consolas" pitchFamily="34" charset="-120"/>
              </a:rPr>
              <a:t>EMERGENCY</a:t>
            </a:r>
            <a:endParaRPr lang="en-US" sz="800" dirty="0"/>
          </a:p>
        </p:txBody>
      </p:sp>
      <p:sp>
        <p:nvSpPr>
          <p:cNvPr id="16" name="Text 14"/>
          <p:cNvSpPr/>
          <p:nvPr/>
        </p:nvSpPr>
        <p:spPr>
          <a:xfrm>
            <a:off x="1783080" y="4032504"/>
            <a:ext cx="2468880" cy="457200"/>
          </a:xfrm>
          <a:prstGeom prst="rect">
            <a:avLst/>
          </a:prstGeom>
          <a:noFill/>
          <a:ln/>
        </p:spPr>
        <p:txBody>
          <a:bodyPr wrap="square" rtlCol="0" anchor="t"/>
          <a:lstStyle/>
          <a:p>
            <a:pPr indent="0" marL="0">
              <a:lnSpc>
                <a:spcPct val="105000"/>
              </a:lnSpc>
              <a:buNone/>
            </a:pPr>
            <a:r>
              <a:rPr lang="en-US" sz="900" dirty="0">
                <a:solidFill>
                  <a:srgbClr val="22262A"/>
                </a:solidFill>
                <a:latin typeface="Arial" pitchFamily="34" charset="0"/>
                <a:ea typeface="Arial" pitchFamily="34" charset="-122"/>
                <a:cs typeface="Arial" pitchFamily="34" charset="-120"/>
              </a:rPr>
              <a:t>ERP drills · first aiders · liaison with the client's emergency response team</a:t>
            </a:r>
            <a:endParaRPr lang="en-US" sz="900" dirty="0"/>
          </a:p>
        </p:txBody>
      </p:sp>
      <p:sp>
        <p:nvSpPr>
          <p:cNvPr id="17" name="Shape 15"/>
          <p:cNvSpPr/>
          <p:nvPr/>
        </p:nvSpPr>
        <p:spPr>
          <a:xfrm>
            <a:off x="502920" y="4453128"/>
            <a:ext cx="3749040" cy="0"/>
          </a:xfrm>
          <a:prstGeom prst="line">
            <a:avLst/>
          </a:prstGeom>
          <a:noFill/>
          <a:ln w="9525">
            <a:solidFill>
              <a:srgbClr val="D3CCBE"/>
            </a:solidFill>
            <a:prstDash val="solid"/>
          </a:ln>
        </p:spPr>
      </p:sp>
      <p:sp>
        <p:nvSpPr>
          <p:cNvPr id="18" name="Text 16"/>
          <p:cNvSpPr/>
          <p:nvPr/>
        </p:nvSpPr>
        <p:spPr>
          <a:xfrm>
            <a:off x="4663440" y="1481328"/>
            <a:ext cx="3931920" cy="228600"/>
          </a:xfrm>
          <a:prstGeom prst="rect">
            <a:avLst/>
          </a:prstGeom>
          <a:noFill/>
          <a:ln/>
        </p:spPr>
        <p:txBody>
          <a:bodyPr wrap="square" rtlCol="0" anchor="ctr"/>
          <a:lstStyle/>
          <a:p>
            <a:pPr indent="0" marL="0">
              <a:buNone/>
            </a:pPr>
            <a:r>
              <a:rPr lang="en-US" sz="900" b="1" spc="200" kern="0" dirty="0">
                <a:solidFill>
                  <a:srgbClr val="22262A"/>
                </a:solidFill>
                <a:latin typeface="Consolas" pitchFamily="34" charset="0"/>
                <a:ea typeface="Consolas" pitchFamily="34" charset="-122"/>
                <a:cs typeface="Consolas" pitchFamily="34" charset="-120"/>
              </a:rPr>
              <a:t>COMMITMENTS</a:t>
            </a:r>
            <a:endParaRPr lang="en-US" sz="900" dirty="0"/>
          </a:p>
        </p:txBody>
      </p:sp>
      <p:sp>
        <p:nvSpPr>
          <p:cNvPr id="19" name="Text 17"/>
          <p:cNvSpPr/>
          <p:nvPr/>
        </p:nvSpPr>
        <p:spPr>
          <a:xfrm>
            <a:off x="4663440" y="1783080"/>
            <a:ext cx="36576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01</a:t>
            </a:r>
            <a:endParaRPr lang="en-US" sz="900" dirty="0"/>
          </a:p>
        </p:txBody>
      </p:sp>
      <p:sp>
        <p:nvSpPr>
          <p:cNvPr id="20" name="Text 18"/>
          <p:cNvSpPr/>
          <p:nvPr/>
        </p:nvSpPr>
        <p:spPr>
          <a:xfrm>
            <a:off x="5029200" y="1764792"/>
            <a:ext cx="3017520" cy="960120"/>
          </a:xfrm>
          <a:prstGeom prst="rect">
            <a:avLst/>
          </a:prstGeom>
          <a:noFill/>
          <a:ln/>
        </p:spPr>
        <p:txBody>
          <a:bodyPr wrap="square" rtlCol="0" anchor="t"/>
          <a:lstStyle/>
          <a:p>
            <a:pPr indent="0" marL="0">
              <a:lnSpc>
                <a:spcPct val="100000"/>
              </a:lnSpc>
              <a:buNone/>
            </a:pPr>
            <a:r>
              <a:rPr lang="en-US" sz="1100" b="1" dirty="0">
                <a:solidFill>
                  <a:srgbClr val="22262A"/>
                </a:solidFill>
                <a:latin typeface="Arial Narrow" pitchFamily="34" charset="0"/>
                <a:ea typeface="Arial Narrow" pitchFamily="34" charset="-122"/>
                <a:cs typeface="Arial Narrow" pitchFamily="34" charset="-120"/>
              </a:rPr>
              <a:t>Procedures &amp; PPE discipline</a:t>
            </a:r>
            <a:endParaRPr lang="en-US" sz="1100" dirty="0"/>
          </a:p>
        </p:txBody>
      </p:sp>
      <p:sp>
        <p:nvSpPr>
          <p:cNvPr id="21" name="Text 19"/>
          <p:cNvSpPr/>
          <p:nvPr/>
        </p:nvSpPr>
        <p:spPr>
          <a:xfrm>
            <a:off x="8138160" y="1764792"/>
            <a:ext cx="502920" cy="960120"/>
          </a:xfrm>
          <a:prstGeom prst="rect">
            <a:avLst/>
          </a:prstGeom>
          <a:noFill/>
          <a:ln/>
        </p:spPr>
        <p:txBody>
          <a:bodyPr wrap="square" rtlCol="0" anchor="t"/>
          <a:lstStyle/>
          <a:p>
            <a:pPr indent="0" marL="0">
              <a:lnSpc>
                <a:spcPct val="108000"/>
              </a:lnSpc>
              <a:buNone/>
            </a:pPr>
            <a:r>
              <a:rPr lang="en-US" sz="850" dirty="0">
                <a:solidFill>
                  <a:srgbClr val="55595E"/>
                </a:solidFill>
                <a:latin typeface="Arial" pitchFamily="34" charset="0"/>
                <a:ea typeface="Arial" pitchFamily="34" charset="-122"/>
                <a:cs typeface="Arial" pitchFamily="34" charset="-120"/>
              </a:rPr>
              <a:t>Every worker follows the safe operating procedure for the task and wears mandatory PPE — 100% compliance, every shift, in the workshop and on site.</a:t>
            </a:r>
            <a:endParaRPr lang="en-US" sz="850" dirty="0"/>
          </a:p>
        </p:txBody>
      </p:sp>
      <p:sp>
        <p:nvSpPr>
          <p:cNvPr id="22" name="Shape 20"/>
          <p:cNvSpPr/>
          <p:nvPr/>
        </p:nvSpPr>
        <p:spPr>
          <a:xfrm>
            <a:off x="4663440" y="2688336"/>
            <a:ext cx="3977640" cy="0"/>
          </a:xfrm>
          <a:prstGeom prst="line">
            <a:avLst/>
          </a:prstGeom>
          <a:noFill/>
          <a:ln w="9525">
            <a:solidFill>
              <a:srgbClr val="D3CCBE"/>
            </a:solidFill>
            <a:prstDash val="solid"/>
          </a:ln>
        </p:spPr>
      </p:sp>
      <p:sp>
        <p:nvSpPr>
          <p:cNvPr id="23" name="Text 21"/>
          <p:cNvSpPr/>
          <p:nvPr/>
        </p:nvSpPr>
        <p:spPr>
          <a:xfrm>
            <a:off x="4663440" y="2788920"/>
            <a:ext cx="36576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02</a:t>
            </a:r>
            <a:endParaRPr lang="en-US" sz="900" dirty="0"/>
          </a:p>
        </p:txBody>
      </p:sp>
      <p:sp>
        <p:nvSpPr>
          <p:cNvPr id="24" name="Text 22"/>
          <p:cNvSpPr/>
          <p:nvPr/>
        </p:nvSpPr>
        <p:spPr>
          <a:xfrm>
            <a:off x="5029200" y="2770632"/>
            <a:ext cx="3017520" cy="960120"/>
          </a:xfrm>
          <a:prstGeom prst="rect">
            <a:avLst/>
          </a:prstGeom>
          <a:noFill/>
          <a:ln/>
        </p:spPr>
        <p:txBody>
          <a:bodyPr wrap="square" rtlCol="0" anchor="t"/>
          <a:lstStyle/>
          <a:p>
            <a:pPr indent="0" marL="0">
              <a:lnSpc>
                <a:spcPct val="100000"/>
              </a:lnSpc>
              <a:buNone/>
            </a:pPr>
            <a:r>
              <a:rPr lang="en-US" sz="1100" b="1" dirty="0">
                <a:solidFill>
                  <a:srgbClr val="22262A"/>
                </a:solidFill>
                <a:latin typeface="Arial Narrow" pitchFamily="34" charset="0"/>
                <a:ea typeface="Arial Narrow" pitchFamily="34" charset="-122"/>
                <a:cs typeface="Arial Narrow" pitchFamily="34" charset="-120"/>
              </a:rPr>
              <a:t>Report unsafe conditions</a:t>
            </a:r>
            <a:endParaRPr lang="en-US" sz="1100" dirty="0"/>
          </a:p>
        </p:txBody>
      </p:sp>
      <p:sp>
        <p:nvSpPr>
          <p:cNvPr id="25" name="Text 23"/>
          <p:cNvSpPr/>
          <p:nvPr/>
        </p:nvSpPr>
        <p:spPr>
          <a:xfrm>
            <a:off x="8138160" y="2770632"/>
            <a:ext cx="502920" cy="960120"/>
          </a:xfrm>
          <a:prstGeom prst="rect">
            <a:avLst/>
          </a:prstGeom>
          <a:noFill/>
          <a:ln/>
        </p:spPr>
        <p:txBody>
          <a:bodyPr wrap="square" rtlCol="0" anchor="t"/>
          <a:lstStyle/>
          <a:p>
            <a:pPr indent="0" marL="0">
              <a:lnSpc>
                <a:spcPct val="108000"/>
              </a:lnSpc>
              <a:buNone/>
            </a:pPr>
            <a:r>
              <a:rPr lang="en-US" sz="850" dirty="0">
                <a:solidFill>
                  <a:srgbClr val="55595E"/>
                </a:solidFill>
                <a:latin typeface="Arial" pitchFamily="34" charset="0"/>
                <a:ea typeface="Arial" pitchFamily="34" charset="-122"/>
                <a:cs typeface="Arial" pitchFamily="34" charset="-120"/>
              </a:rPr>
              <a:t>Any unsafe condition, equipment malfunction or near-miss is reported to the supervisor immediately, under a no-blame reporting culture.</a:t>
            </a:r>
            <a:endParaRPr lang="en-US" sz="850" dirty="0"/>
          </a:p>
        </p:txBody>
      </p:sp>
      <p:sp>
        <p:nvSpPr>
          <p:cNvPr id="26" name="Shape 24"/>
          <p:cNvSpPr/>
          <p:nvPr/>
        </p:nvSpPr>
        <p:spPr>
          <a:xfrm>
            <a:off x="4663440" y="3694176"/>
            <a:ext cx="3977640" cy="0"/>
          </a:xfrm>
          <a:prstGeom prst="line">
            <a:avLst/>
          </a:prstGeom>
          <a:noFill/>
          <a:ln w="9525">
            <a:solidFill>
              <a:srgbClr val="D3CCBE"/>
            </a:solidFill>
            <a:prstDash val="solid"/>
          </a:ln>
        </p:spPr>
      </p:sp>
      <p:sp>
        <p:nvSpPr>
          <p:cNvPr id="27" name="Text 25"/>
          <p:cNvSpPr/>
          <p:nvPr/>
        </p:nvSpPr>
        <p:spPr>
          <a:xfrm>
            <a:off x="4663440" y="3794760"/>
            <a:ext cx="365760" cy="274320"/>
          </a:xfrm>
          <a:prstGeom prst="rect">
            <a:avLst/>
          </a:prstGeom>
          <a:noFill/>
          <a:ln/>
        </p:spPr>
        <p:txBody>
          <a:bodyPr wrap="square" rtlCol="0" anchor="ctr"/>
          <a:lstStyle/>
          <a:p>
            <a:pPr indent="0" marL="0">
              <a:buNone/>
            </a:pPr>
            <a:r>
              <a:rPr lang="en-US" sz="900" b="1" dirty="0">
                <a:solidFill>
                  <a:srgbClr val="C4441F"/>
                </a:solidFill>
                <a:latin typeface="Consolas" pitchFamily="34" charset="0"/>
                <a:ea typeface="Consolas" pitchFamily="34" charset="-122"/>
                <a:cs typeface="Consolas" pitchFamily="34" charset="-120"/>
              </a:rPr>
              <a:t>03</a:t>
            </a:r>
            <a:endParaRPr lang="en-US" sz="900" dirty="0"/>
          </a:p>
        </p:txBody>
      </p:sp>
      <p:sp>
        <p:nvSpPr>
          <p:cNvPr id="28" name="Text 26"/>
          <p:cNvSpPr/>
          <p:nvPr/>
        </p:nvSpPr>
        <p:spPr>
          <a:xfrm>
            <a:off x="5029200" y="3776472"/>
            <a:ext cx="3017520" cy="960120"/>
          </a:xfrm>
          <a:prstGeom prst="rect">
            <a:avLst/>
          </a:prstGeom>
          <a:noFill/>
          <a:ln/>
        </p:spPr>
        <p:txBody>
          <a:bodyPr wrap="square" rtlCol="0" anchor="t"/>
          <a:lstStyle/>
          <a:p>
            <a:pPr indent="0" marL="0">
              <a:lnSpc>
                <a:spcPct val="100000"/>
              </a:lnSpc>
              <a:buNone/>
            </a:pPr>
            <a:r>
              <a:rPr lang="en-US" sz="1100" b="1" dirty="0">
                <a:solidFill>
                  <a:srgbClr val="22262A"/>
                </a:solidFill>
                <a:latin typeface="Arial Narrow" pitchFamily="34" charset="0"/>
                <a:ea typeface="Arial Narrow" pitchFamily="34" charset="-122"/>
                <a:cs typeface="Arial Narrow" pitchFamily="34" charset="-120"/>
              </a:rPr>
              <a:t>Stop work authority</a:t>
            </a:r>
            <a:endParaRPr lang="en-US" sz="1100" dirty="0"/>
          </a:p>
        </p:txBody>
      </p:sp>
      <p:sp>
        <p:nvSpPr>
          <p:cNvPr id="29" name="Text 27"/>
          <p:cNvSpPr/>
          <p:nvPr/>
        </p:nvSpPr>
        <p:spPr>
          <a:xfrm>
            <a:off x="8138160" y="3776472"/>
            <a:ext cx="502920" cy="960120"/>
          </a:xfrm>
          <a:prstGeom prst="rect">
            <a:avLst/>
          </a:prstGeom>
          <a:noFill/>
          <a:ln/>
        </p:spPr>
        <p:txBody>
          <a:bodyPr wrap="square" rtlCol="0" anchor="t"/>
          <a:lstStyle/>
          <a:p>
            <a:pPr indent="0" marL="0">
              <a:lnSpc>
                <a:spcPct val="108000"/>
              </a:lnSpc>
              <a:buNone/>
            </a:pPr>
            <a:r>
              <a:rPr lang="en-US" sz="850" dirty="0">
                <a:solidFill>
                  <a:srgbClr val="55595E"/>
                </a:solidFill>
                <a:latin typeface="Arial" pitchFamily="34" charset="0"/>
                <a:ea typeface="Arial" pitchFamily="34" charset="-122"/>
                <a:cs typeface="Arial" pitchFamily="34" charset="-120"/>
              </a:rPr>
              <a:t>Every worker has the absolute right, without fear of retaliation, to stop work they believe poses an imminent hazard to life, health or structural integrity.</a:t>
            </a:r>
            <a:endParaRPr lang="en-US" sz="850" dirty="0"/>
          </a:p>
        </p:txBody>
      </p:sp>
      <p:sp>
        <p:nvSpPr>
          <p:cNvPr id="30" name="Shape 28"/>
          <p:cNvSpPr/>
          <p:nvPr/>
        </p:nvSpPr>
        <p:spPr>
          <a:xfrm>
            <a:off x="4663440" y="4700016"/>
            <a:ext cx="3977640" cy="0"/>
          </a:xfrm>
          <a:prstGeom prst="line">
            <a:avLst/>
          </a:prstGeom>
          <a:noFill/>
          <a:ln w="9525">
            <a:solidFill>
              <a:srgbClr val="D3CCBE"/>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C4441F"/>
                </a:solidFill>
                <a:latin typeface="Consolas" pitchFamily="34" charset="0"/>
                <a:ea typeface="Consolas" pitchFamily="34" charset="-122"/>
                <a:cs typeface="Consolas" pitchFamily="34" charset="-120"/>
              </a:rPr>
              <a:t>10 · SAFETY &amp; HEALTH — SAFE SYSTEMS</a:t>
            </a:r>
            <a:endParaRPr lang="en-US" sz="900" dirty="0"/>
          </a:p>
        </p:txBody>
      </p:sp>
      <p:sp>
        <p:nvSpPr>
          <p:cNvPr id="3" name="Shape 1"/>
          <p:cNvSpPr/>
          <p:nvPr/>
        </p:nvSpPr>
        <p:spPr>
          <a:xfrm>
            <a:off x="502920" y="603504"/>
            <a:ext cx="1280160" cy="0"/>
          </a:xfrm>
          <a:prstGeom prst="line">
            <a:avLst/>
          </a:prstGeom>
          <a:noFill/>
          <a:ln w="25400">
            <a:solidFill>
              <a:srgbClr val="C4441F"/>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3000" b="1" dirty="0">
                <a:solidFill>
                  <a:srgbClr val="22262A"/>
                </a:solidFill>
                <a:latin typeface="Arial Narrow" pitchFamily="34" charset="0"/>
                <a:ea typeface="Arial Narrow" pitchFamily="34" charset="-122"/>
                <a:cs typeface="Arial Narrow" pitchFamily="34" charset="-120"/>
              </a:rPr>
              <a:t>SAFE SYSTEMS </a:t>
            </a:r>
            <a:pPr indent="0" marL="0">
              <a:lnSpc>
                <a:spcPct val="95000"/>
              </a:lnSpc>
              <a:buNone/>
            </a:pPr>
            <a:r>
              <a:rPr lang="en-US" sz="3000" b="1" dirty="0">
                <a:solidFill>
                  <a:srgbClr val="C4441F"/>
                </a:solidFill>
                <a:latin typeface="Arial Narrow" pitchFamily="34" charset="0"/>
                <a:ea typeface="Arial Narrow" pitchFamily="34" charset="-122"/>
                <a:cs typeface="Arial Narrow" pitchFamily="34" charset="-120"/>
              </a:rPr>
              <a:t>OF WORK</a:t>
            </a:r>
            <a:endParaRPr lang="en-US" sz="3000" dirty="0"/>
          </a:p>
        </p:txBody>
      </p:sp>
      <p:sp>
        <p:nvSpPr>
          <p:cNvPr id="5" name="Shape 3"/>
          <p:cNvSpPr/>
          <p:nvPr/>
        </p:nvSpPr>
        <p:spPr>
          <a:xfrm>
            <a:off x="502920" y="1517904"/>
            <a:ext cx="3986784" cy="1280160"/>
          </a:xfrm>
          <a:prstGeom prst="roundRect">
            <a:avLst>
              <a:gd name="adj" fmla="val 2857"/>
            </a:avLst>
          </a:prstGeom>
          <a:solidFill>
            <a:srgbClr val="F7F3EA"/>
          </a:solidFill>
          <a:ln w="12700">
            <a:solidFill>
              <a:srgbClr val="C9C2B4"/>
            </a:solidFill>
            <a:prstDash val="solid"/>
          </a:ln>
        </p:spPr>
      </p:sp>
      <p:sp>
        <p:nvSpPr>
          <p:cNvPr id="6" name="Shape 4"/>
          <p:cNvSpPr/>
          <p:nvPr/>
        </p:nvSpPr>
        <p:spPr>
          <a:xfrm>
            <a:off x="649224" y="1691640"/>
            <a:ext cx="91440" cy="91440"/>
          </a:xfrm>
          <a:prstGeom prst="ellipse">
            <a:avLst/>
          </a:prstGeom>
          <a:solidFill>
            <a:srgbClr val="C4441F"/>
          </a:solidFill>
          <a:ln w="12700">
            <a:solidFill>
              <a:srgbClr val="333333"/>
            </a:solidFill>
            <a:prstDash val="solid"/>
          </a:ln>
        </p:spPr>
      </p:sp>
      <p:sp>
        <p:nvSpPr>
          <p:cNvPr id="7" name="Text 5"/>
          <p:cNvSpPr/>
          <p:nvPr/>
        </p:nvSpPr>
        <p:spPr>
          <a:xfrm>
            <a:off x="832104" y="1609344"/>
            <a:ext cx="3529584" cy="274320"/>
          </a:xfrm>
          <a:prstGeom prst="rect">
            <a:avLst/>
          </a:prstGeom>
          <a:noFill/>
          <a:ln/>
        </p:spPr>
        <p:txBody>
          <a:bodyPr wrap="square" rtlCol="0" anchor="ctr"/>
          <a:lstStyle/>
          <a:p>
            <a:pPr indent="0" marL="0">
              <a:buNone/>
            </a:pPr>
            <a:r>
              <a:rPr lang="en-US" sz="1300" b="1" dirty="0">
                <a:solidFill>
                  <a:srgbClr val="22262A"/>
                </a:solidFill>
                <a:latin typeface="Arial Narrow" pitchFamily="34" charset="0"/>
                <a:ea typeface="Arial Narrow" pitchFamily="34" charset="-122"/>
                <a:cs typeface="Arial Narrow" pitchFamily="34" charset="-120"/>
              </a:rPr>
              <a:t>PERMIT-TO-WORK</a:t>
            </a:r>
            <a:endParaRPr lang="en-US" sz="1300" dirty="0"/>
          </a:p>
        </p:txBody>
      </p:sp>
      <p:sp>
        <p:nvSpPr>
          <p:cNvPr id="8" name="Text 6"/>
          <p:cNvSpPr/>
          <p:nvPr/>
        </p:nvSpPr>
        <p:spPr>
          <a:xfrm>
            <a:off x="832104" y="1920240"/>
            <a:ext cx="3483864" cy="777240"/>
          </a:xfrm>
          <a:prstGeom prst="rect">
            <a:avLst/>
          </a:prstGeom>
          <a:noFill/>
          <a:ln/>
        </p:spPr>
        <p:txBody>
          <a:bodyPr wrap="square" rtlCol="0" anchor="t"/>
          <a:lstStyle/>
          <a:p>
            <a:pPr indent="0" marL="0">
              <a:lnSpc>
                <a:spcPct val="115000"/>
              </a:lnSpc>
              <a:buNone/>
            </a:pPr>
            <a:r>
              <a:rPr lang="en-US" sz="950" dirty="0">
                <a:solidFill>
                  <a:srgbClr val="55595E"/>
                </a:solidFill>
                <a:latin typeface="Arial" pitchFamily="34" charset="0"/>
                <a:ea typeface="Arial" pitchFamily="34" charset="-122"/>
                <a:cs typeface="Arial" pitchFamily="34" charset="-120"/>
              </a:rPr>
              <a:t>Hot work, confined space and working-at-height permits issued per job before any high-risk activity begins.</a:t>
            </a:r>
            <a:endParaRPr lang="en-US" sz="950" dirty="0"/>
          </a:p>
        </p:txBody>
      </p:sp>
      <p:sp>
        <p:nvSpPr>
          <p:cNvPr id="9" name="Shape 7"/>
          <p:cNvSpPr/>
          <p:nvPr/>
        </p:nvSpPr>
        <p:spPr>
          <a:xfrm>
            <a:off x="4654296" y="1517904"/>
            <a:ext cx="3986784" cy="1280160"/>
          </a:xfrm>
          <a:prstGeom prst="roundRect">
            <a:avLst>
              <a:gd name="adj" fmla="val 2857"/>
            </a:avLst>
          </a:prstGeom>
          <a:solidFill>
            <a:srgbClr val="F7F3EA"/>
          </a:solidFill>
          <a:ln w="12700">
            <a:solidFill>
              <a:srgbClr val="C9C2B4"/>
            </a:solidFill>
            <a:prstDash val="solid"/>
          </a:ln>
        </p:spPr>
      </p:sp>
      <p:sp>
        <p:nvSpPr>
          <p:cNvPr id="10" name="Shape 8"/>
          <p:cNvSpPr/>
          <p:nvPr/>
        </p:nvSpPr>
        <p:spPr>
          <a:xfrm>
            <a:off x="4800600" y="1691640"/>
            <a:ext cx="91440" cy="91440"/>
          </a:xfrm>
          <a:prstGeom prst="ellipse">
            <a:avLst/>
          </a:prstGeom>
          <a:solidFill>
            <a:srgbClr val="C4441F"/>
          </a:solidFill>
          <a:ln w="12700">
            <a:solidFill>
              <a:srgbClr val="333333"/>
            </a:solidFill>
            <a:prstDash val="solid"/>
          </a:ln>
        </p:spPr>
      </p:sp>
      <p:sp>
        <p:nvSpPr>
          <p:cNvPr id="11" name="Text 9"/>
          <p:cNvSpPr/>
          <p:nvPr/>
        </p:nvSpPr>
        <p:spPr>
          <a:xfrm>
            <a:off x="4983480" y="1609344"/>
            <a:ext cx="3529584" cy="274320"/>
          </a:xfrm>
          <a:prstGeom prst="rect">
            <a:avLst/>
          </a:prstGeom>
          <a:noFill/>
          <a:ln/>
        </p:spPr>
        <p:txBody>
          <a:bodyPr wrap="square" rtlCol="0" anchor="ctr"/>
          <a:lstStyle/>
          <a:p>
            <a:pPr indent="0" marL="0">
              <a:buNone/>
            </a:pPr>
            <a:r>
              <a:rPr lang="en-US" sz="1300" b="1" dirty="0">
                <a:solidFill>
                  <a:srgbClr val="22262A"/>
                </a:solidFill>
                <a:latin typeface="Arial Narrow" pitchFamily="34" charset="0"/>
                <a:ea typeface="Arial Narrow" pitchFamily="34" charset="-122"/>
                <a:cs typeface="Arial Narrow" pitchFamily="34" charset="-120"/>
              </a:rPr>
              <a:t>CONFINED SPACE ENTRY</a:t>
            </a:r>
            <a:endParaRPr lang="en-US" sz="1300" dirty="0"/>
          </a:p>
        </p:txBody>
      </p:sp>
      <p:sp>
        <p:nvSpPr>
          <p:cNvPr id="12" name="Text 10"/>
          <p:cNvSpPr/>
          <p:nvPr/>
        </p:nvSpPr>
        <p:spPr>
          <a:xfrm>
            <a:off x="4983480" y="1920240"/>
            <a:ext cx="3483864" cy="777240"/>
          </a:xfrm>
          <a:prstGeom prst="rect">
            <a:avLst/>
          </a:prstGeom>
          <a:noFill/>
          <a:ln/>
        </p:spPr>
        <p:txBody>
          <a:bodyPr wrap="square" rtlCol="0" anchor="t"/>
          <a:lstStyle/>
          <a:p>
            <a:pPr indent="0" marL="0">
              <a:lnSpc>
                <a:spcPct val="115000"/>
              </a:lnSpc>
              <a:buNone/>
            </a:pPr>
            <a:r>
              <a:rPr lang="en-US" sz="950" dirty="0">
                <a:solidFill>
                  <a:srgbClr val="55595E"/>
                </a:solidFill>
                <a:latin typeface="Arial" pitchFamily="34" charset="0"/>
                <a:ea typeface="Arial" pitchFamily="34" charset="-122"/>
                <a:cs typeface="Arial" pitchFamily="34" charset="-120"/>
              </a:rPr>
              <a:t>Atmospheric testing, continuous ventilation, a constant attendant and a standby rescue team for vessel and furnace entry.</a:t>
            </a:r>
            <a:endParaRPr lang="en-US" sz="950" dirty="0"/>
          </a:p>
        </p:txBody>
      </p:sp>
      <p:sp>
        <p:nvSpPr>
          <p:cNvPr id="13" name="Shape 11"/>
          <p:cNvSpPr/>
          <p:nvPr/>
        </p:nvSpPr>
        <p:spPr>
          <a:xfrm>
            <a:off x="502920" y="2944368"/>
            <a:ext cx="3986784" cy="1280160"/>
          </a:xfrm>
          <a:prstGeom prst="roundRect">
            <a:avLst>
              <a:gd name="adj" fmla="val 2857"/>
            </a:avLst>
          </a:prstGeom>
          <a:solidFill>
            <a:srgbClr val="F7F3EA"/>
          </a:solidFill>
          <a:ln w="12700">
            <a:solidFill>
              <a:srgbClr val="C9C2B4"/>
            </a:solidFill>
            <a:prstDash val="solid"/>
          </a:ln>
        </p:spPr>
      </p:sp>
      <p:sp>
        <p:nvSpPr>
          <p:cNvPr id="14" name="Shape 12"/>
          <p:cNvSpPr/>
          <p:nvPr/>
        </p:nvSpPr>
        <p:spPr>
          <a:xfrm>
            <a:off x="649224" y="3118104"/>
            <a:ext cx="91440" cy="91440"/>
          </a:xfrm>
          <a:prstGeom prst="ellipse">
            <a:avLst/>
          </a:prstGeom>
          <a:solidFill>
            <a:srgbClr val="C4441F"/>
          </a:solidFill>
          <a:ln w="12700">
            <a:solidFill>
              <a:srgbClr val="333333"/>
            </a:solidFill>
            <a:prstDash val="solid"/>
          </a:ln>
        </p:spPr>
      </p:sp>
      <p:sp>
        <p:nvSpPr>
          <p:cNvPr id="15" name="Text 13"/>
          <p:cNvSpPr/>
          <p:nvPr/>
        </p:nvSpPr>
        <p:spPr>
          <a:xfrm>
            <a:off x="832104" y="3035808"/>
            <a:ext cx="3529584" cy="274320"/>
          </a:xfrm>
          <a:prstGeom prst="rect">
            <a:avLst/>
          </a:prstGeom>
          <a:noFill/>
          <a:ln/>
        </p:spPr>
        <p:txBody>
          <a:bodyPr wrap="square" rtlCol="0" anchor="ctr"/>
          <a:lstStyle/>
          <a:p>
            <a:pPr indent="0" marL="0">
              <a:buNone/>
            </a:pPr>
            <a:r>
              <a:rPr lang="en-US" sz="1300" b="1" dirty="0">
                <a:solidFill>
                  <a:srgbClr val="22262A"/>
                </a:solidFill>
                <a:latin typeface="Arial Narrow" pitchFamily="34" charset="0"/>
                <a:ea typeface="Arial Narrow" pitchFamily="34" charset="-122"/>
                <a:cs typeface="Arial Narrow" pitchFamily="34" charset="-120"/>
              </a:rPr>
              <a:t>HOT WORK CONTROL</a:t>
            </a:r>
            <a:endParaRPr lang="en-US" sz="1300" dirty="0"/>
          </a:p>
        </p:txBody>
      </p:sp>
      <p:sp>
        <p:nvSpPr>
          <p:cNvPr id="16" name="Text 14"/>
          <p:cNvSpPr/>
          <p:nvPr/>
        </p:nvSpPr>
        <p:spPr>
          <a:xfrm>
            <a:off x="832104" y="3346704"/>
            <a:ext cx="3483864" cy="777240"/>
          </a:xfrm>
          <a:prstGeom prst="rect">
            <a:avLst/>
          </a:prstGeom>
          <a:noFill/>
          <a:ln/>
        </p:spPr>
        <p:txBody>
          <a:bodyPr wrap="square" rtlCol="0" anchor="t"/>
          <a:lstStyle/>
          <a:p>
            <a:pPr indent="0" marL="0">
              <a:lnSpc>
                <a:spcPct val="115000"/>
              </a:lnSpc>
              <a:buNone/>
            </a:pPr>
            <a:r>
              <a:rPr lang="en-US" sz="950" dirty="0">
                <a:solidFill>
                  <a:srgbClr val="55595E"/>
                </a:solidFill>
                <a:latin typeface="Arial" pitchFamily="34" charset="0"/>
                <a:ea typeface="Arial" pitchFamily="34" charset="-122"/>
                <a:cs typeface="Arial" pitchFamily="34" charset="-120"/>
              </a:rPr>
              <a:t>Atmospheric monitoring, fire watch, spark containment and flammable-zone clearance for welding and gouging.</a:t>
            </a:r>
            <a:endParaRPr lang="en-US" sz="950" dirty="0"/>
          </a:p>
        </p:txBody>
      </p:sp>
      <p:sp>
        <p:nvSpPr>
          <p:cNvPr id="17" name="Shape 15"/>
          <p:cNvSpPr/>
          <p:nvPr/>
        </p:nvSpPr>
        <p:spPr>
          <a:xfrm>
            <a:off x="4654296" y="2944368"/>
            <a:ext cx="3986784" cy="1280160"/>
          </a:xfrm>
          <a:prstGeom prst="roundRect">
            <a:avLst>
              <a:gd name="adj" fmla="val 2857"/>
            </a:avLst>
          </a:prstGeom>
          <a:solidFill>
            <a:srgbClr val="F7F3EA"/>
          </a:solidFill>
          <a:ln w="12700">
            <a:solidFill>
              <a:srgbClr val="C9C2B4"/>
            </a:solidFill>
            <a:prstDash val="solid"/>
          </a:ln>
        </p:spPr>
      </p:sp>
      <p:sp>
        <p:nvSpPr>
          <p:cNvPr id="18" name="Shape 16"/>
          <p:cNvSpPr/>
          <p:nvPr/>
        </p:nvSpPr>
        <p:spPr>
          <a:xfrm>
            <a:off x="4800600" y="3118104"/>
            <a:ext cx="91440" cy="91440"/>
          </a:xfrm>
          <a:prstGeom prst="ellipse">
            <a:avLst/>
          </a:prstGeom>
          <a:solidFill>
            <a:srgbClr val="C4441F"/>
          </a:solidFill>
          <a:ln w="12700">
            <a:solidFill>
              <a:srgbClr val="333333"/>
            </a:solidFill>
            <a:prstDash val="solid"/>
          </a:ln>
        </p:spPr>
      </p:sp>
      <p:sp>
        <p:nvSpPr>
          <p:cNvPr id="19" name="Text 17"/>
          <p:cNvSpPr/>
          <p:nvPr/>
        </p:nvSpPr>
        <p:spPr>
          <a:xfrm>
            <a:off x="4983480" y="3035808"/>
            <a:ext cx="3529584" cy="274320"/>
          </a:xfrm>
          <a:prstGeom prst="rect">
            <a:avLst/>
          </a:prstGeom>
          <a:noFill/>
          <a:ln/>
        </p:spPr>
        <p:txBody>
          <a:bodyPr wrap="square" rtlCol="0" anchor="ctr"/>
          <a:lstStyle/>
          <a:p>
            <a:pPr indent="0" marL="0">
              <a:buNone/>
            </a:pPr>
            <a:r>
              <a:rPr lang="en-US" sz="1300" b="1" dirty="0">
                <a:solidFill>
                  <a:srgbClr val="22262A"/>
                </a:solidFill>
                <a:latin typeface="Arial Narrow" pitchFamily="34" charset="0"/>
                <a:ea typeface="Arial Narrow" pitchFamily="34" charset="-122"/>
                <a:cs typeface="Arial Narrow" pitchFamily="34" charset="-120"/>
              </a:rPr>
              <a:t>LIFTING &amp; HANDLING</a:t>
            </a:r>
            <a:endParaRPr lang="en-US" sz="1300" dirty="0"/>
          </a:p>
        </p:txBody>
      </p:sp>
      <p:sp>
        <p:nvSpPr>
          <p:cNvPr id="20" name="Text 18"/>
          <p:cNvSpPr/>
          <p:nvPr/>
        </p:nvSpPr>
        <p:spPr>
          <a:xfrm>
            <a:off x="4983480" y="3346704"/>
            <a:ext cx="3483864" cy="777240"/>
          </a:xfrm>
          <a:prstGeom prst="rect">
            <a:avLst/>
          </a:prstGeom>
          <a:noFill/>
          <a:ln/>
        </p:spPr>
        <p:txBody>
          <a:bodyPr wrap="square" rtlCol="0" anchor="t"/>
          <a:lstStyle/>
          <a:p>
            <a:pPr indent="0" marL="0">
              <a:lnSpc>
                <a:spcPct val="115000"/>
              </a:lnSpc>
              <a:buNone/>
            </a:pPr>
            <a:r>
              <a:rPr lang="en-US" sz="950" dirty="0">
                <a:solidFill>
                  <a:srgbClr val="55595E"/>
                </a:solidFill>
                <a:latin typeface="Arial" pitchFamily="34" charset="0"/>
                <a:ea typeface="Arial" pitchFamily="34" charset="-122"/>
                <a:cs typeface="Arial" pitchFamily="34" charset="-120"/>
              </a:rPr>
              <a:t>Certified riggers, lifting plans and craneage inspection under strict load management to prevent dropped objects and crush injuries.</a:t>
            </a:r>
            <a:endParaRPr lang="en-US" sz="950" dirty="0"/>
          </a:p>
        </p:txBody>
      </p:sp>
      <p:sp>
        <p:nvSpPr>
          <p:cNvPr id="21" name="Shape 19"/>
          <p:cNvSpPr/>
          <p:nvPr/>
        </p:nvSpPr>
        <p:spPr>
          <a:xfrm>
            <a:off x="502920" y="4206240"/>
            <a:ext cx="8138160" cy="512064"/>
          </a:xfrm>
          <a:prstGeom prst="rect">
            <a:avLst/>
          </a:prstGeom>
          <a:solidFill>
            <a:srgbClr val="E6E0D3"/>
          </a:solidFill>
          <a:ln w="12700">
            <a:solidFill>
              <a:srgbClr val="C4441F"/>
            </a:solidFill>
            <a:prstDash val="solid"/>
          </a:ln>
        </p:spPr>
      </p:sp>
      <p:sp>
        <p:nvSpPr>
          <p:cNvPr id="22" name="Shape 20"/>
          <p:cNvSpPr/>
          <p:nvPr/>
        </p:nvSpPr>
        <p:spPr>
          <a:xfrm>
            <a:off x="502920" y="4206240"/>
            <a:ext cx="45720" cy="512064"/>
          </a:xfrm>
          <a:prstGeom prst="rect">
            <a:avLst/>
          </a:prstGeom>
          <a:solidFill>
            <a:srgbClr val="C4441F"/>
          </a:solidFill>
          <a:ln w="12700">
            <a:solidFill>
              <a:srgbClr val="333333"/>
            </a:solidFill>
            <a:prstDash val="solid"/>
          </a:ln>
        </p:spPr>
      </p:sp>
      <p:sp>
        <p:nvSpPr>
          <p:cNvPr id="23" name="Text 21"/>
          <p:cNvSpPr/>
          <p:nvPr/>
        </p:nvSpPr>
        <p:spPr>
          <a:xfrm>
            <a:off x="667512" y="4279392"/>
            <a:ext cx="7827264" cy="365760"/>
          </a:xfrm>
          <a:prstGeom prst="rect">
            <a:avLst/>
          </a:prstGeom>
          <a:noFill/>
          <a:ln/>
        </p:spPr>
        <p:txBody>
          <a:bodyPr wrap="square" rtlCol="0" anchor="ctr"/>
          <a:lstStyle/>
          <a:p>
            <a:pPr indent="0" marL="0">
              <a:lnSpc>
                <a:spcPct val="125000"/>
              </a:lnSpc>
              <a:buNone/>
            </a:pPr>
            <a:r>
              <a:rPr lang="en-US" sz="800" spc="40" kern="0" dirty="0">
                <a:solidFill>
                  <a:srgbClr val="55595E"/>
                </a:solidFill>
                <a:latin typeface="Consolas" pitchFamily="34" charset="0"/>
                <a:ea typeface="Consolas" pitchFamily="34" charset="-122"/>
                <a:cs typeface="Consolas" pitchFamily="34" charset="-120"/>
              </a:rPr>
              <a:t>DAILY PRE-TASK TOOLBOX TALKS · 100% MANDATORY PPE · NO-BLAME NEAR-MISS REPORTING · STOP WORK AUTHORITY FOR EVERY WORKER · PRESSURE TESTING WITNESSED BY A DOSH INSPECTING OFFICER.</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F2B705"/>
                </a:solidFill>
                <a:latin typeface="Consolas" pitchFamily="34" charset="0"/>
                <a:ea typeface="Consolas" pitchFamily="34" charset="-122"/>
                <a:cs typeface="Consolas" pitchFamily="34" charset="-120"/>
              </a:rPr>
              <a:t>11 · ORGANISATION CHART (OPENED FROM THE DATA PLATE)</a:t>
            </a:r>
            <a:endParaRPr lang="en-US" sz="900" dirty="0"/>
          </a:p>
        </p:txBody>
      </p:sp>
      <p:sp>
        <p:nvSpPr>
          <p:cNvPr id="3" name="Shape 1"/>
          <p:cNvSpPr/>
          <p:nvPr/>
        </p:nvSpPr>
        <p:spPr>
          <a:xfrm>
            <a:off x="502920" y="603504"/>
            <a:ext cx="1280160" cy="0"/>
          </a:xfrm>
          <a:prstGeom prst="line">
            <a:avLst/>
          </a:prstGeom>
          <a:noFill/>
          <a:ln w="25400">
            <a:solidFill>
              <a:srgbClr val="F2B705"/>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2900" b="1" dirty="0">
                <a:solidFill>
                  <a:srgbClr val="E7E2D8"/>
                </a:solidFill>
                <a:latin typeface="Arial Narrow" pitchFamily="34" charset="0"/>
                <a:ea typeface="Arial Narrow" pitchFamily="34" charset="-122"/>
                <a:cs typeface="Arial Narrow" pitchFamily="34" charset="-120"/>
              </a:rPr>
              <a:t>LIST OF </a:t>
            </a:r>
            <a:pPr indent="0" marL="0">
              <a:lnSpc>
                <a:spcPct val="95000"/>
              </a:lnSpc>
              <a:buNone/>
            </a:pPr>
            <a:r>
              <a:rPr lang="en-US" sz="2900" b="1" dirty="0">
                <a:solidFill>
                  <a:srgbClr val="F2B705"/>
                </a:solidFill>
                <a:latin typeface="Arial Narrow" pitchFamily="34" charset="0"/>
                <a:ea typeface="Arial Narrow" pitchFamily="34" charset="-122"/>
                <a:cs typeface="Arial Narrow" pitchFamily="34" charset="-120"/>
              </a:rPr>
              <a:t>TECHNICAL PERSON</a:t>
            </a:r>
            <a:endParaRPr lang="en-US" sz="2900" dirty="0"/>
          </a:p>
        </p:txBody>
      </p:sp>
      <p:sp>
        <p:nvSpPr>
          <p:cNvPr id="5" name="Text 3"/>
          <p:cNvSpPr/>
          <p:nvPr/>
        </p:nvSpPr>
        <p:spPr>
          <a:xfrm>
            <a:off x="502920" y="1408176"/>
            <a:ext cx="8138160" cy="274320"/>
          </a:xfrm>
          <a:prstGeom prst="rect">
            <a:avLst/>
          </a:prstGeom>
          <a:noFill/>
          <a:ln/>
        </p:spPr>
        <p:txBody>
          <a:bodyPr wrap="square" rtlCol="0" anchor="ctr"/>
          <a:lstStyle/>
          <a:p>
            <a:pPr indent="0" marL="0">
              <a:buNone/>
            </a:pPr>
            <a:r>
              <a:rPr lang="en-US" sz="1000" dirty="0">
                <a:solidFill>
                  <a:srgbClr val="A9A69E"/>
                </a:solidFill>
                <a:latin typeface="Arial" pitchFamily="34" charset="0"/>
                <a:ea typeface="Arial" pitchFamily="34" charset="-122"/>
                <a:cs typeface="Arial" pitchFamily="34" charset="-120"/>
              </a:rPr>
              <a:t>Managing Director → key roles → support → site &amp; workshop staff — shown in the website's organisation-chart popup:</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468880"/>
                <a:gridCol w="2011680"/>
                <a:gridCol w="640080"/>
                <a:gridCol w="3017520"/>
              </a:tblGrid>
              <a:tr h="256032">
                <a:tc>
                  <a:txBody>
                    <a:bodyPr/>
                    <a:lstStyle/>
                    <a:p>
                      <a:pPr indent="0" marL="0">
                        <a:buNone/>
                      </a:pPr>
                      <a:r>
                        <a:rPr lang="en-US" sz="850" b="1" dirty="0">
                          <a:solidFill>
                            <a:srgbClr val="F2B705"/>
                          </a:solidFill>
                          <a:latin typeface="Consolas" pitchFamily="34" charset="0"/>
                          <a:ea typeface="Consolas" pitchFamily="34" charset="-122"/>
                          <a:cs typeface="Consolas" pitchFamily="34" charset="-120"/>
                        </a:rPr>
                        <a:t>NAME</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solidFill>
                      <a:srgbClr val="1D242B"/>
                    </a:solidFill>
                  </a:tcPr>
                </a:tc>
                <a:tc>
                  <a:txBody>
                    <a:bodyPr/>
                    <a:lstStyle/>
                    <a:p>
                      <a:pPr indent="0" marL="0">
                        <a:buNone/>
                      </a:pPr>
                      <a:r>
                        <a:rPr lang="en-US" sz="850" b="1" dirty="0">
                          <a:solidFill>
                            <a:srgbClr val="F2B705"/>
                          </a:solidFill>
                          <a:latin typeface="Consolas" pitchFamily="34" charset="0"/>
                          <a:ea typeface="Consolas" pitchFamily="34" charset="-122"/>
                          <a:cs typeface="Consolas" pitchFamily="34" charset="-120"/>
                        </a:rPr>
                        <a:t>ROLE</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solidFill>
                      <a:srgbClr val="1D242B"/>
                    </a:solidFill>
                  </a:tcPr>
                </a:tc>
                <a:tc>
                  <a:txBody>
                    <a:bodyPr/>
                    <a:lstStyle/>
                    <a:p>
                      <a:pPr indent="0" marL="0">
                        <a:buNone/>
                      </a:pPr>
                      <a:r>
                        <a:rPr lang="en-US" sz="850" b="1" dirty="0">
                          <a:solidFill>
                            <a:srgbClr val="F2B705"/>
                          </a:solidFill>
                          <a:latin typeface="Consolas" pitchFamily="34" charset="0"/>
                          <a:ea typeface="Consolas" pitchFamily="34" charset="-122"/>
                          <a:cs typeface="Consolas" pitchFamily="34" charset="-120"/>
                        </a:rPr>
                        <a:t>EXP.</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solidFill>
                      <a:srgbClr val="1D242B"/>
                    </a:solidFill>
                  </a:tcPr>
                </a:tc>
                <a:tc>
                  <a:txBody>
                    <a:bodyPr/>
                    <a:lstStyle/>
                    <a:p>
                      <a:pPr indent="0" marL="0">
                        <a:buNone/>
                      </a:pPr>
                      <a:r>
                        <a:rPr lang="en-US" sz="850" b="1" dirty="0">
                          <a:solidFill>
                            <a:srgbClr val="F2B705"/>
                          </a:solidFill>
                          <a:latin typeface="Consolas" pitchFamily="34" charset="0"/>
                          <a:ea typeface="Consolas" pitchFamily="34" charset="-122"/>
                          <a:cs typeface="Consolas" pitchFamily="34" charset="-120"/>
                        </a:rPr>
                        <a:t>KEY QUALIFICATION</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solidFill>
                      <a:srgbClr val="1D242B"/>
                    </a:solidFill>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Ahmad Nazwan Bin Mohd Sarbini</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Managing Director / Project Lead</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Leads project &amp; corporate operations · Safety Committee Chairman</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Shahrul Azmi Bin Salim Shah</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QAQC &amp; Engineering Manager</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25+ yrs</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ASME Sec. VIII Div. 1 · IX · V · II · appointed DOSH contact person</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Mohd Yusof Bin Abdul Rahman</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Construction Manager</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10+ yrs</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Project coordination, fabrication, installation and site works</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Mohd Hafifi Bin Rahmat Ali</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Project Manager</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10+ yrs</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Method statements, ITPs, scheduling and supervision of teams</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Muhammad Tajhafizi Mohd Tajul Azmi</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OSH Coordinator</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8+ yrs</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OSH operations · HIRARC, inductions, ERP drills (OSHA 1994)</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Nur Mastura Aida Bt Mohd Tajul Azmi</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Executive Secretary</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Corporate and management support</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Jayalaxmi A/P Sandirin</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Administrative Assistant</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Office administration support</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Muhammad Lugman Yahaya</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Project Supervisor</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Site work supervision and crew coordination</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Farikh Syahidan Mohd Rosly</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Project Supervisor</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Site work supervision and crew coordination</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Rizwan</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Fitter / AESP</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Structural and plate fitting</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r h="256032">
                <a:tc>
                  <a:txBody>
                    <a:bodyPr/>
                    <a:lstStyle/>
                    <a:p>
                      <a:pPr indent="0" marL="0">
                        <a:buNone/>
                      </a:pPr>
                      <a:r>
                        <a:rPr lang="en-US" sz="850" b="1" dirty="0">
                          <a:solidFill>
                            <a:srgbClr val="E7E2D8"/>
                          </a:solidFill>
                          <a:latin typeface="Arial" pitchFamily="34" charset="0"/>
                          <a:ea typeface="Arial" pitchFamily="34" charset="-122"/>
                          <a:cs typeface="Arial" pitchFamily="34" charset="-120"/>
                        </a:rPr>
                        <a:t>Che Mohd Saidi Che Hassan</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F2B705"/>
                          </a:solidFill>
                          <a:latin typeface="Arial" pitchFamily="34" charset="0"/>
                          <a:ea typeface="Arial" pitchFamily="34" charset="-122"/>
                          <a:cs typeface="Arial" pitchFamily="34" charset="-120"/>
                        </a:rPr>
                        <a:t>Qualified Welder</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E7E2D8"/>
                          </a:solidFill>
                          <a:latin typeface="Consolas" pitchFamily="34" charset="0"/>
                          <a:ea typeface="Consolas" pitchFamily="34" charset="-122"/>
                          <a:cs typeface="Consolas" pitchFamily="34" charset="-120"/>
                        </a:rPr>
                        <a:t>8+ yrs</a:t>
                      </a:r>
                      <a:endParaRPr lang="en-US" sz="850" dirty="0">
                        <a:latin typeface="Consolas" charset="0"/>
                        <a:ea typeface="Consolas" charset="0"/>
                        <a:cs typeface="Consolas"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c>
                  <a:txBody>
                    <a:bodyPr/>
                    <a:lstStyle/>
                    <a:p>
                      <a:pPr indent="0" marL="0">
                        <a:buNone/>
                      </a:pPr>
                      <a:r>
                        <a:rPr lang="en-US" sz="850" dirty="0">
                          <a:solidFill>
                            <a:srgbClr val="A9A69E"/>
                          </a:solidFill>
                          <a:latin typeface="Arial" pitchFamily="34" charset="0"/>
                          <a:ea typeface="Arial" pitchFamily="34" charset="-122"/>
                          <a:cs typeface="Arial" pitchFamily="34" charset="-120"/>
                        </a:rPr>
                        <a:t>Coded weld qualification · 6G pipe welding, all positions</a:t>
                      </a:r>
                      <a:endParaRPr lang="en-US" sz="850" dirty="0">
                        <a:latin typeface="Arial" charset="0"/>
                        <a:ea typeface="Arial" charset="0"/>
                        <a:cs typeface="Arial" charset="0"/>
                      </a:endParaRPr>
                    </a:p>
                  </a:txBody>
                  <a:tcPr marL="45720" marR="45720" marT="45720" marB="45720" anchor="ctr">
                    <a:lnL w="9525" cap="flat" cmpd="sng" algn="ctr">
                      <a:solidFill>
                        <a:srgbClr val="333C44"/>
                      </a:solidFill>
                      <a:prstDash val="solid"/>
                      <a:round/>
                      <a:headEnd type="none" w="med" len="med"/>
                      <a:tailEnd type="none" w="med" len="med"/>
                    </a:lnL>
                    <a:lnR w="9525" cap="flat" cmpd="sng" algn="ctr">
                      <a:solidFill>
                        <a:srgbClr val="333C44"/>
                      </a:solidFill>
                      <a:prstDash val="solid"/>
                      <a:round/>
                      <a:headEnd type="none" w="med" len="med"/>
                      <a:tailEnd type="none" w="med" len="med"/>
                    </a:lnR>
                    <a:lnT w="9525" cap="flat" cmpd="sng" algn="ctr">
                      <a:solidFill>
                        <a:srgbClr val="333C44"/>
                      </a:solidFill>
                      <a:prstDash val="solid"/>
                      <a:round/>
                      <a:headEnd type="none" w="med" len="med"/>
                      <a:tailEnd type="none" w="med" len="med"/>
                    </a:lnT>
                    <a:lnB w="9525" cap="flat" cmpd="sng" algn="ctr">
                      <a:solidFill>
                        <a:srgbClr val="333C44"/>
                      </a:solidFill>
                      <a:prstDash val="solid"/>
                      <a:round/>
                      <a:headEnd type="none" w="med" len="med"/>
                      <a:tailEnd type="none" w="med" len="med"/>
                    </a:lnB>
                  </a:tcPr>
                </a:tc>
              </a:tr>
            </a:tbl>
          </a:graphicData>
        </a:graphic>
      </p:graphicFrame>
      <p:sp>
        <p:nvSpPr>
          <p:cNvPr id="7" name="Text 4"/>
          <p:cNvSpPr/>
          <p:nvPr/>
        </p:nvSpPr>
        <p:spPr>
          <a:xfrm>
            <a:off x="502920" y="4599432"/>
            <a:ext cx="8138160" cy="228600"/>
          </a:xfrm>
          <a:prstGeom prst="rect">
            <a:avLst/>
          </a:prstGeom>
          <a:noFill/>
          <a:ln/>
        </p:spPr>
        <p:txBody>
          <a:bodyPr wrap="square" rtlCol="0" anchor="ctr"/>
          <a:lstStyle/>
          <a:p>
            <a:pPr indent="0" marL="0">
              <a:buNone/>
            </a:pPr>
            <a:r>
              <a:rPr lang="en-US" sz="850" i="1" dirty="0">
                <a:solidFill>
                  <a:srgbClr val="7C8480"/>
                </a:solidFill>
                <a:latin typeface="Arial" pitchFamily="34" charset="0"/>
                <a:ea typeface="Arial" pitchFamily="34" charset="-122"/>
                <a:cs typeface="Arial" pitchFamily="34" charset="-120"/>
              </a:rPr>
              <a:t>Experience as recorded on the organisation chart (Rev. 0, 19/07/2026); “—” where none stated.</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900" b="1" spc="250" kern="0" dirty="0">
                <a:solidFill>
                  <a:srgbClr val="C4441F"/>
                </a:solidFill>
                <a:latin typeface="Consolas" pitchFamily="34" charset="0"/>
                <a:ea typeface="Consolas" pitchFamily="34" charset="-122"/>
                <a:cs typeface="Consolas" pitchFamily="34" charset="-120"/>
              </a:rPr>
              <a:t>12 · CONTACT &amp; WORKS ADDRESS</a:t>
            </a:r>
            <a:endParaRPr lang="en-US" sz="900" dirty="0"/>
          </a:p>
        </p:txBody>
      </p:sp>
      <p:sp>
        <p:nvSpPr>
          <p:cNvPr id="3" name="Shape 1"/>
          <p:cNvSpPr/>
          <p:nvPr/>
        </p:nvSpPr>
        <p:spPr>
          <a:xfrm>
            <a:off x="502920" y="603504"/>
            <a:ext cx="1280160" cy="0"/>
          </a:xfrm>
          <a:prstGeom prst="line">
            <a:avLst/>
          </a:prstGeom>
          <a:noFill/>
          <a:ln w="25400">
            <a:solidFill>
              <a:srgbClr val="C4441F"/>
            </a:solidFill>
            <a:prstDash val="solid"/>
          </a:ln>
        </p:spPr>
      </p:sp>
      <p:sp>
        <p:nvSpPr>
          <p:cNvPr id="4" name="Text 2"/>
          <p:cNvSpPr/>
          <p:nvPr/>
        </p:nvSpPr>
        <p:spPr>
          <a:xfrm>
            <a:off x="457200" y="749808"/>
            <a:ext cx="8229600" cy="914400"/>
          </a:xfrm>
          <a:prstGeom prst="rect">
            <a:avLst/>
          </a:prstGeom>
          <a:noFill/>
          <a:ln/>
        </p:spPr>
        <p:txBody>
          <a:bodyPr wrap="square" rtlCol="0" anchor="t"/>
          <a:lstStyle/>
          <a:p>
            <a:pPr indent="0" marL="0">
              <a:lnSpc>
                <a:spcPct val="95000"/>
              </a:lnSpc>
              <a:buNone/>
            </a:pPr>
            <a:r>
              <a:rPr lang="en-US" sz="3000" b="1" dirty="0">
                <a:solidFill>
                  <a:srgbClr val="22262A"/>
                </a:solidFill>
                <a:latin typeface="Arial Narrow" pitchFamily="34" charset="0"/>
                <a:ea typeface="Arial Narrow" pitchFamily="34" charset="-122"/>
                <a:cs typeface="Arial Narrow" pitchFamily="34" charset="-120"/>
              </a:rPr>
              <a:t>TALK TO THE </a:t>
            </a:r>
            <a:pPr indent="0" marL="0">
              <a:lnSpc>
                <a:spcPct val="95000"/>
              </a:lnSpc>
              <a:buNone/>
            </a:pPr>
            <a:r>
              <a:rPr lang="en-US" sz="3000" b="1" dirty="0">
                <a:solidFill>
                  <a:srgbClr val="C4441F"/>
                </a:solidFill>
                <a:latin typeface="Arial Narrow" pitchFamily="34" charset="0"/>
                <a:ea typeface="Arial Narrow" pitchFamily="34" charset="-122"/>
                <a:cs typeface="Arial Narrow" pitchFamily="34" charset="-120"/>
              </a:rPr>
              <a:t>WORKSHOP DIRECTLY</a:t>
            </a:r>
            <a:endParaRPr lang="en-US" sz="3000" dirty="0"/>
          </a:p>
        </p:txBody>
      </p:sp>
      <p:sp>
        <p:nvSpPr>
          <p:cNvPr id="5" name="Text 3"/>
          <p:cNvSpPr/>
          <p:nvPr/>
        </p:nvSpPr>
        <p:spPr>
          <a:xfrm>
            <a:off x="502920" y="1600200"/>
            <a:ext cx="1463040" cy="274320"/>
          </a:xfrm>
          <a:prstGeom prst="rect">
            <a:avLst/>
          </a:prstGeom>
          <a:noFill/>
          <a:ln/>
        </p:spPr>
        <p:txBody>
          <a:bodyPr wrap="square" rtlCol="0" anchor="t"/>
          <a:lstStyle/>
          <a:p>
            <a:pPr indent="0" marL="0">
              <a:buNone/>
            </a:pPr>
            <a:r>
              <a:rPr lang="en-US" sz="850" b="1" spc="100" kern="0" dirty="0">
                <a:solidFill>
                  <a:srgbClr val="C4441F"/>
                </a:solidFill>
                <a:latin typeface="Consolas" pitchFamily="34" charset="0"/>
                <a:ea typeface="Consolas" pitchFamily="34" charset="-122"/>
                <a:cs typeface="Consolas" pitchFamily="34" charset="-120"/>
              </a:rPr>
              <a:t>COMPANY</a:t>
            </a:r>
            <a:endParaRPr lang="en-US" sz="850" dirty="0"/>
          </a:p>
        </p:txBody>
      </p:sp>
      <p:sp>
        <p:nvSpPr>
          <p:cNvPr id="6" name="Text 4"/>
          <p:cNvSpPr/>
          <p:nvPr/>
        </p:nvSpPr>
        <p:spPr>
          <a:xfrm>
            <a:off x="2057400" y="1563624"/>
            <a:ext cx="5120640" cy="411480"/>
          </a:xfrm>
          <a:prstGeom prst="rect">
            <a:avLst/>
          </a:prstGeom>
          <a:noFill/>
          <a:ln/>
        </p:spPr>
        <p:txBody>
          <a:bodyPr wrap="square" rtlCol="0" anchor="t"/>
          <a:lstStyle/>
          <a:p>
            <a:pPr indent="0" marL="0">
              <a:lnSpc>
                <a:spcPct val="110000"/>
              </a:lnSpc>
              <a:buNone/>
            </a:pPr>
            <a:r>
              <a:rPr lang="en-US" sz="1050" dirty="0">
                <a:solidFill>
                  <a:srgbClr val="22262A"/>
                </a:solidFill>
                <a:latin typeface="Arial" pitchFamily="34" charset="0"/>
                <a:ea typeface="Arial" pitchFamily="34" charset="-122"/>
                <a:cs typeface="Arial" pitchFamily="34" charset="-120"/>
              </a:rPr>
              <a:t>Freeskills Engineering (M) Sdn Bhd</a:t>
            </a:r>
            <a:endParaRPr lang="en-US" sz="1050" dirty="0"/>
          </a:p>
        </p:txBody>
      </p:sp>
      <p:sp>
        <p:nvSpPr>
          <p:cNvPr id="7" name="Shape 5"/>
          <p:cNvSpPr/>
          <p:nvPr/>
        </p:nvSpPr>
        <p:spPr>
          <a:xfrm>
            <a:off x="502920" y="1947672"/>
            <a:ext cx="6675120" cy="0"/>
          </a:xfrm>
          <a:prstGeom prst="line">
            <a:avLst/>
          </a:prstGeom>
          <a:noFill/>
          <a:ln w="9525">
            <a:solidFill>
              <a:srgbClr val="D3CCBE"/>
            </a:solidFill>
            <a:prstDash val="solid"/>
          </a:ln>
        </p:spPr>
      </p:sp>
      <p:sp>
        <p:nvSpPr>
          <p:cNvPr id="8" name="Text 6"/>
          <p:cNvSpPr/>
          <p:nvPr/>
        </p:nvSpPr>
        <p:spPr>
          <a:xfrm>
            <a:off x="502920" y="2020824"/>
            <a:ext cx="1463040" cy="274320"/>
          </a:xfrm>
          <a:prstGeom prst="rect">
            <a:avLst/>
          </a:prstGeom>
          <a:noFill/>
          <a:ln/>
        </p:spPr>
        <p:txBody>
          <a:bodyPr wrap="square" rtlCol="0" anchor="t"/>
          <a:lstStyle/>
          <a:p>
            <a:pPr indent="0" marL="0">
              <a:buNone/>
            </a:pPr>
            <a:r>
              <a:rPr lang="en-US" sz="850" b="1" spc="100" kern="0" dirty="0">
                <a:solidFill>
                  <a:srgbClr val="C4441F"/>
                </a:solidFill>
                <a:latin typeface="Consolas" pitchFamily="34" charset="0"/>
                <a:ea typeface="Consolas" pitchFamily="34" charset="-122"/>
                <a:cs typeface="Consolas" pitchFamily="34" charset="-120"/>
              </a:rPr>
              <a:t>REGISTRATION</a:t>
            </a:r>
            <a:endParaRPr lang="en-US" sz="850" dirty="0"/>
          </a:p>
        </p:txBody>
      </p:sp>
      <p:sp>
        <p:nvSpPr>
          <p:cNvPr id="9" name="Text 7"/>
          <p:cNvSpPr/>
          <p:nvPr/>
        </p:nvSpPr>
        <p:spPr>
          <a:xfrm>
            <a:off x="2057400" y="1984248"/>
            <a:ext cx="5120640" cy="411480"/>
          </a:xfrm>
          <a:prstGeom prst="rect">
            <a:avLst/>
          </a:prstGeom>
          <a:noFill/>
          <a:ln/>
        </p:spPr>
        <p:txBody>
          <a:bodyPr wrap="square" rtlCol="0" anchor="t"/>
          <a:lstStyle/>
          <a:p>
            <a:pPr indent="0" marL="0">
              <a:lnSpc>
                <a:spcPct val="110000"/>
              </a:lnSpc>
              <a:buNone/>
            </a:pPr>
            <a:r>
              <a:rPr lang="en-US" sz="1050" dirty="0">
                <a:solidFill>
                  <a:srgbClr val="22262A"/>
                </a:solidFill>
                <a:latin typeface="Arial" pitchFamily="34" charset="0"/>
                <a:ea typeface="Arial" pitchFamily="34" charset="-122"/>
                <a:cs typeface="Arial" pitchFamily="34" charset="-120"/>
              </a:rPr>
              <a:t>1502941-H</a:t>
            </a:r>
            <a:endParaRPr lang="en-US" sz="1050" dirty="0"/>
          </a:p>
        </p:txBody>
      </p:sp>
      <p:sp>
        <p:nvSpPr>
          <p:cNvPr id="10" name="Shape 8"/>
          <p:cNvSpPr/>
          <p:nvPr/>
        </p:nvSpPr>
        <p:spPr>
          <a:xfrm>
            <a:off x="502920" y="2368296"/>
            <a:ext cx="6675120" cy="0"/>
          </a:xfrm>
          <a:prstGeom prst="line">
            <a:avLst/>
          </a:prstGeom>
          <a:noFill/>
          <a:ln w="9525">
            <a:solidFill>
              <a:srgbClr val="D3CCBE"/>
            </a:solidFill>
            <a:prstDash val="solid"/>
          </a:ln>
        </p:spPr>
      </p:sp>
      <p:sp>
        <p:nvSpPr>
          <p:cNvPr id="11" name="Text 9"/>
          <p:cNvSpPr/>
          <p:nvPr/>
        </p:nvSpPr>
        <p:spPr>
          <a:xfrm>
            <a:off x="502920" y="2441448"/>
            <a:ext cx="1463040" cy="274320"/>
          </a:xfrm>
          <a:prstGeom prst="rect">
            <a:avLst/>
          </a:prstGeom>
          <a:noFill/>
          <a:ln/>
        </p:spPr>
        <p:txBody>
          <a:bodyPr wrap="square" rtlCol="0" anchor="t"/>
          <a:lstStyle/>
          <a:p>
            <a:pPr indent="0" marL="0">
              <a:buNone/>
            </a:pPr>
            <a:r>
              <a:rPr lang="en-US" sz="850" b="1" spc="100" kern="0" dirty="0">
                <a:solidFill>
                  <a:srgbClr val="C4441F"/>
                </a:solidFill>
                <a:latin typeface="Consolas" pitchFamily="34" charset="0"/>
                <a:ea typeface="Consolas" pitchFamily="34" charset="-122"/>
                <a:cs typeface="Consolas" pitchFamily="34" charset="-120"/>
              </a:rPr>
              <a:t>ADDRESS</a:t>
            </a:r>
            <a:endParaRPr lang="en-US" sz="850" dirty="0"/>
          </a:p>
        </p:txBody>
      </p:sp>
      <p:sp>
        <p:nvSpPr>
          <p:cNvPr id="12" name="Text 10"/>
          <p:cNvSpPr/>
          <p:nvPr/>
        </p:nvSpPr>
        <p:spPr>
          <a:xfrm>
            <a:off x="2057400" y="2404872"/>
            <a:ext cx="5120640" cy="411480"/>
          </a:xfrm>
          <a:prstGeom prst="rect">
            <a:avLst/>
          </a:prstGeom>
          <a:noFill/>
          <a:ln/>
        </p:spPr>
        <p:txBody>
          <a:bodyPr wrap="square" rtlCol="0" anchor="t"/>
          <a:lstStyle/>
          <a:p>
            <a:pPr indent="0" marL="0">
              <a:lnSpc>
                <a:spcPct val="110000"/>
              </a:lnSpc>
              <a:buNone/>
            </a:pPr>
            <a:r>
              <a:rPr lang="en-US" sz="1050" dirty="0">
                <a:solidFill>
                  <a:srgbClr val="22262A"/>
                </a:solidFill>
                <a:latin typeface="Arial" pitchFamily="34" charset="0"/>
                <a:ea typeface="Arial" pitchFamily="34" charset="-122"/>
                <a:cs typeface="Arial" pitchFamily="34" charset="-120"/>
              </a:rPr>
              <a:t>Lot 01 &amp; 02, Hala Perusahaan Kledang Utara 6, Menglembu, 31450 Ipoh, Perak Darul Ridzuan, Malaysia</a:t>
            </a:r>
            <a:endParaRPr lang="en-US" sz="1050" dirty="0"/>
          </a:p>
        </p:txBody>
      </p:sp>
      <p:sp>
        <p:nvSpPr>
          <p:cNvPr id="13" name="Shape 11"/>
          <p:cNvSpPr/>
          <p:nvPr/>
        </p:nvSpPr>
        <p:spPr>
          <a:xfrm>
            <a:off x="502920" y="2788920"/>
            <a:ext cx="6675120" cy="0"/>
          </a:xfrm>
          <a:prstGeom prst="line">
            <a:avLst/>
          </a:prstGeom>
          <a:noFill/>
          <a:ln w="9525">
            <a:solidFill>
              <a:srgbClr val="D3CCBE"/>
            </a:solidFill>
            <a:prstDash val="solid"/>
          </a:ln>
        </p:spPr>
      </p:sp>
      <p:sp>
        <p:nvSpPr>
          <p:cNvPr id="14" name="Text 12"/>
          <p:cNvSpPr/>
          <p:nvPr/>
        </p:nvSpPr>
        <p:spPr>
          <a:xfrm>
            <a:off x="502920" y="2862072"/>
            <a:ext cx="1463040" cy="274320"/>
          </a:xfrm>
          <a:prstGeom prst="rect">
            <a:avLst/>
          </a:prstGeom>
          <a:noFill/>
          <a:ln/>
        </p:spPr>
        <p:txBody>
          <a:bodyPr wrap="square" rtlCol="0" anchor="t"/>
          <a:lstStyle/>
          <a:p>
            <a:pPr indent="0" marL="0">
              <a:buNone/>
            </a:pPr>
            <a:r>
              <a:rPr lang="en-US" sz="850" b="1" spc="100" kern="0" dirty="0">
                <a:solidFill>
                  <a:srgbClr val="C4441F"/>
                </a:solidFill>
                <a:latin typeface="Consolas" pitchFamily="34" charset="0"/>
                <a:ea typeface="Consolas" pitchFamily="34" charset="-122"/>
                <a:cs typeface="Consolas" pitchFamily="34" charset="-120"/>
              </a:rPr>
              <a:t>TELEPHONE</a:t>
            </a:r>
            <a:endParaRPr lang="en-US" sz="850" dirty="0"/>
          </a:p>
        </p:txBody>
      </p:sp>
      <p:sp>
        <p:nvSpPr>
          <p:cNvPr id="15" name="Text 13"/>
          <p:cNvSpPr/>
          <p:nvPr/>
        </p:nvSpPr>
        <p:spPr>
          <a:xfrm>
            <a:off x="2057400" y="2825496"/>
            <a:ext cx="5120640" cy="411480"/>
          </a:xfrm>
          <a:prstGeom prst="rect">
            <a:avLst/>
          </a:prstGeom>
          <a:noFill/>
          <a:ln/>
        </p:spPr>
        <p:txBody>
          <a:bodyPr wrap="square" rtlCol="0" anchor="t"/>
          <a:lstStyle/>
          <a:p>
            <a:pPr indent="0" marL="0">
              <a:lnSpc>
                <a:spcPct val="110000"/>
              </a:lnSpc>
              <a:buNone/>
            </a:pPr>
            <a:r>
              <a:rPr lang="en-US" sz="1050" dirty="0">
                <a:solidFill>
                  <a:srgbClr val="22262A"/>
                </a:solidFill>
                <a:latin typeface="Arial" pitchFamily="34" charset="0"/>
                <a:ea typeface="Arial" pitchFamily="34" charset="-122"/>
                <a:cs typeface="Arial" pitchFamily="34" charset="-120"/>
              </a:rPr>
              <a:t>+60 16 410 0464</a:t>
            </a:r>
            <a:endParaRPr lang="en-US" sz="1050" dirty="0"/>
          </a:p>
        </p:txBody>
      </p:sp>
      <p:sp>
        <p:nvSpPr>
          <p:cNvPr id="16" name="Shape 14"/>
          <p:cNvSpPr/>
          <p:nvPr/>
        </p:nvSpPr>
        <p:spPr>
          <a:xfrm>
            <a:off x="502920" y="3209544"/>
            <a:ext cx="6675120" cy="0"/>
          </a:xfrm>
          <a:prstGeom prst="line">
            <a:avLst/>
          </a:prstGeom>
          <a:noFill/>
          <a:ln w="9525">
            <a:solidFill>
              <a:srgbClr val="D3CCBE"/>
            </a:solidFill>
            <a:prstDash val="solid"/>
          </a:ln>
        </p:spPr>
      </p:sp>
      <p:sp>
        <p:nvSpPr>
          <p:cNvPr id="17" name="Text 15"/>
          <p:cNvSpPr/>
          <p:nvPr/>
        </p:nvSpPr>
        <p:spPr>
          <a:xfrm>
            <a:off x="502920" y="3282696"/>
            <a:ext cx="1463040" cy="274320"/>
          </a:xfrm>
          <a:prstGeom prst="rect">
            <a:avLst/>
          </a:prstGeom>
          <a:noFill/>
          <a:ln/>
        </p:spPr>
        <p:txBody>
          <a:bodyPr wrap="square" rtlCol="0" anchor="t"/>
          <a:lstStyle/>
          <a:p>
            <a:pPr indent="0" marL="0">
              <a:buNone/>
            </a:pPr>
            <a:r>
              <a:rPr lang="en-US" sz="850" b="1" spc="100" kern="0" dirty="0">
                <a:solidFill>
                  <a:srgbClr val="C4441F"/>
                </a:solidFill>
                <a:latin typeface="Consolas" pitchFamily="34" charset="0"/>
                <a:ea typeface="Consolas" pitchFamily="34" charset="-122"/>
                <a:cs typeface="Consolas" pitchFamily="34" charset="-120"/>
              </a:rPr>
              <a:t>EMAIL</a:t>
            </a:r>
            <a:endParaRPr lang="en-US" sz="850" dirty="0"/>
          </a:p>
        </p:txBody>
      </p:sp>
      <p:sp>
        <p:nvSpPr>
          <p:cNvPr id="18" name="Text 16"/>
          <p:cNvSpPr/>
          <p:nvPr/>
        </p:nvSpPr>
        <p:spPr>
          <a:xfrm>
            <a:off x="2057400" y="3246120"/>
            <a:ext cx="5120640" cy="411480"/>
          </a:xfrm>
          <a:prstGeom prst="rect">
            <a:avLst/>
          </a:prstGeom>
          <a:noFill/>
          <a:ln/>
        </p:spPr>
        <p:txBody>
          <a:bodyPr wrap="square" rtlCol="0" anchor="t"/>
          <a:lstStyle/>
          <a:p>
            <a:pPr indent="0" marL="0">
              <a:lnSpc>
                <a:spcPct val="110000"/>
              </a:lnSpc>
              <a:buNone/>
            </a:pPr>
            <a:r>
              <a:rPr lang="en-US" sz="1050" dirty="0">
                <a:solidFill>
                  <a:srgbClr val="22262A"/>
                </a:solidFill>
                <a:latin typeface="Arial" pitchFamily="34" charset="0"/>
                <a:ea typeface="Arial" pitchFamily="34" charset="-122"/>
                <a:cs typeface="Arial" pitchFamily="34" charset="-120"/>
              </a:rPr>
              <a:t>freeskillseng@gmail.com</a:t>
            </a:r>
            <a:endParaRPr lang="en-US" sz="1050" dirty="0"/>
          </a:p>
        </p:txBody>
      </p:sp>
      <p:sp>
        <p:nvSpPr>
          <p:cNvPr id="19" name="Shape 17"/>
          <p:cNvSpPr/>
          <p:nvPr/>
        </p:nvSpPr>
        <p:spPr>
          <a:xfrm>
            <a:off x="502920" y="3630168"/>
            <a:ext cx="6675120" cy="0"/>
          </a:xfrm>
          <a:prstGeom prst="line">
            <a:avLst/>
          </a:prstGeom>
          <a:noFill/>
          <a:ln w="9525">
            <a:solidFill>
              <a:srgbClr val="D3CCBE"/>
            </a:solidFill>
            <a:prstDash val="solid"/>
          </a:ln>
        </p:spPr>
      </p:sp>
      <p:sp>
        <p:nvSpPr>
          <p:cNvPr id="20" name="Text 18"/>
          <p:cNvSpPr/>
          <p:nvPr/>
        </p:nvSpPr>
        <p:spPr>
          <a:xfrm>
            <a:off x="502920" y="3703320"/>
            <a:ext cx="1463040" cy="274320"/>
          </a:xfrm>
          <a:prstGeom prst="rect">
            <a:avLst/>
          </a:prstGeom>
          <a:noFill/>
          <a:ln/>
        </p:spPr>
        <p:txBody>
          <a:bodyPr wrap="square" rtlCol="0" anchor="t"/>
          <a:lstStyle/>
          <a:p>
            <a:pPr indent="0" marL="0">
              <a:buNone/>
            </a:pPr>
            <a:r>
              <a:rPr lang="en-US" sz="850" b="1" spc="100" kern="0" dirty="0">
                <a:solidFill>
                  <a:srgbClr val="C4441F"/>
                </a:solidFill>
                <a:latin typeface="Consolas" pitchFamily="34" charset="0"/>
                <a:ea typeface="Consolas" pitchFamily="34" charset="-122"/>
                <a:cs typeface="Consolas" pitchFamily="34" charset="-120"/>
              </a:rPr>
              <a:t>HOURS</a:t>
            </a:r>
            <a:endParaRPr lang="en-US" sz="850" dirty="0"/>
          </a:p>
        </p:txBody>
      </p:sp>
      <p:sp>
        <p:nvSpPr>
          <p:cNvPr id="21" name="Text 19"/>
          <p:cNvSpPr/>
          <p:nvPr/>
        </p:nvSpPr>
        <p:spPr>
          <a:xfrm>
            <a:off x="2057400" y="3666744"/>
            <a:ext cx="5120640" cy="411480"/>
          </a:xfrm>
          <a:prstGeom prst="rect">
            <a:avLst/>
          </a:prstGeom>
          <a:noFill/>
          <a:ln/>
        </p:spPr>
        <p:txBody>
          <a:bodyPr wrap="square" rtlCol="0" anchor="t"/>
          <a:lstStyle/>
          <a:p>
            <a:pPr indent="0" marL="0">
              <a:lnSpc>
                <a:spcPct val="110000"/>
              </a:lnSpc>
              <a:buNone/>
            </a:pPr>
            <a:r>
              <a:rPr lang="en-US" sz="1050" dirty="0">
                <a:solidFill>
                  <a:srgbClr val="22262A"/>
                </a:solidFill>
                <a:latin typeface="Arial" pitchFamily="34" charset="0"/>
                <a:ea typeface="Arial" pitchFamily="34" charset="-122"/>
                <a:cs typeface="Arial" pitchFamily="34" charset="-120"/>
              </a:rPr>
              <a:t>Monday – Saturday, 8:30 am – 6:00 pm</a:t>
            </a:r>
            <a:endParaRPr lang="en-US" sz="1050" dirty="0"/>
          </a:p>
        </p:txBody>
      </p:sp>
      <p:sp>
        <p:nvSpPr>
          <p:cNvPr id="22" name="Shape 20"/>
          <p:cNvSpPr/>
          <p:nvPr/>
        </p:nvSpPr>
        <p:spPr>
          <a:xfrm>
            <a:off x="502920" y="4050792"/>
            <a:ext cx="6675120" cy="0"/>
          </a:xfrm>
          <a:prstGeom prst="line">
            <a:avLst/>
          </a:prstGeom>
          <a:noFill/>
          <a:ln w="9525">
            <a:solidFill>
              <a:srgbClr val="D3CCBE"/>
            </a:solidFill>
            <a:prstDash val="solid"/>
          </a:ln>
        </p:spPr>
      </p:sp>
      <p:sp>
        <p:nvSpPr>
          <p:cNvPr id="23" name="Text 21"/>
          <p:cNvSpPr/>
          <p:nvPr/>
        </p:nvSpPr>
        <p:spPr>
          <a:xfrm>
            <a:off x="502920" y="4123944"/>
            <a:ext cx="1463040" cy="274320"/>
          </a:xfrm>
          <a:prstGeom prst="rect">
            <a:avLst/>
          </a:prstGeom>
          <a:noFill/>
          <a:ln/>
        </p:spPr>
        <p:txBody>
          <a:bodyPr wrap="square" rtlCol="0" anchor="t"/>
          <a:lstStyle/>
          <a:p>
            <a:pPr indent="0" marL="0">
              <a:buNone/>
            </a:pPr>
            <a:r>
              <a:rPr lang="en-US" sz="850" b="1" spc="100" kern="0" dirty="0">
                <a:solidFill>
                  <a:srgbClr val="C4441F"/>
                </a:solidFill>
                <a:latin typeface="Consolas" pitchFamily="34" charset="0"/>
                <a:ea typeface="Consolas" pitchFamily="34" charset="-122"/>
                <a:cs typeface="Consolas" pitchFamily="34" charset="-120"/>
              </a:rPr>
              <a:t>WEBSITE</a:t>
            </a:r>
            <a:endParaRPr lang="en-US" sz="850" dirty="0"/>
          </a:p>
        </p:txBody>
      </p:sp>
      <p:sp>
        <p:nvSpPr>
          <p:cNvPr id="24" name="Text 22"/>
          <p:cNvSpPr/>
          <p:nvPr/>
        </p:nvSpPr>
        <p:spPr>
          <a:xfrm>
            <a:off x="2057400" y="4087368"/>
            <a:ext cx="5120640" cy="411480"/>
          </a:xfrm>
          <a:prstGeom prst="rect">
            <a:avLst/>
          </a:prstGeom>
          <a:noFill/>
          <a:ln/>
        </p:spPr>
        <p:txBody>
          <a:bodyPr wrap="square" rtlCol="0" anchor="t"/>
          <a:lstStyle/>
          <a:p>
            <a:pPr indent="0" marL="0">
              <a:lnSpc>
                <a:spcPct val="110000"/>
              </a:lnSpc>
              <a:buNone/>
            </a:pPr>
            <a:r>
              <a:rPr lang="en-US" sz="1050" dirty="0">
                <a:solidFill>
                  <a:srgbClr val="22262A"/>
                </a:solidFill>
                <a:latin typeface="Arial" pitchFamily="34" charset="0"/>
                <a:ea typeface="Arial" pitchFamily="34" charset="-122"/>
                <a:cs typeface="Arial" pitchFamily="34" charset="-120"/>
              </a:rPr>
              <a:t>freeskillengineering.com  ·  QMS app: qmc.freeskillengineering.com</a:t>
            </a:r>
            <a:endParaRPr lang="en-US" sz="1050" dirty="0"/>
          </a:p>
        </p:txBody>
      </p:sp>
      <p:sp>
        <p:nvSpPr>
          <p:cNvPr id="25" name="Shape 23"/>
          <p:cNvSpPr/>
          <p:nvPr/>
        </p:nvSpPr>
        <p:spPr>
          <a:xfrm>
            <a:off x="502920" y="4471416"/>
            <a:ext cx="6675120" cy="0"/>
          </a:xfrm>
          <a:prstGeom prst="line">
            <a:avLst/>
          </a:prstGeom>
          <a:noFill/>
          <a:ln w="9525">
            <a:solidFill>
              <a:srgbClr val="D3CCBE"/>
            </a:solidFill>
            <a:prstDash val="solid"/>
          </a:ln>
        </p:spPr>
      </p:sp>
      <p:sp>
        <p:nvSpPr>
          <p:cNvPr id="26" name="Shape 24"/>
          <p:cNvSpPr/>
          <p:nvPr/>
        </p:nvSpPr>
        <p:spPr>
          <a:xfrm>
            <a:off x="7086600" y="1600200"/>
            <a:ext cx="1554480" cy="2011680"/>
          </a:xfrm>
          <a:prstGeom prst="roundRect">
            <a:avLst>
              <a:gd name="adj" fmla="val 2353"/>
            </a:avLst>
          </a:prstGeom>
          <a:solidFill>
            <a:srgbClr val="22262A"/>
          </a:solidFill>
          <a:ln w="12700">
            <a:solidFill>
              <a:srgbClr val="FFFFFF">
                <a:alpha val="0"/>
              </a:srgbClr>
            </a:solidFill>
            <a:prstDash val="solid"/>
          </a:ln>
        </p:spPr>
      </p:sp>
      <p:sp>
        <p:nvSpPr>
          <p:cNvPr id="27" name="Text 25"/>
          <p:cNvSpPr/>
          <p:nvPr/>
        </p:nvSpPr>
        <p:spPr>
          <a:xfrm>
            <a:off x="7223760" y="1783080"/>
            <a:ext cx="1280160" cy="457200"/>
          </a:xfrm>
          <a:prstGeom prst="rect">
            <a:avLst/>
          </a:prstGeom>
          <a:noFill/>
          <a:ln/>
        </p:spPr>
        <p:txBody>
          <a:bodyPr wrap="square" rtlCol="0" anchor="ctr"/>
          <a:lstStyle/>
          <a:p>
            <a:pPr indent="0" marL="0">
              <a:lnSpc>
                <a:spcPct val="100000"/>
              </a:lnSpc>
              <a:buNone/>
            </a:pPr>
            <a:r>
              <a:rPr lang="en-US" sz="1300" b="1" dirty="0">
                <a:solidFill>
                  <a:srgbClr val="EDE9E1"/>
                </a:solidFill>
                <a:latin typeface="Arial Narrow" pitchFamily="34" charset="0"/>
                <a:ea typeface="Arial Narrow" pitchFamily="34" charset="-122"/>
                <a:cs typeface="Arial Narrow" pitchFamily="34" charset="-120"/>
              </a:rPr>
              <a:t>SEND US YOUR</a:t>
            </a:r>
            <a:endParaRPr lang="en-US" sz="1300" dirty="0"/>
          </a:p>
        </p:txBody>
      </p:sp>
      <p:sp>
        <p:nvSpPr>
          <p:cNvPr id="28" name="Text 26"/>
          <p:cNvSpPr/>
          <p:nvPr/>
        </p:nvSpPr>
        <p:spPr>
          <a:xfrm>
            <a:off x="7223760" y="2240280"/>
            <a:ext cx="1280160" cy="1188720"/>
          </a:xfrm>
          <a:prstGeom prst="rect">
            <a:avLst/>
          </a:prstGeom>
          <a:noFill/>
          <a:ln/>
        </p:spPr>
        <p:txBody>
          <a:bodyPr wrap="square" rtlCol="0" anchor="ctr"/>
          <a:lstStyle/>
          <a:p>
            <a:pPr indent="0" marL="0">
              <a:lnSpc>
                <a:spcPct val="120000"/>
              </a:lnSpc>
              <a:buNone/>
            </a:pPr>
            <a:r>
              <a:rPr lang="en-US" sz="900" dirty="0">
                <a:solidFill>
                  <a:srgbClr val="A9A69E"/>
                </a:solidFill>
                <a:latin typeface="Arial" pitchFamily="34" charset="0"/>
                <a:ea typeface="Arial" pitchFamily="34" charset="-122"/>
                <a:cs typeface="Arial" pitchFamily="34" charset="-120"/>
              </a:rPr>
              <a:t>defect list, drawing or inspection report — we respond with a written scope.</a:t>
            </a:r>
            <a:endParaRPr lang="en-US" sz="900" dirty="0"/>
          </a:p>
        </p:txBody>
      </p:sp>
      <p:sp>
        <p:nvSpPr>
          <p:cNvPr id="29" name="Text 27"/>
          <p:cNvSpPr/>
          <p:nvPr/>
        </p:nvSpPr>
        <p:spPr>
          <a:xfrm>
            <a:off x="502920" y="4572000"/>
            <a:ext cx="8138160" cy="274320"/>
          </a:xfrm>
          <a:prstGeom prst="rect">
            <a:avLst/>
          </a:prstGeom>
          <a:noFill/>
          <a:ln/>
        </p:spPr>
        <p:txBody>
          <a:bodyPr wrap="square" rtlCol="0" anchor="ctr"/>
          <a:lstStyle/>
          <a:p>
            <a:pPr indent="0" marL="0">
              <a:buNone/>
            </a:pPr>
            <a:r>
              <a:rPr lang="en-US" sz="800" dirty="0">
                <a:solidFill>
                  <a:srgbClr val="6E7479"/>
                </a:solidFill>
                <a:latin typeface="Consolas" pitchFamily="34" charset="0"/>
                <a:ea typeface="Consolas" pitchFamily="34" charset="-122"/>
                <a:cs typeface="Consolas" pitchFamily="34" charset="-120"/>
              </a:rPr>
              <a:t>Shutdown and breakdown attendance by arrangement. Workshop on Hala Perusahaan Kledang Utara 6, Menglembu — 4.5685° N, 101.0367° 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Freeskills Engineering (M) Sdn Bhd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Freeskills Engineering — Website &amp; QMS Overview</dc:title>
  <dc:subject>PptxGenJS Presentation</dc:subject>
  <dc:creator>Freeskills Engineering (M) Sdn Bhd</dc:creator>
  <cp:lastModifiedBy>Freeskills Engineering (M) Sdn Bhd</cp:lastModifiedBy>
  <cp:revision>1</cp:revision>
  <dcterms:created xsi:type="dcterms:W3CDTF">2026-10-04T08:38:27Z</dcterms:created>
  <dcterms:modified xsi:type="dcterms:W3CDTF">2026-10-04T08:38:27Z</dcterms:modified>
</cp:coreProperties>
</file>